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Unity module. Over six seminars we build one complete 2D platformer, in one project. Today is about the foundations: what an engine is, how the Unity editor is organized, how Unity models objects and space, and what the project is on disk. In the second half you set up the project and its GitHub repository and work through Tutorial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project for six weeks: every week adds a layer, and each week assumes the previous ones work, so work left broken shows up later as strange failures. Every week has theory pages to read before the seminar, a tutorial to follow in the lab, and an exercise, the graded part, finished at home. After week 6 we switch to Part II, HTML5 APIs, where the game is KeyFall, a rhythm game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topics, all from this week's theory pages, then the lab. They are ordered so each one explains the next: the loop explains Play mode, the object model explains the Inspector, and the files on disk explain why we never rename assets in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the Windows Forms apps you have written: they wait for events and do nothing in between. A game is different, because its world changes with time itself: enemies patrol, physics resolves, animations advance even if nobody touches the keyboard. So a game runs a loop from launch to exit and redraws everything every frame. At 60 frames per second each pass has about 16.7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idea of a game engine, stripped down. Input gathers what changed, Update advances the simulation, and Render only draws: it never changes the world. Keep the two apart: the simulation is the truth, the picture is a report about it. In Unity you never write this while loop. Unity owns it and calls your Update method once per frame; the engine calls you, not the other way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loop's speed is not under your control: 30 fps on a laptop, 144 on a gaming monitor, and it wobbles on a single machine too. Move 0.1 units per frame and the fast machine gets a faster game: 14.4 units per second instead of 3. Express motion as a rate and multiply by Time.deltaTime, the seconds since the previous frame, and both machines cover exactly 3 units per second. It is numerical integration. Speeds, timers, fades and cooldowns all follow this rule; the one exception, physics on a fixed step, comes in week 3. Time.timeScale = 0 freezes the simulation, which is how pause menus usually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rate counts loops per second; frame time is its reciprocal in milliseconds, and the more honest number. The same 1.5 extra milliseconds per frame takes 60 fps down to 55, but 30 fps only to about 28.7, so frame-rate drops look very different for identical cost. Vsync waits for the monitor's refresh before showing a frame: no tearing, and the frame rate is capped at the refresh rate, so a steady 60 on a 60 Hz monitor is the cap, not a struggling machine. The Game view has its own VSync toggle, and editor numbers are not what players get: measure performance in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a platformer against a raw graphics API and you need all of these: a renderer, a physics solver, an input layer, an audio mixer, an asset pipeline, a way to describe and save scenes, and a build pipeline. Each is months of work, and none of it is your game. An engine provides all of it plus an editor; you write the thin layer of rules and content on top. The price is that you accept the engine's model of the world, and much of this course is learning Unity's model and the reasons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words are used loosely; the difference is who owns the main loop and how much machinery you get. You call a library from your own program and loop. A framework owns the loop and calls your code in prescribed hooks. An engine adds an editor, an asset pipeline and a build system. The editor is the defining feature: designers and artists place objects and tune values without writing code. That is why this course starts with the editor, before any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facts explain most of Unity's behavior. First, the engine core is C++; your C# scripts are hosted by it and called at defined points in the loop, and every access such as transform.position crosses a border between managed and native memory. Second, a Unity project is an asset database with some code attached: structure and configuration belong in the editor, behavior in code, so resist doing everything from C#. Third, Unity is a 3D engine; 2D means working on one flat plane with an orthographic camera, and z still exists. Alternatives: Godot is open source and strong in 2D, Unreal dominates high-end 3D, GameMaker is 2D-only with its own language. We use Unity for C#, mature 2D tools, a free license at our scale and its use in the Romanian games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editor looks like six unrelated panels, but it is one project and one open scene, with six questions asked about it. Hierarchy: which objects exist in the open scene. Scene: where they are, from your editing viewpoint. Game: what the camera sees, which is what the player sees. Inspector: the properties of the current selection. Project: the files on disk. Console: what the engine and your code reported. There is one current selection, and every window shows it or changes it. When you are lost: select the thing, then read the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confusions cause almost every "where did my thing go?" moment. First: the Hierarchy lists objects in the open scene, the Project window lists files on disk. Objects reference files, so deleting an object is cheap, and deleting a file breaks every object that used it. Second: the Scene view is your workspace; pan and zoom anywhere, it changes nothing. The Game view is the output of the camera object; you cannot scroll it, you move the camera. If it is not in the Game view, the player will never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press Play, Unity snapshots the scene and runs the simulation on a copy. When you stop, the copy is thrown away and the snapshot restored: everything you changed during Play is gone, with no warning and no undo. That makes Play mode a safe sandbox, as long as you know which side you are on. So set a Playmode tint today: the whole editor changes color while playing. To keep a value tuned during play: Copy Component before stopping, Paste Component Values after. And if Play does nothing, there is a compile error: read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keys you will use in the tutorial in a few minutes. W is the Move tool. F frames the selected object and is the way home when you are lost in the Scene view. F2 renames, Ctrl+D duplicates, Ctrl+S saves the scene: watch the asterisk next to the scene name. Hold Ctrl while dragging to snap. Middle-drag pans and the scroll wheel zooms.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C# instinct says inheritance: Entity, Character, Player, Enemy. It survives about a week. A destructible crate has health but is not a character. A flying enemy needs the flight code of the player's jetpack, but they sit on different branches, so the code gets copied. A turret shoots but never moves; a moving platform needs physics but is not a character; a boss that becomes scenery changes its kind at runtime, which a static tree cannot express. The problem is structural: capabilities combine freely, like a checklist, and a single tree has nowhere to put what is shared across branches, so everything migrates up to the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stop asking what an object is, and ask what it does. A player is a container holding something that draws, something that does physics, something that collides and something that reads input. An enemy shares three of those four and swaps input for patrol. The crate reuses the drawing and collision pieces plus a Breakable component, which could just as well go on a pot or a wall. You still write ordinary C# classes; composition happens at the level of objects. The design rule: one component, one responsibility, no assumptions about its neighbors.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GameObject owns almost nothing: a name for you, a tag for identifying it in code, a layer for physics and rendering filters, an active flag, and a list of components. It cannot move or draw by itself. Components do everything, and your scripts, MonoBehaviour subclasses, have the same standing as the built-in ones. You never inherit from GameObject. There are two off switches: SetActive(false) stops the whole object and its children; enabled = false on one component stops only that capability, for example an invisible but still solid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GameObject has a Transform: position, rotation and scale, and it defines the parent-child tree. A child's values are relative to its parent. Here Level sits at world (3, 0) and Ground stores local (2, -3), so Ground is at world (5, -3). The Inspector shows the local value for children; in code, localPosition is the stored value and position is resolved in world space. Use parents to organize (then keep them at position zero, rotation zero, scale one), to attach things, or as reference points such as a character's feet. Flip characters with Flip X on the SpriteRenderer, not with negative scale, which flips every child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model in one picture. On disk there are files: the scene Level01.unity, the image player.png with its Sprite. Opening the scene builds the Hierarchy: GameObjects with their components, arranged in a tree. The Player's SpriteRenderer points at the Sprite asset by identity, not by path. Prefabs complete the picture: a GameObject saved as an asset and stamped out as instances; we meet them properly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Unity's world uses the mathematician's convention: x to the right and y upward. That is the opposite of screen coordinates in Windows Forms or on the web, where y grows downward, so when something moves the wrong way, check the sign of y first. The z axis exists even in 2D: gameplay happens on the z = 0 plane, and the camera sits in front of it at z = -10, looking toward positive z. A sprite that drifted behind the camera is invisible. Units are abstract; in this course one unit is one tile. The physics engine assumes a unit is a meter, which is why the defaults will feel floaty; week 3 fixes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Vector2 and Vector3 play two roles: a point or a displacement. Addition moves a point; subtraction gives the displacement from a to b, destination first; multiplying by a number scales it, which is how direction times speed times deltaTime becomes this frame's movement. Magnitude is the length; normalized keeps the direction with length one. The classic bug: pressing right and up gives (1, 1), whose length is 1.41, so diagonal movement is 41% faster; normalize first. Vectors are structs: transform.position returns a copy, so you cannot assign its x directly. Copy, modify, assign.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hide behind the word sprite: the texture is the image file; the Sprite is a region of it with a pivot and a pixels-per-unit value; the SpriteRenderer is the component that draws it. Pixels Per Unit is the exchange rate between pixels and world units. Our art uses 18-pixel tiles and we set PPU to 18, so one tile is exactly one unit; at the default PPU of 100 the same art would be tiny. The pivot is where the sprite thinks it is: for characters use bottom center, so the feet touch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Orthographic projection has no perspective: a tile far away has the same size as one near the player, which is what 2D needs. The camera's Size is half the visible height, so Size 5 shows 10 units vertically and, on a 16:9 display, 17.8 units horizontally: about plus or minus 8.9 by plus or minus 5 around the camera. The aspect ratio changes only the width: an ultrawide monitor shows more level to the sides, which is why the Game view stays at 16:9. The camera is an ordinary GameObject at (0, 0, -10), and it also owns the background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sprites sit on the same z = 0 plane, so depth cannot decide what is in front. Unity draws in an explicit order instead, like a painter: first by sorting layer, a named, ordered list defined for the project; then by Order in Layer, an integer, where higher draws later, so in front; only then, as a last resort, by distance to the camera. Do not use z for ordering: keep it at zero and set the order explicitly. And do not confuse sorting layers with layers: layers filter physics and rendering, sorting layers only order 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Unity project is a folder, and only three folders in it are the project. Assets holds everything you author or import, with a .meta file next to every file. Packages lists the package dependencies, and ProjectSettings holds the configuration. Everything else is regenerated. Library is Unity's import cache, like bin and obj in .NET: delete it and Unity rebuilds it by re-importing Assets, which costs minutes, not work. This split is exactly the .gitignore, and it is the difference between a submission of a few megabytes and one of hundreds.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to every asset, Unity writes a .meta file: plain YAML with the asset's import settings and a GUID, its permanent identity. References never store paths; the scene stores the GUID. That is why renaming or moving inside the Project window is safe: the .meta moves too and the GUID stays. Rename the file in Explorer and the .meta is left behind: Unity sees a new file, gives it a new GUID, and every reference to the old one resolves to nothing, so you get magenta sprites and Missing slots. If it happens, close Unity and reunite each file with its .meta. The rule: manage assets inside Unity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habits follow. The project saves scenes, prefabs and settings as text (Force Text), so Git shows a change as a readable line, like this position. ProjectVersion.txt binds the project to one editor version; opening it in a newer editor upgrades the files one way, so treat an upgrade dialog as an alarm. And the project lives in one private GitHub repository for all six weeks: pull before you start, save, commit with a message that names the change, push before you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lab. Tutorial 1 has the exact steps: configure Git, create PlatformerLab from the Universal 2D template with the 6000.6 editor, create the private GitHub repository with the Unity .gitignore, connect and push. Then a scratch scene to practise the editor moves you have just seen. At home, Exercise 1 builds the real starting state: the folder structure, Level01, the camera, and the Ground and Player placeholders. Commit and push after each part. Next week: importing assets, painting a tilemap level and writing the first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week in nine rules. Every one of them comes back in the following weeks; if you remember these, the rest of the module builds on solid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02E"/>
        </a:solidFill>
      </p:bgPr>
    </p:bg>
    <p:spTree>
      <p:nvGrpSpPr>
        <p:cNvPr id="1" name=""/>
        <p:cNvGrpSpPr/>
        <p:nvPr/>
      </p:nvGrpSpPr>
      <p:grpSpPr>
        <a:xfrm>
          <a:off x="0" y="0"/>
          <a:ext cx="0" cy="0"/>
          <a:chOff x="0" y="0"/>
          <a:chExt cx="0" cy="0"/>
        </a:xfrm>
      </p:grpSpPr>
      <p:sp>
        <p:nvSpPr>
          <p:cNvPr id="2" name="Text 0"/>
          <p:cNvSpPr txBox="1"/>
          <p:nvPr/>
        </p:nvSpPr>
        <p:spPr>
          <a:xfrm>
            <a:off x="731520" y="1691640"/>
            <a:ext cx="8686800" cy="320040"/>
          </a:xfrm>
          <a:prstGeom prst="rect">
            <a:avLst/>
          </a:prstGeom>
          <a:noFill/>
          <a:ln/>
        </p:spPr>
        <p:txBody>
          <a:bodyPr wrap="square" lIns="0" tIns="0" rIns="0" bIns="0" rtlCol="0" anchor="t"/>
          <a:lstStyle/>
          <a:p>
            <a:pPr indent="0" marL="0">
              <a:buNone/>
            </a:pPr>
            <a:r>
              <a:rPr lang="en-US" sz="1300" b="1" spc="200" kern="0" dirty="0">
                <a:solidFill>
                  <a:srgbClr val="88AFF0"/>
                </a:solidFill>
                <a:latin typeface="Segoe UI" pitchFamily="34" charset="0"/>
                <a:ea typeface="Segoe UI" pitchFamily="34" charset="-122"/>
                <a:cs typeface="Segoe UI" pitchFamily="34" charset="-120"/>
              </a:rPr>
              <a:t>MULTIMEDIA · PART I: 2D GAMES WITH UNITY · WEEK 1</a:t>
            </a:r>
            <a:endParaRPr lang="en-US" sz="1300" dirty="0"/>
          </a:p>
        </p:txBody>
      </p:sp>
      <p:sp>
        <p:nvSpPr>
          <p:cNvPr id="3" name="Text 1"/>
          <p:cNvSpPr txBox="1"/>
          <p:nvPr/>
        </p:nvSpPr>
        <p:spPr>
          <a:xfrm>
            <a:off x="731520" y="2103120"/>
            <a:ext cx="8046720" cy="2011680"/>
          </a:xfrm>
          <a:prstGeom prst="rect">
            <a:avLst/>
          </a:prstGeom>
          <a:noFill/>
          <a:ln/>
        </p:spPr>
        <p:txBody>
          <a:bodyPr wrap="square" lIns="0" tIns="0" rIns="0" bIns="0" rtlCol="0" anchor="t"/>
          <a:lstStyle/>
          <a:p>
            <a:pPr indent="0" marL="0">
              <a:lnSpc>
                <a:spcPct val="95000"/>
              </a:lnSpc>
              <a:buNone/>
            </a:pPr>
            <a:r>
              <a:rPr lang="en-US" sz="5400" dirty="0">
                <a:solidFill>
                  <a:srgbClr val="FFFFFF"/>
                </a:solidFill>
                <a:latin typeface="Segoe UI Semibold" pitchFamily="34" charset="0"/>
                <a:ea typeface="Segoe UI Semibold" pitchFamily="34" charset="-122"/>
                <a:cs typeface="Segoe UI Semibold" pitchFamily="34" charset="-120"/>
              </a:rPr>
              <a:t>Engines and</a:t>
            </a:r>
            <a:endParaRPr lang="en-US" sz="5400" dirty="0"/>
          </a:p>
          <a:p>
            <a:pPr indent="0" marL="0">
              <a:lnSpc>
                <a:spcPct val="95000"/>
              </a:lnSpc>
              <a:buNone/>
            </a:pPr>
            <a:r>
              <a:rPr lang="en-US" sz="5400" dirty="0">
                <a:solidFill>
                  <a:srgbClr val="FFFFFF"/>
                </a:solidFill>
                <a:latin typeface="Segoe UI Semibold" pitchFamily="34" charset="0"/>
                <a:ea typeface="Segoe UI Semibold" pitchFamily="34" charset="-122"/>
                <a:cs typeface="Segoe UI Semibold" pitchFamily="34" charset="-120"/>
              </a:rPr>
              <a:t>the Unity editor</a:t>
            </a:r>
            <a:endParaRPr lang="en-US" sz="5400" dirty="0"/>
          </a:p>
        </p:txBody>
      </p:sp>
      <p:sp>
        <p:nvSpPr>
          <p:cNvPr id="4" name="Text 2"/>
          <p:cNvSpPr txBox="1"/>
          <p:nvPr/>
        </p:nvSpPr>
        <p:spPr>
          <a:xfrm>
            <a:off x="731520" y="4297680"/>
            <a:ext cx="6766560" cy="822960"/>
          </a:xfrm>
          <a:prstGeom prst="rect">
            <a:avLst/>
          </a:prstGeom>
          <a:noFill/>
          <a:ln/>
        </p:spPr>
        <p:txBody>
          <a:bodyPr wrap="square" lIns="0" tIns="0" rIns="0" bIns="0" rtlCol="0" anchor="t"/>
          <a:lstStyle/>
          <a:p>
            <a:pPr indent="0" marL="0">
              <a:buNone/>
            </a:pPr>
            <a:r>
              <a:rPr lang="en-US" sz="1800" dirty="0">
                <a:solidFill>
                  <a:srgbClr val="C2CAD7"/>
                </a:solidFill>
                <a:latin typeface="Segoe UI" pitchFamily="34" charset="0"/>
                <a:ea typeface="Segoe UI" pitchFamily="34" charset="-122"/>
                <a:cs typeface="Segoe UI" pitchFamily="34" charset="-120"/>
              </a:rPr>
              <a:t>What a game engine is, how Unity models a world, and what the project is on disk</a:t>
            </a:r>
            <a:endParaRPr lang="en-US" sz="1800" dirty="0"/>
          </a:p>
        </p:txBody>
      </p:sp>
      <p:sp>
        <p:nvSpPr>
          <p:cNvPr id="5" name="Text 3"/>
          <p:cNvSpPr txBox="1"/>
          <p:nvPr/>
        </p:nvSpPr>
        <p:spPr>
          <a:xfrm>
            <a:off x="731520" y="5989320"/>
            <a:ext cx="5486400" cy="274320"/>
          </a:xfrm>
          <a:prstGeom prst="rect">
            <a:avLst/>
          </a:prstGeom>
          <a:noFill/>
          <a:ln/>
        </p:spPr>
        <p:txBody>
          <a:bodyPr wrap="square" lIns="0" tIns="0" rIns="0" bIns="0" rtlCol="0" anchor="t"/>
          <a:lstStyle/>
          <a:p>
            <a:pPr indent="0" marL="0">
              <a:buNone/>
            </a:pPr>
            <a:r>
              <a:rPr lang="en-US" sz="1200" dirty="0">
                <a:solidFill>
                  <a:srgbClr val="97A2B3"/>
                </a:solidFill>
                <a:latin typeface="Segoe UI" pitchFamily="34" charset="0"/>
                <a:ea typeface="Segoe UI" pitchFamily="34" charset="-122"/>
                <a:cs typeface="Segoe UI" pitchFamily="34" charset="-120"/>
              </a:rPr>
              <a:t>Course notes: docs.lucianvilcea.ro</a:t>
            </a:r>
            <a:endParaRPr lang="en-US" sz="1200" dirty="0"/>
          </a:p>
        </p:txBody>
      </p:sp>
      <p:sp>
        <p:nvSpPr>
          <p:cNvPr id="6" name="Shape 4"/>
          <p:cNvSpPr/>
          <p:nvPr/>
        </p:nvSpPr>
        <p:spPr>
          <a:xfrm>
            <a:off x="9646920" y="4114800"/>
            <a:ext cx="502920" cy="502920"/>
          </a:xfrm>
          <a:prstGeom prst="rect">
            <a:avLst/>
          </a:prstGeom>
          <a:solidFill>
            <a:srgbClr val="2F6FD6">
              <a:alpha val="85000"/>
            </a:srgbClr>
          </a:solidFill>
          <a:ln/>
        </p:spPr>
      </p:sp>
      <p:sp>
        <p:nvSpPr>
          <p:cNvPr id="7" name="Shape 5"/>
          <p:cNvSpPr/>
          <p:nvPr/>
        </p:nvSpPr>
        <p:spPr>
          <a:xfrm>
            <a:off x="9418320" y="4846320"/>
            <a:ext cx="1965960" cy="0"/>
          </a:xfrm>
          <a:prstGeom prst="line">
            <a:avLst/>
          </a:prstGeom>
          <a:noFill/>
          <a:ln w="88900">
            <a:solidFill>
              <a:srgbClr val="D2453A"/>
            </a:solidFill>
            <a:prstDash val="solid"/>
            <a:tailEnd type="triangle"/>
          </a:ln>
        </p:spPr>
      </p:sp>
      <p:sp>
        <p:nvSpPr>
          <p:cNvPr id="8" name="Shape 6"/>
          <p:cNvSpPr/>
          <p:nvPr/>
        </p:nvSpPr>
        <p:spPr>
          <a:xfrm flipV="1">
            <a:off x="9418320" y="2880360"/>
            <a:ext cx="0" cy="1965960"/>
          </a:xfrm>
          <a:prstGeom prst="line">
            <a:avLst/>
          </a:prstGeom>
          <a:noFill/>
          <a:ln w="88900">
            <a:solidFill>
              <a:srgbClr val="4C9A2A"/>
            </a:solidFill>
            <a:prstDash val="solid"/>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THE UNITY MODULE</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Six weeks, one platformer</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Text 3"/>
          <p:cNvSpPr txBox="1"/>
          <p:nvPr/>
        </p:nvSpPr>
        <p:spPr>
          <a:xfrm>
            <a:off x="548640" y="1481328"/>
            <a:ext cx="11094415" cy="411480"/>
          </a:xfrm>
          <a:prstGeom prst="rect">
            <a:avLst/>
          </a:prstGeom>
          <a:noFill/>
          <a:ln/>
        </p:spPr>
        <p:txBody>
          <a:bodyPr wrap="square" lIns="0" tIns="0" rIns="0" bIns="0" rtlCol="0" anchor="t"/>
          <a:lstStyle/>
          <a:p>
            <a:pPr indent="0" marL="0">
              <a:buNone/>
            </a:pPr>
            <a:r>
              <a:rPr lang="en-US" sz="1700" dirty="0">
                <a:solidFill>
                  <a:srgbClr val="364255"/>
                </a:solidFill>
                <a:latin typeface="Segoe UI" pitchFamily="34" charset="0"/>
                <a:ea typeface="Segoe UI" pitchFamily="34" charset="-122"/>
                <a:cs typeface="Segoe UI" pitchFamily="34" charset="-120"/>
              </a:rPr>
              <a:t>One Unity project, PlatformerLab, grows every week into a complete 2D platformer that runs outside the editor.</a:t>
            </a:r>
            <a:endParaRPr lang="en-US" sz="1700" dirty="0"/>
          </a:p>
        </p:txBody>
      </p:sp>
      <p:sp>
        <p:nvSpPr>
          <p:cNvPr id="7" name="Shape 4"/>
          <p:cNvSpPr/>
          <p:nvPr/>
        </p:nvSpPr>
        <p:spPr>
          <a:xfrm>
            <a:off x="548640" y="2148840"/>
            <a:ext cx="1711909" cy="2377440"/>
          </a:xfrm>
          <a:prstGeom prst="rect">
            <a:avLst/>
          </a:prstGeom>
          <a:solidFill>
            <a:srgbClr val="2354A6"/>
          </a:solidFill>
          <a:ln/>
        </p:spPr>
      </p:sp>
      <p:sp>
        <p:nvSpPr>
          <p:cNvPr id="8" name="Text 5"/>
          <p:cNvSpPr txBox="1"/>
          <p:nvPr/>
        </p:nvSpPr>
        <p:spPr>
          <a:xfrm>
            <a:off x="713232" y="2350008"/>
            <a:ext cx="1382725" cy="274320"/>
          </a:xfrm>
          <a:prstGeom prst="rect">
            <a:avLst/>
          </a:prstGeom>
          <a:noFill/>
          <a:ln/>
        </p:spPr>
        <p:txBody>
          <a:bodyPr wrap="square" lIns="0" tIns="0" rIns="0" bIns="0" rtlCol="0" anchor="t"/>
          <a:lstStyle/>
          <a:p>
            <a:pPr indent="0" marL="0">
              <a:buNone/>
            </a:pPr>
            <a:r>
              <a:rPr lang="en-US" sz="1100" b="1" spc="150" kern="0" dirty="0">
                <a:solidFill>
                  <a:srgbClr val="C9D8F5"/>
                </a:solidFill>
                <a:latin typeface="Segoe UI" pitchFamily="34" charset="0"/>
                <a:ea typeface="Segoe UI" pitchFamily="34" charset="-122"/>
                <a:cs typeface="Segoe UI" pitchFamily="34" charset="-120"/>
              </a:rPr>
              <a:t>WEEK 1</a:t>
            </a:r>
            <a:endParaRPr lang="en-US" sz="1100" dirty="0"/>
          </a:p>
        </p:txBody>
      </p:sp>
      <p:sp>
        <p:nvSpPr>
          <p:cNvPr id="9" name="Text 6"/>
          <p:cNvSpPr txBox="1"/>
          <p:nvPr/>
        </p:nvSpPr>
        <p:spPr>
          <a:xfrm>
            <a:off x="713232" y="2679192"/>
            <a:ext cx="1382725" cy="822960"/>
          </a:xfrm>
          <a:prstGeom prst="rect">
            <a:avLst/>
          </a:prstGeom>
          <a:noFill/>
          <a:ln/>
        </p:spPr>
        <p:txBody>
          <a:bodyPr wrap="square" lIns="0" tIns="0" rIns="0" bIns="0" rtlCol="0" anchor="t"/>
          <a:lstStyle/>
          <a:p>
            <a:pPr indent="0" marL="0">
              <a:buNone/>
            </a:pPr>
            <a:r>
              <a:rPr lang="en-US" sz="1700" dirty="0">
                <a:solidFill>
                  <a:srgbClr val="FFFFFF"/>
                </a:solidFill>
                <a:latin typeface="Segoe UI Semibold" pitchFamily="34" charset="0"/>
                <a:ea typeface="Segoe UI Semibold" pitchFamily="34" charset="-122"/>
                <a:cs typeface="Segoe UI Semibold" pitchFamily="34" charset="-120"/>
              </a:rPr>
              <a:t>Project and editor</a:t>
            </a:r>
            <a:endParaRPr lang="en-US" sz="1700" dirty="0"/>
          </a:p>
        </p:txBody>
      </p:sp>
      <p:sp>
        <p:nvSpPr>
          <p:cNvPr id="10" name="Text 7"/>
          <p:cNvSpPr txBox="1"/>
          <p:nvPr/>
        </p:nvSpPr>
        <p:spPr>
          <a:xfrm>
            <a:off x="713232" y="3520440"/>
            <a:ext cx="1382725" cy="914400"/>
          </a:xfrm>
          <a:prstGeom prst="rect">
            <a:avLst/>
          </a:prstGeom>
          <a:noFill/>
          <a:ln/>
        </p:spPr>
        <p:txBody>
          <a:bodyPr wrap="square" lIns="0" tIns="0" rIns="0" bIns="0" rtlCol="0" anchor="t"/>
          <a:lstStyle/>
          <a:p>
            <a:pPr indent="0" marL="0">
              <a:buNone/>
            </a:pPr>
            <a:r>
              <a:rPr lang="en-US" sz="1300" dirty="0">
                <a:solidFill>
                  <a:srgbClr val="DDE6F7"/>
                </a:solidFill>
                <a:latin typeface="Segoe UI" pitchFamily="34" charset="0"/>
                <a:ea typeface="Segoe UI" pitchFamily="34" charset="-122"/>
                <a:cs typeface="Segoe UI" pitchFamily="34" charset="-120"/>
              </a:rPr>
              <a:t>The editor, the object model, the project on disk</a:t>
            </a:r>
            <a:endParaRPr lang="en-US" sz="1300" dirty="0"/>
          </a:p>
        </p:txBody>
      </p:sp>
      <p:sp>
        <p:nvSpPr>
          <p:cNvPr id="11" name="Shape 8"/>
          <p:cNvSpPr/>
          <p:nvPr/>
        </p:nvSpPr>
        <p:spPr>
          <a:xfrm>
            <a:off x="2425141" y="2148840"/>
            <a:ext cx="1711909" cy="2377440"/>
          </a:xfrm>
          <a:prstGeom prst="rect">
            <a:avLst/>
          </a:prstGeom>
          <a:solidFill>
            <a:srgbClr val="F0F3F7"/>
          </a:solidFill>
          <a:ln/>
        </p:spPr>
      </p:sp>
      <p:sp>
        <p:nvSpPr>
          <p:cNvPr id="12" name="Text 9"/>
          <p:cNvSpPr txBox="1"/>
          <p:nvPr/>
        </p:nvSpPr>
        <p:spPr>
          <a:xfrm>
            <a:off x="2589733" y="2350008"/>
            <a:ext cx="1382725" cy="274320"/>
          </a:xfrm>
          <a:prstGeom prst="rect">
            <a:avLst/>
          </a:prstGeom>
          <a:noFill/>
          <a:ln/>
        </p:spPr>
        <p:txBody>
          <a:bodyPr wrap="square" lIns="0" tIns="0" rIns="0" bIns="0" rtlCol="0" anchor="t"/>
          <a:lstStyle/>
          <a:p>
            <a:pPr indent="0" marL="0">
              <a:buNone/>
            </a:pPr>
            <a:r>
              <a:rPr lang="en-US" sz="1100" b="1" spc="150" kern="0" dirty="0">
                <a:solidFill>
                  <a:srgbClr val="2354A6"/>
                </a:solidFill>
                <a:latin typeface="Segoe UI" pitchFamily="34" charset="0"/>
                <a:ea typeface="Segoe UI" pitchFamily="34" charset="-122"/>
                <a:cs typeface="Segoe UI" pitchFamily="34" charset="-120"/>
              </a:rPr>
              <a:t>WEEK 2</a:t>
            </a:r>
            <a:endParaRPr lang="en-US" sz="1100" dirty="0"/>
          </a:p>
        </p:txBody>
      </p:sp>
      <p:sp>
        <p:nvSpPr>
          <p:cNvPr id="13" name="Text 10"/>
          <p:cNvSpPr txBox="1"/>
          <p:nvPr/>
        </p:nvSpPr>
        <p:spPr>
          <a:xfrm>
            <a:off x="2589733" y="2679192"/>
            <a:ext cx="1382725" cy="822960"/>
          </a:xfrm>
          <a:prstGeom prst="rect">
            <a:avLst/>
          </a:prstGeom>
          <a:noFill/>
          <a:ln/>
        </p:spPr>
        <p:txBody>
          <a:bodyPr wrap="square" lIns="0" tIns="0" rIns="0" bIns="0" rtlCol="0" anchor="t"/>
          <a:lstStyle/>
          <a:p>
            <a:pPr indent="0" marL="0">
              <a:buNone/>
            </a:pPr>
            <a:r>
              <a:rPr lang="en-US" sz="1700" dirty="0">
                <a:solidFill>
                  <a:srgbClr val="18202E"/>
                </a:solidFill>
                <a:latin typeface="Segoe UI Semibold" pitchFamily="34" charset="0"/>
                <a:ea typeface="Segoe UI Semibold" pitchFamily="34" charset="-122"/>
                <a:cs typeface="Segoe UI Semibold" pitchFamily="34" charset="-120"/>
              </a:rPr>
              <a:t>Level and first script</a:t>
            </a:r>
            <a:endParaRPr lang="en-US" sz="1700" dirty="0"/>
          </a:p>
        </p:txBody>
      </p:sp>
      <p:sp>
        <p:nvSpPr>
          <p:cNvPr id="14" name="Text 11"/>
          <p:cNvSpPr txBox="1"/>
          <p:nvPr/>
        </p:nvSpPr>
        <p:spPr>
          <a:xfrm>
            <a:off x="2589733" y="3520440"/>
            <a:ext cx="1382725" cy="914400"/>
          </a:xfrm>
          <a:prstGeom prst="rect">
            <a:avLst/>
          </a:prstGeom>
          <a:noFill/>
          <a:ln/>
        </p:spPr>
        <p:txBody>
          <a:bodyPr wrap="square" lIns="0" tIns="0" rIns="0" bIns="0" rtlCol="0" anchor="t"/>
          <a:lstStyle/>
          <a:p>
            <a:pPr indent="0" marL="0">
              <a:buNone/>
            </a:pPr>
            <a:r>
              <a:rPr lang="en-US" sz="1300" dirty="0">
                <a:solidFill>
                  <a:srgbClr val="5B6678"/>
                </a:solidFill>
                <a:latin typeface="Segoe UI" pitchFamily="34" charset="0"/>
                <a:ea typeface="Segoe UI" pitchFamily="34" charset="-122"/>
                <a:cs typeface="Segoe UI" pitchFamily="34" charset="-120"/>
              </a:rPr>
              <a:t>Assets, tilemaps, input, movement</a:t>
            </a:r>
            <a:endParaRPr lang="en-US" sz="1300" dirty="0"/>
          </a:p>
        </p:txBody>
      </p:sp>
      <p:sp>
        <p:nvSpPr>
          <p:cNvPr id="15" name="Shape 12"/>
          <p:cNvSpPr/>
          <p:nvPr/>
        </p:nvSpPr>
        <p:spPr>
          <a:xfrm>
            <a:off x="4301642" y="2148840"/>
            <a:ext cx="1711909" cy="2377440"/>
          </a:xfrm>
          <a:prstGeom prst="rect">
            <a:avLst/>
          </a:prstGeom>
          <a:solidFill>
            <a:srgbClr val="F0F3F7"/>
          </a:solidFill>
          <a:ln/>
        </p:spPr>
      </p:sp>
      <p:sp>
        <p:nvSpPr>
          <p:cNvPr id="16" name="Text 13"/>
          <p:cNvSpPr txBox="1"/>
          <p:nvPr/>
        </p:nvSpPr>
        <p:spPr>
          <a:xfrm>
            <a:off x="4466234" y="2350008"/>
            <a:ext cx="1382725" cy="274320"/>
          </a:xfrm>
          <a:prstGeom prst="rect">
            <a:avLst/>
          </a:prstGeom>
          <a:noFill/>
          <a:ln/>
        </p:spPr>
        <p:txBody>
          <a:bodyPr wrap="square" lIns="0" tIns="0" rIns="0" bIns="0" rtlCol="0" anchor="t"/>
          <a:lstStyle/>
          <a:p>
            <a:pPr indent="0" marL="0">
              <a:buNone/>
            </a:pPr>
            <a:r>
              <a:rPr lang="en-US" sz="1100" b="1" spc="150" kern="0" dirty="0">
                <a:solidFill>
                  <a:srgbClr val="2354A6"/>
                </a:solidFill>
                <a:latin typeface="Segoe UI" pitchFamily="34" charset="0"/>
                <a:ea typeface="Segoe UI" pitchFamily="34" charset="-122"/>
                <a:cs typeface="Segoe UI" pitchFamily="34" charset="-120"/>
              </a:rPr>
              <a:t>WEEK 3</a:t>
            </a:r>
            <a:endParaRPr lang="en-US" sz="1100" dirty="0"/>
          </a:p>
        </p:txBody>
      </p:sp>
      <p:sp>
        <p:nvSpPr>
          <p:cNvPr id="17" name="Text 14"/>
          <p:cNvSpPr txBox="1"/>
          <p:nvPr/>
        </p:nvSpPr>
        <p:spPr>
          <a:xfrm>
            <a:off x="4466234" y="2679192"/>
            <a:ext cx="1382725" cy="822960"/>
          </a:xfrm>
          <a:prstGeom prst="rect">
            <a:avLst/>
          </a:prstGeom>
          <a:noFill/>
          <a:ln/>
        </p:spPr>
        <p:txBody>
          <a:bodyPr wrap="square" lIns="0" tIns="0" rIns="0" bIns="0" rtlCol="0" anchor="t"/>
          <a:lstStyle/>
          <a:p>
            <a:pPr indent="0" marL="0">
              <a:buNone/>
            </a:pPr>
            <a:r>
              <a:rPr lang="en-US" sz="1700" dirty="0">
                <a:solidFill>
                  <a:srgbClr val="18202E"/>
                </a:solidFill>
                <a:latin typeface="Segoe UI Semibold" pitchFamily="34" charset="0"/>
                <a:ea typeface="Segoe UI Semibold" pitchFamily="34" charset="-122"/>
                <a:cs typeface="Segoe UI Semibold" pitchFamily="34" charset="-120"/>
              </a:rPr>
              <a:t>Physics and jumping</a:t>
            </a:r>
            <a:endParaRPr lang="en-US" sz="1700" dirty="0"/>
          </a:p>
        </p:txBody>
      </p:sp>
      <p:sp>
        <p:nvSpPr>
          <p:cNvPr id="18" name="Text 15"/>
          <p:cNvSpPr txBox="1"/>
          <p:nvPr/>
        </p:nvSpPr>
        <p:spPr>
          <a:xfrm>
            <a:off x="4466234" y="3520440"/>
            <a:ext cx="1382725" cy="914400"/>
          </a:xfrm>
          <a:prstGeom prst="rect">
            <a:avLst/>
          </a:prstGeom>
          <a:noFill/>
          <a:ln/>
        </p:spPr>
        <p:txBody>
          <a:bodyPr wrap="square" lIns="0" tIns="0" rIns="0" bIns="0" rtlCol="0" anchor="t"/>
          <a:lstStyle/>
          <a:p>
            <a:pPr indent="0" marL="0">
              <a:buNone/>
            </a:pPr>
            <a:r>
              <a:rPr lang="en-US" sz="1300" dirty="0">
                <a:solidFill>
                  <a:srgbClr val="5B6678"/>
                </a:solidFill>
                <a:latin typeface="Segoe UI" pitchFamily="34" charset="0"/>
                <a:ea typeface="Segoe UI" pitchFamily="34" charset="-122"/>
                <a:cs typeface="Segoe UI" pitchFamily="34" charset="-120"/>
              </a:rPr>
              <a:t>Rigidbody2D, colliders, ground check</a:t>
            </a:r>
            <a:endParaRPr lang="en-US" sz="1300" dirty="0"/>
          </a:p>
        </p:txBody>
      </p:sp>
      <p:sp>
        <p:nvSpPr>
          <p:cNvPr id="19" name="Shape 16"/>
          <p:cNvSpPr/>
          <p:nvPr/>
        </p:nvSpPr>
        <p:spPr>
          <a:xfrm>
            <a:off x="6178144" y="2148840"/>
            <a:ext cx="1711909" cy="2377440"/>
          </a:xfrm>
          <a:prstGeom prst="rect">
            <a:avLst/>
          </a:prstGeom>
          <a:solidFill>
            <a:srgbClr val="F0F3F7"/>
          </a:solidFill>
          <a:ln/>
        </p:spPr>
      </p:sp>
      <p:sp>
        <p:nvSpPr>
          <p:cNvPr id="20" name="Text 17"/>
          <p:cNvSpPr txBox="1"/>
          <p:nvPr/>
        </p:nvSpPr>
        <p:spPr>
          <a:xfrm>
            <a:off x="6342736" y="2350008"/>
            <a:ext cx="1382725" cy="274320"/>
          </a:xfrm>
          <a:prstGeom prst="rect">
            <a:avLst/>
          </a:prstGeom>
          <a:noFill/>
          <a:ln/>
        </p:spPr>
        <p:txBody>
          <a:bodyPr wrap="square" lIns="0" tIns="0" rIns="0" bIns="0" rtlCol="0" anchor="t"/>
          <a:lstStyle/>
          <a:p>
            <a:pPr indent="0" marL="0">
              <a:buNone/>
            </a:pPr>
            <a:r>
              <a:rPr lang="en-US" sz="1100" b="1" spc="150" kern="0" dirty="0">
                <a:solidFill>
                  <a:srgbClr val="2354A6"/>
                </a:solidFill>
                <a:latin typeface="Segoe UI" pitchFamily="34" charset="0"/>
                <a:ea typeface="Segoe UI" pitchFamily="34" charset="-122"/>
                <a:cs typeface="Segoe UI" pitchFamily="34" charset="-120"/>
              </a:rPr>
              <a:t>WEEK 4</a:t>
            </a:r>
            <a:endParaRPr lang="en-US" sz="1100" dirty="0"/>
          </a:p>
        </p:txBody>
      </p:sp>
      <p:sp>
        <p:nvSpPr>
          <p:cNvPr id="21" name="Text 18"/>
          <p:cNvSpPr txBox="1"/>
          <p:nvPr/>
        </p:nvSpPr>
        <p:spPr>
          <a:xfrm>
            <a:off x="6342736" y="2679192"/>
            <a:ext cx="1382725" cy="822960"/>
          </a:xfrm>
          <a:prstGeom prst="rect">
            <a:avLst/>
          </a:prstGeom>
          <a:noFill/>
          <a:ln/>
        </p:spPr>
        <p:txBody>
          <a:bodyPr wrap="square" lIns="0" tIns="0" rIns="0" bIns="0" rtlCol="0" anchor="t"/>
          <a:lstStyle/>
          <a:p>
            <a:pPr indent="0" marL="0">
              <a:buNone/>
            </a:pPr>
            <a:r>
              <a:rPr lang="en-US" sz="1700" dirty="0">
                <a:solidFill>
                  <a:srgbClr val="18202E"/>
                </a:solidFill>
                <a:latin typeface="Segoe UI Semibold" pitchFamily="34" charset="0"/>
                <a:ea typeface="Segoe UI Semibold" pitchFamily="34" charset="-122"/>
                <a:cs typeface="Segoe UI Semibold" pitchFamily="34" charset="-120"/>
              </a:rPr>
              <a:t>Animation</a:t>
            </a:r>
            <a:endParaRPr lang="en-US" sz="1700" dirty="0"/>
          </a:p>
        </p:txBody>
      </p:sp>
      <p:sp>
        <p:nvSpPr>
          <p:cNvPr id="22" name="Text 19"/>
          <p:cNvSpPr txBox="1"/>
          <p:nvPr/>
        </p:nvSpPr>
        <p:spPr>
          <a:xfrm>
            <a:off x="6342736" y="3520440"/>
            <a:ext cx="1382725" cy="914400"/>
          </a:xfrm>
          <a:prstGeom prst="rect">
            <a:avLst/>
          </a:prstGeom>
          <a:noFill/>
          <a:ln/>
        </p:spPr>
        <p:txBody>
          <a:bodyPr wrap="square" lIns="0" tIns="0" rIns="0" bIns="0" rtlCol="0" anchor="t"/>
          <a:lstStyle/>
          <a:p>
            <a:pPr indent="0" marL="0">
              <a:buNone/>
            </a:pPr>
            <a:r>
              <a:rPr lang="en-US" sz="1300" dirty="0">
                <a:solidFill>
                  <a:srgbClr val="5B6678"/>
                </a:solidFill>
                <a:latin typeface="Segoe UI" pitchFamily="34" charset="0"/>
                <a:ea typeface="Segoe UI" pitchFamily="34" charset="-122"/>
                <a:cs typeface="Segoe UI" pitchFamily="34" charset="-120"/>
              </a:rPr>
              <a:t>Sprite sheets, clips, the Animator</a:t>
            </a:r>
            <a:endParaRPr lang="en-US" sz="1300" dirty="0"/>
          </a:p>
        </p:txBody>
      </p:sp>
      <p:sp>
        <p:nvSpPr>
          <p:cNvPr id="23" name="Shape 20"/>
          <p:cNvSpPr/>
          <p:nvPr/>
        </p:nvSpPr>
        <p:spPr>
          <a:xfrm>
            <a:off x="8054645" y="2148840"/>
            <a:ext cx="1711909" cy="2377440"/>
          </a:xfrm>
          <a:prstGeom prst="rect">
            <a:avLst/>
          </a:prstGeom>
          <a:solidFill>
            <a:srgbClr val="F0F3F7"/>
          </a:solidFill>
          <a:ln/>
        </p:spPr>
      </p:sp>
      <p:sp>
        <p:nvSpPr>
          <p:cNvPr id="24" name="Text 21"/>
          <p:cNvSpPr txBox="1"/>
          <p:nvPr/>
        </p:nvSpPr>
        <p:spPr>
          <a:xfrm>
            <a:off x="8219237" y="2350008"/>
            <a:ext cx="1382725" cy="274320"/>
          </a:xfrm>
          <a:prstGeom prst="rect">
            <a:avLst/>
          </a:prstGeom>
          <a:noFill/>
          <a:ln/>
        </p:spPr>
        <p:txBody>
          <a:bodyPr wrap="square" lIns="0" tIns="0" rIns="0" bIns="0" rtlCol="0" anchor="t"/>
          <a:lstStyle/>
          <a:p>
            <a:pPr indent="0" marL="0">
              <a:buNone/>
            </a:pPr>
            <a:r>
              <a:rPr lang="en-US" sz="1100" b="1" spc="150" kern="0" dirty="0">
                <a:solidFill>
                  <a:srgbClr val="2354A6"/>
                </a:solidFill>
                <a:latin typeface="Segoe UI" pitchFamily="34" charset="0"/>
                <a:ea typeface="Segoe UI" pitchFamily="34" charset="-122"/>
                <a:cs typeface="Segoe UI" pitchFamily="34" charset="-120"/>
              </a:rPr>
              <a:t>WEEK 5</a:t>
            </a:r>
            <a:endParaRPr lang="en-US" sz="1100" dirty="0"/>
          </a:p>
        </p:txBody>
      </p:sp>
      <p:sp>
        <p:nvSpPr>
          <p:cNvPr id="25" name="Text 22"/>
          <p:cNvSpPr txBox="1"/>
          <p:nvPr/>
        </p:nvSpPr>
        <p:spPr>
          <a:xfrm>
            <a:off x="8219237" y="2679192"/>
            <a:ext cx="1382725" cy="822960"/>
          </a:xfrm>
          <a:prstGeom prst="rect">
            <a:avLst/>
          </a:prstGeom>
          <a:noFill/>
          <a:ln/>
        </p:spPr>
        <p:txBody>
          <a:bodyPr wrap="square" lIns="0" tIns="0" rIns="0" bIns="0" rtlCol="0" anchor="t"/>
          <a:lstStyle/>
          <a:p>
            <a:pPr indent="0" marL="0">
              <a:buNone/>
            </a:pPr>
            <a:r>
              <a:rPr lang="en-US" sz="1700" dirty="0">
                <a:solidFill>
                  <a:srgbClr val="18202E"/>
                </a:solidFill>
                <a:latin typeface="Segoe UI Semibold" pitchFamily="34" charset="0"/>
                <a:ea typeface="Segoe UI Semibold" pitchFamily="34" charset="-122"/>
                <a:cs typeface="Segoe UI Semibold" pitchFamily="34" charset="-120"/>
              </a:rPr>
              <a:t>Enemies, UI, game state</a:t>
            </a:r>
            <a:endParaRPr lang="en-US" sz="1700" dirty="0"/>
          </a:p>
        </p:txBody>
      </p:sp>
      <p:sp>
        <p:nvSpPr>
          <p:cNvPr id="26" name="Text 23"/>
          <p:cNvSpPr txBox="1"/>
          <p:nvPr/>
        </p:nvSpPr>
        <p:spPr>
          <a:xfrm>
            <a:off x="8219237" y="3520440"/>
            <a:ext cx="1382725" cy="914400"/>
          </a:xfrm>
          <a:prstGeom prst="rect">
            <a:avLst/>
          </a:prstGeom>
          <a:noFill/>
          <a:ln/>
        </p:spPr>
        <p:txBody>
          <a:bodyPr wrap="square" lIns="0" tIns="0" rIns="0" bIns="0" rtlCol="0" anchor="t"/>
          <a:lstStyle/>
          <a:p>
            <a:pPr indent="0" marL="0">
              <a:buNone/>
            </a:pPr>
            <a:r>
              <a:rPr lang="en-US" sz="1300" dirty="0">
                <a:solidFill>
                  <a:srgbClr val="5B6678"/>
                </a:solidFill>
                <a:latin typeface="Segoe UI" pitchFamily="34" charset="0"/>
                <a:ea typeface="Segoe UI" pitchFamily="34" charset="-122"/>
                <a:cs typeface="Segoe UI" pitchFamily="34" charset="-120"/>
              </a:rPr>
              <a:t>Patrols, the Canvas, a GameManager</a:t>
            </a:r>
            <a:endParaRPr lang="en-US" sz="1300" dirty="0"/>
          </a:p>
        </p:txBody>
      </p:sp>
      <p:sp>
        <p:nvSpPr>
          <p:cNvPr id="27" name="Shape 24"/>
          <p:cNvSpPr/>
          <p:nvPr/>
        </p:nvSpPr>
        <p:spPr>
          <a:xfrm>
            <a:off x="9931146" y="2148840"/>
            <a:ext cx="1711909" cy="2377440"/>
          </a:xfrm>
          <a:prstGeom prst="rect">
            <a:avLst/>
          </a:prstGeom>
          <a:solidFill>
            <a:srgbClr val="F0F3F7"/>
          </a:solidFill>
          <a:ln/>
        </p:spPr>
      </p:sp>
      <p:sp>
        <p:nvSpPr>
          <p:cNvPr id="28" name="Text 25"/>
          <p:cNvSpPr txBox="1"/>
          <p:nvPr/>
        </p:nvSpPr>
        <p:spPr>
          <a:xfrm>
            <a:off x="10095738" y="2350008"/>
            <a:ext cx="1382725" cy="274320"/>
          </a:xfrm>
          <a:prstGeom prst="rect">
            <a:avLst/>
          </a:prstGeom>
          <a:noFill/>
          <a:ln/>
        </p:spPr>
        <p:txBody>
          <a:bodyPr wrap="square" lIns="0" tIns="0" rIns="0" bIns="0" rtlCol="0" anchor="t"/>
          <a:lstStyle/>
          <a:p>
            <a:pPr indent="0" marL="0">
              <a:buNone/>
            </a:pPr>
            <a:r>
              <a:rPr lang="en-US" sz="1100" b="1" spc="150" kern="0" dirty="0">
                <a:solidFill>
                  <a:srgbClr val="2354A6"/>
                </a:solidFill>
                <a:latin typeface="Segoe UI" pitchFamily="34" charset="0"/>
                <a:ea typeface="Segoe UI" pitchFamily="34" charset="-122"/>
                <a:cs typeface="Segoe UI" pitchFamily="34" charset="-120"/>
              </a:rPr>
              <a:t>WEEK 6</a:t>
            </a:r>
            <a:endParaRPr lang="en-US" sz="1100" dirty="0"/>
          </a:p>
        </p:txBody>
      </p:sp>
      <p:sp>
        <p:nvSpPr>
          <p:cNvPr id="29" name="Text 26"/>
          <p:cNvSpPr txBox="1"/>
          <p:nvPr/>
        </p:nvSpPr>
        <p:spPr>
          <a:xfrm>
            <a:off x="10095738" y="2679192"/>
            <a:ext cx="1382725" cy="822960"/>
          </a:xfrm>
          <a:prstGeom prst="rect">
            <a:avLst/>
          </a:prstGeom>
          <a:noFill/>
          <a:ln/>
        </p:spPr>
        <p:txBody>
          <a:bodyPr wrap="square" lIns="0" tIns="0" rIns="0" bIns="0" rtlCol="0" anchor="t"/>
          <a:lstStyle/>
          <a:p>
            <a:pPr indent="0" marL="0">
              <a:buNone/>
            </a:pPr>
            <a:r>
              <a:rPr lang="en-US" sz="1700" dirty="0">
                <a:solidFill>
                  <a:srgbClr val="18202E"/>
                </a:solidFill>
                <a:latin typeface="Segoe UI Semibold" pitchFamily="34" charset="0"/>
                <a:ea typeface="Segoe UI Semibold" pitchFamily="34" charset="-122"/>
                <a:cs typeface="Segoe UI Semibold" pitchFamily="34" charset="-120"/>
              </a:rPr>
              <a:t>Audio and shipping</a:t>
            </a:r>
            <a:endParaRPr lang="en-US" sz="1700" dirty="0"/>
          </a:p>
        </p:txBody>
      </p:sp>
      <p:sp>
        <p:nvSpPr>
          <p:cNvPr id="30" name="Text 27"/>
          <p:cNvSpPr txBox="1"/>
          <p:nvPr/>
        </p:nvSpPr>
        <p:spPr>
          <a:xfrm>
            <a:off x="10095738" y="3520440"/>
            <a:ext cx="1382725" cy="914400"/>
          </a:xfrm>
          <a:prstGeom prst="rect">
            <a:avLst/>
          </a:prstGeom>
          <a:noFill/>
          <a:ln/>
        </p:spPr>
        <p:txBody>
          <a:bodyPr wrap="square" lIns="0" tIns="0" rIns="0" bIns="0" rtlCol="0" anchor="t"/>
          <a:lstStyle/>
          <a:p>
            <a:pPr indent="0" marL="0">
              <a:buNone/>
            </a:pPr>
            <a:r>
              <a:rPr lang="en-US" sz="1300" dirty="0">
                <a:solidFill>
                  <a:srgbClr val="5B6678"/>
                </a:solidFill>
                <a:latin typeface="Segoe UI" pitchFamily="34" charset="0"/>
                <a:ea typeface="Segoe UI" pitchFamily="34" charset="-122"/>
                <a:cs typeface="Segoe UI" pitchFamily="34" charset="-120"/>
              </a:rPr>
              <a:t>Sound, polish, the final build</a:t>
            </a:r>
            <a:endParaRPr lang="en-US" sz="1300" dirty="0"/>
          </a:p>
        </p:txBody>
      </p:sp>
      <p:sp>
        <p:nvSpPr>
          <p:cNvPr id="31" name="Text 28"/>
          <p:cNvSpPr txBox="1"/>
          <p:nvPr/>
        </p:nvSpPr>
        <p:spPr>
          <a:xfrm>
            <a:off x="548640" y="4846320"/>
            <a:ext cx="11094415" cy="365760"/>
          </a:xfrm>
          <a:prstGeom prst="rect">
            <a:avLst/>
          </a:prstGeom>
          <a:noFill/>
          <a:ln/>
        </p:spPr>
        <p:txBody>
          <a:bodyPr wrap="square" lIns="0" tIns="0" rIns="0" bIns="0" rtlCol="0" anchor="t"/>
          <a:lstStyle/>
          <a:p>
            <a:pPr indent="0" marL="0">
              <a:buNone/>
            </a:pPr>
            <a:r>
              <a:rPr lang="en-US" sz="1600" b="1" dirty="0">
                <a:solidFill>
                  <a:srgbClr val="364255"/>
                </a:solidFill>
                <a:latin typeface="Segoe UI" pitchFamily="34" charset="0"/>
                <a:ea typeface="Segoe UI" pitchFamily="34" charset="-122"/>
                <a:cs typeface="Segoe UI" pitchFamily="34" charset="-120"/>
              </a:rPr>
              <a:t>Every week:  </a:t>
            </a:r>
            <a:pPr indent="0" marL="0">
              <a:buNone/>
            </a:pPr>
            <a:r>
              <a:rPr lang="en-US" sz="1600" dirty="0">
                <a:solidFill>
                  <a:srgbClr val="364255"/>
                </a:solidFill>
                <a:latin typeface="Segoe UI" pitchFamily="34" charset="0"/>
                <a:ea typeface="Segoe UI" pitchFamily="34" charset="-122"/>
                <a:cs typeface="Segoe UI" pitchFamily="34" charset="-120"/>
              </a:rPr>
              <a:t>read the theory pages  →  follow the tutorial in the lab  →  finish the exercise at home</a:t>
            </a:r>
            <a:endParaRPr lang="en-US" sz="1600" dirty="0"/>
          </a:p>
        </p:txBody>
      </p:sp>
      <p:sp>
        <p:nvSpPr>
          <p:cNvPr id="32" name="Text 29"/>
          <p:cNvSpPr txBox="1"/>
          <p:nvPr/>
        </p:nvSpPr>
        <p:spPr>
          <a:xfrm>
            <a:off x="548640" y="5349240"/>
            <a:ext cx="11094415" cy="365760"/>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Weeks 7–13: Part II, HTML5 APIs, with KeyFall, a rhythm game in the browser.</a:t>
            </a:r>
            <a:endParaRPr lang="en-US" sz="14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WEEK 1</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Today</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Text 3"/>
          <p:cNvSpPr txBox="1"/>
          <p:nvPr/>
        </p:nvSpPr>
        <p:spPr>
          <a:xfrm>
            <a:off x="548640" y="1572768"/>
            <a:ext cx="457200" cy="411480"/>
          </a:xfrm>
          <a:prstGeom prst="rect">
            <a:avLst/>
          </a:prstGeom>
          <a:noFill/>
          <a:ln/>
        </p:spPr>
        <p:txBody>
          <a:bodyPr wrap="square" lIns="0" tIns="0" rIns="0" bIns="0" rtlCol="0" anchor="t"/>
          <a:lstStyle/>
          <a:p>
            <a:pPr indent="0" marL="0">
              <a:buNone/>
            </a:pPr>
            <a:r>
              <a:rPr lang="en-US" sz="2200" b="1" dirty="0">
                <a:solidFill>
                  <a:srgbClr val="2354A6"/>
                </a:solidFill>
                <a:latin typeface="Consolas" pitchFamily="34" charset="0"/>
                <a:ea typeface="Consolas" pitchFamily="34" charset="-122"/>
                <a:cs typeface="Consolas" pitchFamily="34" charset="-120"/>
              </a:rPr>
              <a:t>1</a:t>
            </a:r>
            <a:endParaRPr lang="en-US" sz="2200" dirty="0"/>
          </a:p>
        </p:txBody>
      </p:sp>
      <p:sp>
        <p:nvSpPr>
          <p:cNvPr id="7" name="Text 4"/>
          <p:cNvSpPr txBox="1"/>
          <p:nvPr/>
        </p:nvSpPr>
        <p:spPr>
          <a:xfrm>
            <a:off x="1143000" y="1554480"/>
            <a:ext cx="6035040" cy="384048"/>
          </a:xfrm>
          <a:prstGeom prst="rect">
            <a:avLst/>
          </a:prstGeom>
          <a:noFill/>
          <a:ln/>
        </p:spPr>
        <p:txBody>
          <a:bodyPr wrap="square" lIns="0" tIns="0" rIns="0" bIns="0" rtlCol="0" anchor="t"/>
          <a:lstStyle/>
          <a:p>
            <a:pPr indent="0" marL="0">
              <a:buNone/>
            </a:pPr>
            <a:r>
              <a:rPr lang="en-US" sz="2000" dirty="0">
                <a:solidFill>
                  <a:srgbClr val="18202E"/>
                </a:solidFill>
                <a:latin typeface="Segoe UI Semibold" pitchFamily="34" charset="0"/>
                <a:ea typeface="Segoe UI Semibold" pitchFamily="34" charset="-122"/>
                <a:cs typeface="Segoe UI Semibold" pitchFamily="34" charset="-120"/>
              </a:rPr>
              <a:t>Game engines</a:t>
            </a:r>
            <a:endParaRPr lang="en-US" sz="2000" dirty="0"/>
          </a:p>
        </p:txBody>
      </p:sp>
      <p:sp>
        <p:nvSpPr>
          <p:cNvPr id="8" name="Text 5"/>
          <p:cNvSpPr txBox="1"/>
          <p:nvPr/>
        </p:nvSpPr>
        <p:spPr>
          <a:xfrm>
            <a:off x="1143000" y="1947672"/>
            <a:ext cx="6035040" cy="310896"/>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The loop, deltaTime, what an engine provides</a:t>
            </a:r>
            <a:endParaRPr lang="en-US" sz="1400" dirty="0"/>
          </a:p>
        </p:txBody>
      </p:sp>
      <p:sp>
        <p:nvSpPr>
          <p:cNvPr id="9" name="Text 6"/>
          <p:cNvSpPr txBox="1"/>
          <p:nvPr/>
        </p:nvSpPr>
        <p:spPr>
          <a:xfrm>
            <a:off x="548640" y="2423160"/>
            <a:ext cx="457200" cy="411480"/>
          </a:xfrm>
          <a:prstGeom prst="rect">
            <a:avLst/>
          </a:prstGeom>
          <a:noFill/>
          <a:ln/>
        </p:spPr>
        <p:txBody>
          <a:bodyPr wrap="square" lIns="0" tIns="0" rIns="0" bIns="0" rtlCol="0" anchor="t"/>
          <a:lstStyle/>
          <a:p>
            <a:pPr indent="0" marL="0">
              <a:buNone/>
            </a:pPr>
            <a:r>
              <a:rPr lang="en-US" sz="2200" b="1" dirty="0">
                <a:solidFill>
                  <a:srgbClr val="2354A6"/>
                </a:solidFill>
                <a:latin typeface="Consolas" pitchFamily="34" charset="0"/>
                <a:ea typeface="Consolas" pitchFamily="34" charset="-122"/>
                <a:cs typeface="Consolas" pitchFamily="34" charset="-120"/>
              </a:rPr>
              <a:t>2</a:t>
            </a:r>
            <a:endParaRPr lang="en-US" sz="2200" dirty="0"/>
          </a:p>
        </p:txBody>
      </p:sp>
      <p:sp>
        <p:nvSpPr>
          <p:cNvPr id="10" name="Text 7"/>
          <p:cNvSpPr txBox="1"/>
          <p:nvPr/>
        </p:nvSpPr>
        <p:spPr>
          <a:xfrm>
            <a:off x="1143000" y="2404872"/>
            <a:ext cx="6035040" cy="384048"/>
          </a:xfrm>
          <a:prstGeom prst="rect">
            <a:avLst/>
          </a:prstGeom>
          <a:noFill/>
          <a:ln/>
        </p:spPr>
        <p:txBody>
          <a:bodyPr wrap="square" lIns="0" tIns="0" rIns="0" bIns="0" rtlCol="0" anchor="t"/>
          <a:lstStyle/>
          <a:p>
            <a:pPr indent="0" marL="0">
              <a:buNone/>
            </a:pPr>
            <a:r>
              <a:rPr lang="en-US" sz="2000" dirty="0">
                <a:solidFill>
                  <a:srgbClr val="18202E"/>
                </a:solidFill>
                <a:latin typeface="Segoe UI Semibold" pitchFamily="34" charset="0"/>
                <a:ea typeface="Segoe UI Semibold" pitchFamily="34" charset="-122"/>
                <a:cs typeface="Segoe UI Semibold" pitchFamily="34" charset="-120"/>
              </a:rPr>
              <a:t>The editor</a:t>
            </a:r>
            <a:endParaRPr lang="en-US" sz="2000" dirty="0"/>
          </a:p>
        </p:txBody>
      </p:sp>
      <p:sp>
        <p:nvSpPr>
          <p:cNvPr id="11" name="Text 8"/>
          <p:cNvSpPr txBox="1"/>
          <p:nvPr/>
        </p:nvSpPr>
        <p:spPr>
          <a:xfrm>
            <a:off x="1143000" y="2798064"/>
            <a:ext cx="6035040" cy="310896"/>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Six windows, one selection, Play mode</a:t>
            </a:r>
            <a:endParaRPr lang="en-US" sz="1400" dirty="0"/>
          </a:p>
        </p:txBody>
      </p:sp>
      <p:sp>
        <p:nvSpPr>
          <p:cNvPr id="12" name="Text 9"/>
          <p:cNvSpPr txBox="1"/>
          <p:nvPr/>
        </p:nvSpPr>
        <p:spPr>
          <a:xfrm>
            <a:off x="548640" y="3273552"/>
            <a:ext cx="457200" cy="411480"/>
          </a:xfrm>
          <a:prstGeom prst="rect">
            <a:avLst/>
          </a:prstGeom>
          <a:noFill/>
          <a:ln/>
        </p:spPr>
        <p:txBody>
          <a:bodyPr wrap="square" lIns="0" tIns="0" rIns="0" bIns="0" rtlCol="0" anchor="t"/>
          <a:lstStyle/>
          <a:p>
            <a:pPr indent="0" marL="0">
              <a:buNone/>
            </a:pPr>
            <a:r>
              <a:rPr lang="en-US" sz="2200" b="1" dirty="0">
                <a:solidFill>
                  <a:srgbClr val="2354A6"/>
                </a:solidFill>
                <a:latin typeface="Consolas" pitchFamily="34" charset="0"/>
                <a:ea typeface="Consolas" pitchFamily="34" charset="-122"/>
                <a:cs typeface="Consolas" pitchFamily="34" charset="-120"/>
              </a:rPr>
              <a:t>3</a:t>
            </a:r>
            <a:endParaRPr lang="en-US" sz="2200" dirty="0"/>
          </a:p>
        </p:txBody>
      </p:sp>
      <p:sp>
        <p:nvSpPr>
          <p:cNvPr id="13" name="Text 10"/>
          <p:cNvSpPr txBox="1"/>
          <p:nvPr/>
        </p:nvSpPr>
        <p:spPr>
          <a:xfrm>
            <a:off x="1143000" y="3255264"/>
            <a:ext cx="6035040" cy="384048"/>
          </a:xfrm>
          <a:prstGeom prst="rect">
            <a:avLst/>
          </a:prstGeom>
          <a:noFill/>
          <a:ln/>
        </p:spPr>
        <p:txBody>
          <a:bodyPr wrap="square" lIns="0" tIns="0" rIns="0" bIns="0" rtlCol="0" anchor="t"/>
          <a:lstStyle/>
          <a:p>
            <a:pPr indent="0" marL="0">
              <a:buNone/>
            </a:pPr>
            <a:r>
              <a:rPr lang="en-US" sz="2000" dirty="0">
                <a:solidFill>
                  <a:srgbClr val="18202E"/>
                </a:solidFill>
                <a:latin typeface="Segoe UI Semibold" pitchFamily="34" charset="0"/>
                <a:ea typeface="Segoe UI Semibold" pitchFamily="34" charset="-122"/>
                <a:cs typeface="Segoe UI Semibold" pitchFamily="34" charset="-120"/>
              </a:rPr>
              <a:t>GameObjects and components</a:t>
            </a:r>
            <a:endParaRPr lang="en-US" sz="2000" dirty="0"/>
          </a:p>
        </p:txBody>
      </p:sp>
      <p:sp>
        <p:nvSpPr>
          <p:cNvPr id="14" name="Text 11"/>
          <p:cNvSpPr txBox="1"/>
          <p:nvPr/>
        </p:nvSpPr>
        <p:spPr>
          <a:xfrm>
            <a:off x="1143000" y="3648456"/>
            <a:ext cx="6035040" cy="310896"/>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Composition, Transform, parenting</a:t>
            </a:r>
            <a:endParaRPr lang="en-US" sz="1400" dirty="0"/>
          </a:p>
        </p:txBody>
      </p:sp>
      <p:sp>
        <p:nvSpPr>
          <p:cNvPr id="15" name="Text 12"/>
          <p:cNvSpPr txBox="1"/>
          <p:nvPr/>
        </p:nvSpPr>
        <p:spPr>
          <a:xfrm>
            <a:off x="548640" y="4123944"/>
            <a:ext cx="457200" cy="411480"/>
          </a:xfrm>
          <a:prstGeom prst="rect">
            <a:avLst/>
          </a:prstGeom>
          <a:noFill/>
          <a:ln/>
        </p:spPr>
        <p:txBody>
          <a:bodyPr wrap="square" lIns="0" tIns="0" rIns="0" bIns="0" rtlCol="0" anchor="t"/>
          <a:lstStyle/>
          <a:p>
            <a:pPr indent="0" marL="0">
              <a:buNone/>
            </a:pPr>
            <a:r>
              <a:rPr lang="en-US" sz="2200" b="1" dirty="0">
                <a:solidFill>
                  <a:srgbClr val="2354A6"/>
                </a:solidFill>
                <a:latin typeface="Consolas" pitchFamily="34" charset="0"/>
                <a:ea typeface="Consolas" pitchFamily="34" charset="-122"/>
                <a:cs typeface="Consolas" pitchFamily="34" charset="-120"/>
              </a:rPr>
              <a:t>4</a:t>
            </a:r>
            <a:endParaRPr lang="en-US" sz="2200" dirty="0"/>
          </a:p>
        </p:txBody>
      </p:sp>
      <p:sp>
        <p:nvSpPr>
          <p:cNvPr id="16" name="Text 13"/>
          <p:cNvSpPr txBox="1"/>
          <p:nvPr/>
        </p:nvSpPr>
        <p:spPr>
          <a:xfrm>
            <a:off x="1143000" y="4105656"/>
            <a:ext cx="6035040" cy="384048"/>
          </a:xfrm>
          <a:prstGeom prst="rect">
            <a:avLst/>
          </a:prstGeom>
          <a:noFill/>
          <a:ln/>
        </p:spPr>
        <p:txBody>
          <a:bodyPr wrap="square" lIns="0" tIns="0" rIns="0" bIns="0" rtlCol="0" anchor="t"/>
          <a:lstStyle/>
          <a:p>
            <a:pPr indent="0" marL="0">
              <a:buNone/>
            </a:pPr>
            <a:r>
              <a:rPr lang="en-US" sz="2000" dirty="0">
                <a:solidFill>
                  <a:srgbClr val="18202E"/>
                </a:solidFill>
                <a:latin typeface="Segoe UI Semibold" pitchFamily="34" charset="0"/>
                <a:ea typeface="Segoe UI Semibold" pitchFamily="34" charset="-122"/>
                <a:cs typeface="Segoe UI Semibold" pitchFamily="34" charset="-120"/>
              </a:rPr>
              <a:t>2D space</a:t>
            </a:r>
            <a:endParaRPr lang="en-US" sz="2000" dirty="0"/>
          </a:p>
        </p:txBody>
      </p:sp>
      <p:sp>
        <p:nvSpPr>
          <p:cNvPr id="17" name="Text 14"/>
          <p:cNvSpPr txBox="1"/>
          <p:nvPr/>
        </p:nvSpPr>
        <p:spPr>
          <a:xfrm>
            <a:off x="1143000" y="4498848"/>
            <a:ext cx="6035040" cy="310896"/>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Coordinates, vectors, sprites, the camera, draw order</a:t>
            </a:r>
            <a:endParaRPr lang="en-US" sz="1400" dirty="0"/>
          </a:p>
        </p:txBody>
      </p:sp>
      <p:sp>
        <p:nvSpPr>
          <p:cNvPr id="18" name="Text 15"/>
          <p:cNvSpPr txBox="1"/>
          <p:nvPr/>
        </p:nvSpPr>
        <p:spPr>
          <a:xfrm>
            <a:off x="548640" y="4974336"/>
            <a:ext cx="457200" cy="411480"/>
          </a:xfrm>
          <a:prstGeom prst="rect">
            <a:avLst/>
          </a:prstGeom>
          <a:noFill/>
          <a:ln/>
        </p:spPr>
        <p:txBody>
          <a:bodyPr wrap="square" lIns="0" tIns="0" rIns="0" bIns="0" rtlCol="0" anchor="t"/>
          <a:lstStyle/>
          <a:p>
            <a:pPr indent="0" marL="0">
              <a:buNone/>
            </a:pPr>
            <a:r>
              <a:rPr lang="en-US" sz="2200" b="1" dirty="0">
                <a:solidFill>
                  <a:srgbClr val="2354A6"/>
                </a:solidFill>
                <a:latin typeface="Consolas" pitchFamily="34" charset="0"/>
                <a:ea typeface="Consolas" pitchFamily="34" charset="-122"/>
                <a:cs typeface="Consolas" pitchFamily="34" charset="-120"/>
              </a:rPr>
              <a:t>5</a:t>
            </a:r>
            <a:endParaRPr lang="en-US" sz="2200" dirty="0"/>
          </a:p>
        </p:txBody>
      </p:sp>
      <p:sp>
        <p:nvSpPr>
          <p:cNvPr id="19" name="Text 16"/>
          <p:cNvSpPr txBox="1"/>
          <p:nvPr/>
        </p:nvSpPr>
        <p:spPr>
          <a:xfrm>
            <a:off x="1143000" y="4956048"/>
            <a:ext cx="6035040" cy="384048"/>
          </a:xfrm>
          <a:prstGeom prst="rect">
            <a:avLst/>
          </a:prstGeom>
          <a:noFill/>
          <a:ln/>
        </p:spPr>
        <p:txBody>
          <a:bodyPr wrap="square" lIns="0" tIns="0" rIns="0" bIns="0" rtlCol="0" anchor="t"/>
          <a:lstStyle/>
          <a:p>
            <a:pPr indent="0" marL="0">
              <a:buNone/>
            </a:pPr>
            <a:r>
              <a:rPr lang="en-US" sz="2000" dirty="0">
                <a:solidFill>
                  <a:srgbClr val="18202E"/>
                </a:solidFill>
                <a:latin typeface="Segoe UI Semibold" pitchFamily="34" charset="0"/>
                <a:ea typeface="Segoe UI Semibold" pitchFamily="34" charset="-122"/>
                <a:cs typeface="Segoe UI Semibold" pitchFamily="34" charset="-120"/>
              </a:rPr>
              <a:t>The project on disk</a:t>
            </a:r>
            <a:endParaRPr lang="en-US" sz="2000" dirty="0"/>
          </a:p>
        </p:txBody>
      </p:sp>
      <p:sp>
        <p:nvSpPr>
          <p:cNvPr id="20" name="Text 17"/>
          <p:cNvSpPr txBox="1"/>
          <p:nvPr/>
        </p:nvSpPr>
        <p:spPr>
          <a:xfrm>
            <a:off x="1143000" y="5349240"/>
            <a:ext cx="6035040" cy="310896"/>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Meta files, GUIDs, what goes into Git</a:t>
            </a:r>
            <a:endParaRPr lang="en-US" sz="1400" dirty="0"/>
          </a:p>
        </p:txBody>
      </p:sp>
      <p:sp>
        <p:nvSpPr>
          <p:cNvPr id="21" name="Shape 18"/>
          <p:cNvSpPr/>
          <p:nvPr/>
        </p:nvSpPr>
        <p:spPr>
          <a:xfrm>
            <a:off x="7680960" y="1600200"/>
            <a:ext cx="3959352" cy="4114800"/>
          </a:xfrm>
          <a:prstGeom prst="rect">
            <a:avLst/>
          </a:prstGeom>
          <a:solidFill>
            <a:srgbClr val="F0F3F7"/>
          </a:solidFill>
          <a:ln/>
        </p:spPr>
      </p:sp>
      <p:sp>
        <p:nvSpPr>
          <p:cNvPr id="22" name="Text 19"/>
          <p:cNvSpPr txBox="1"/>
          <p:nvPr/>
        </p:nvSpPr>
        <p:spPr>
          <a:xfrm>
            <a:off x="7955280" y="1810512"/>
            <a:ext cx="3474720" cy="411480"/>
          </a:xfrm>
          <a:prstGeom prst="rect">
            <a:avLst/>
          </a:prstGeom>
          <a:noFill/>
          <a:ln/>
        </p:spPr>
        <p:txBody>
          <a:bodyPr wrap="square" lIns="0" tIns="0" rIns="0" bIns="0" rtlCol="0" anchor="t"/>
          <a:lstStyle/>
          <a:p>
            <a:pPr indent="0" marL="0">
              <a:buNone/>
            </a:pPr>
            <a:r>
              <a:rPr lang="en-US" sz="2000" dirty="0">
                <a:solidFill>
                  <a:srgbClr val="18202E"/>
                </a:solidFill>
                <a:latin typeface="Segoe UI Semibold" pitchFamily="34" charset="0"/>
                <a:ea typeface="Segoe UI Semibold" pitchFamily="34" charset="-122"/>
                <a:cs typeface="Segoe UI Semibold" pitchFamily="34" charset="-120"/>
              </a:rPr>
              <a:t>In the lab</a:t>
            </a:r>
            <a:endParaRPr lang="en-US" sz="2000" dirty="0"/>
          </a:p>
        </p:txBody>
      </p:sp>
      <p:sp>
        <p:nvSpPr>
          <p:cNvPr id="23" name="Text 20"/>
          <p:cNvSpPr txBox="1"/>
          <p:nvPr/>
        </p:nvSpPr>
        <p:spPr>
          <a:xfrm>
            <a:off x="7955280" y="2377440"/>
            <a:ext cx="3474720" cy="320040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rgbClr val="364255"/>
                </a:solidFill>
                <a:latin typeface="Segoe UI" pitchFamily="34" charset="0"/>
                <a:ea typeface="Segoe UI" pitchFamily="34" charset="-122"/>
                <a:cs typeface="Segoe UI" pitchFamily="34" charset="-120"/>
              </a:rPr>
              <a:t>Configure Git, create a private GitHub repository</a:t>
            </a:r>
            <a:endParaRPr lang="en-US" sz="1500" dirty="0"/>
          </a:p>
          <a:p>
            <a:pPr marL="203200" indent="-203200">
              <a:spcAft>
                <a:spcPts val="1200"/>
              </a:spcAft>
              <a:buSzPct val="100000"/>
              <a:buChar char="•"/>
            </a:pPr>
            <a:r>
              <a:rPr lang="en-US" sz="1500" dirty="0">
                <a:solidFill>
                  <a:srgbClr val="364255"/>
                </a:solidFill>
                <a:latin typeface="Segoe UI" pitchFamily="34" charset="0"/>
                <a:ea typeface="Segoe UI" pitchFamily="34" charset="-122"/>
                <a:cs typeface="Segoe UI" pitchFamily="34" charset="-120"/>
              </a:rPr>
              <a:t>Create PlatformerLab (Universal 2D, Unity 6.6)</a:t>
            </a:r>
            <a:endParaRPr lang="en-US" sz="1500" dirty="0"/>
          </a:p>
          <a:p>
            <a:pPr marL="203200" indent="-203200">
              <a:spcAft>
                <a:spcPts val="1200"/>
              </a:spcAft>
              <a:buSzPct val="100000"/>
              <a:buChar char="•"/>
            </a:pPr>
            <a:r>
              <a:rPr lang="en-US" sz="1500" dirty="0">
                <a:solidFill>
                  <a:srgbClr val="364255"/>
                </a:solidFill>
                <a:latin typeface="Segoe UI" pitchFamily="34" charset="0"/>
                <a:ea typeface="Segoe UI" pitchFamily="34" charset="-122"/>
                <a:cs typeface="Segoe UI" pitchFamily="34" charset="-120"/>
              </a:rPr>
              <a:t>A scratch scene: objects, draw order, parenting, camera, Play mode</a:t>
            </a:r>
            <a:endParaRPr lang="en-US" sz="1500" dirty="0"/>
          </a:p>
          <a:p>
            <a:pPr marL="203200" indent="-203200">
              <a:spcAft>
                <a:spcPts val="1200"/>
              </a:spcAft>
              <a:buSzPct val="100000"/>
              <a:buChar char="•"/>
            </a:pPr>
            <a:r>
              <a:rPr lang="en-US" sz="1500" dirty="0">
                <a:solidFill>
                  <a:srgbClr val="364255"/>
                </a:solidFill>
                <a:latin typeface="Segoe UI" pitchFamily="34" charset="0"/>
                <a:ea typeface="Segoe UI" pitchFamily="34" charset="-122"/>
                <a:cs typeface="Segoe UI" pitchFamily="34" charset="-120"/>
              </a:rPr>
              <a:t>At home: Exercise 1, the project's starting state</a:t>
            </a:r>
            <a:endParaRPr lang="en-US" sz="15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1 · GAME ENGINES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A game never stops redrawing itself</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00200"/>
            <a:ext cx="5394960" cy="3611880"/>
          </a:xfrm>
          <a:prstGeom prst="rect">
            <a:avLst/>
          </a:prstGeom>
          <a:solidFill>
            <a:srgbClr val="F0F3F7"/>
          </a:solidFill>
          <a:ln/>
        </p:spPr>
      </p:sp>
      <p:sp>
        <p:nvSpPr>
          <p:cNvPr id="7" name="Text 4"/>
          <p:cNvSpPr txBox="1"/>
          <p:nvPr/>
        </p:nvSpPr>
        <p:spPr>
          <a:xfrm>
            <a:off x="822960" y="1783080"/>
            <a:ext cx="4846320" cy="365760"/>
          </a:xfrm>
          <a:prstGeom prst="rect">
            <a:avLst/>
          </a:prstGeom>
          <a:noFill/>
          <a:ln/>
        </p:spPr>
        <p:txBody>
          <a:bodyPr wrap="square" lIns="0" tIns="0" rIns="0" bIns="0" rtlCol="0" anchor="t"/>
          <a:lstStyle/>
          <a:p>
            <a:pPr indent="0" marL="0">
              <a:buNone/>
            </a:pPr>
            <a:r>
              <a:rPr lang="en-US" sz="1900" dirty="0">
                <a:solidFill>
                  <a:srgbClr val="18202E"/>
                </a:solidFill>
                <a:latin typeface="Segoe UI Semibold" pitchFamily="34" charset="0"/>
                <a:ea typeface="Segoe UI Semibold" pitchFamily="34" charset="-122"/>
                <a:cs typeface="Segoe UI Semibold" pitchFamily="34" charset="-120"/>
              </a:rPr>
              <a:t>Event-driven</a:t>
            </a:r>
            <a:endParaRPr lang="en-US" sz="1900" dirty="0"/>
          </a:p>
        </p:txBody>
      </p:sp>
      <p:sp>
        <p:nvSpPr>
          <p:cNvPr id="8" name="Text 5"/>
          <p:cNvSpPr txBox="1"/>
          <p:nvPr/>
        </p:nvSpPr>
        <p:spPr>
          <a:xfrm>
            <a:off x="822960" y="2157984"/>
            <a:ext cx="4846320" cy="274320"/>
          </a:xfrm>
          <a:prstGeom prst="rect">
            <a:avLst/>
          </a:prstGeom>
          <a:noFill/>
          <a:ln/>
        </p:spPr>
        <p:txBody>
          <a:bodyPr wrap="square" lIns="0" tIns="0" rIns="0" bIns="0" rtlCol="0" anchor="t"/>
          <a:lstStyle/>
          <a:p>
            <a:pPr indent="0" marL="0">
              <a:buNone/>
            </a:pPr>
            <a:r>
              <a:rPr lang="en-US" sz="1300" dirty="0">
                <a:solidFill>
                  <a:srgbClr val="5B6678"/>
                </a:solidFill>
                <a:latin typeface="Segoe UI" pitchFamily="34" charset="0"/>
                <a:ea typeface="Segoe UI" pitchFamily="34" charset="-122"/>
                <a:cs typeface="Segoe UI" pitchFamily="34" charset="-120"/>
              </a:rPr>
              <a:t>a Windows Forms app</a:t>
            </a:r>
            <a:endParaRPr lang="en-US" sz="1300" dirty="0"/>
          </a:p>
        </p:txBody>
      </p:sp>
      <p:sp>
        <p:nvSpPr>
          <p:cNvPr id="9" name="Shape 6"/>
          <p:cNvSpPr/>
          <p:nvPr/>
        </p:nvSpPr>
        <p:spPr>
          <a:xfrm>
            <a:off x="868680" y="3931920"/>
            <a:ext cx="4800600" cy="0"/>
          </a:xfrm>
          <a:prstGeom prst="line">
            <a:avLst/>
          </a:prstGeom>
          <a:noFill/>
          <a:ln w="19050">
            <a:solidFill>
              <a:srgbClr val="5B6678"/>
            </a:solidFill>
            <a:prstDash val="solid"/>
            <a:tailEnd type="triangle"/>
          </a:ln>
        </p:spPr>
      </p:sp>
      <p:sp>
        <p:nvSpPr>
          <p:cNvPr id="10" name="Shape 7"/>
          <p:cNvSpPr/>
          <p:nvPr/>
        </p:nvSpPr>
        <p:spPr>
          <a:xfrm>
            <a:off x="1796796" y="2880360"/>
            <a:ext cx="64008" cy="1051560"/>
          </a:xfrm>
          <a:prstGeom prst="rect">
            <a:avLst/>
          </a:prstGeom>
          <a:solidFill>
            <a:srgbClr val="2354A6"/>
          </a:solidFill>
          <a:ln/>
        </p:spPr>
      </p:sp>
      <p:sp>
        <p:nvSpPr>
          <p:cNvPr id="11" name="Text 8"/>
          <p:cNvSpPr txBox="1"/>
          <p:nvPr/>
        </p:nvSpPr>
        <p:spPr>
          <a:xfrm>
            <a:off x="1463040" y="4023360"/>
            <a:ext cx="731520" cy="274320"/>
          </a:xfrm>
          <a:prstGeom prst="rect">
            <a:avLst/>
          </a:prstGeom>
          <a:noFill/>
          <a:ln/>
        </p:spPr>
        <p:txBody>
          <a:bodyPr wrap="square" lIns="0" tIns="0" rIns="0" bIns="0" rtlCol="0" anchor="t"/>
          <a:lstStyle/>
          <a:p>
            <a:pPr algn="ctr" indent="0" marL="0">
              <a:buNone/>
            </a:pPr>
            <a:r>
              <a:rPr lang="en-US" sz="1200" dirty="0">
                <a:solidFill>
                  <a:srgbClr val="5B6678"/>
                </a:solidFill>
                <a:latin typeface="Segoe UI" pitchFamily="34" charset="0"/>
                <a:ea typeface="Segoe UI" pitchFamily="34" charset="-122"/>
                <a:cs typeface="Segoe UI" pitchFamily="34" charset="-120"/>
              </a:rPr>
              <a:t>click</a:t>
            </a:r>
            <a:endParaRPr lang="en-US" sz="1200" dirty="0"/>
          </a:p>
        </p:txBody>
      </p:sp>
      <p:sp>
        <p:nvSpPr>
          <p:cNvPr id="12" name="Shape 9"/>
          <p:cNvSpPr/>
          <p:nvPr/>
        </p:nvSpPr>
        <p:spPr>
          <a:xfrm>
            <a:off x="3259836" y="2880360"/>
            <a:ext cx="64008" cy="1051560"/>
          </a:xfrm>
          <a:prstGeom prst="rect">
            <a:avLst/>
          </a:prstGeom>
          <a:solidFill>
            <a:srgbClr val="2354A6"/>
          </a:solidFill>
          <a:ln/>
        </p:spPr>
      </p:sp>
      <p:sp>
        <p:nvSpPr>
          <p:cNvPr id="13" name="Text 10"/>
          <p:cNvSpPr txBox="1"/>
          <p:nvPr/>
        </p:nvSpPr>
        <p:spPr>
          <a:xfrm>
            <a:off x="2926080" y="4023360"/>
            <a:ext cx="731520" cy="274320"/>
          </a:xfrm>
          <a:prstGeom prst="rect">
            <a:avLst/>
          </a:prstGeom>
          <a:noFill/>
          <a:ln/>
        </p:spPr>
        <p:txBody>
          <a:bodyPr wrap="square" lIns="0" tIns="0" rIns="0" bIns="0" rtlCol="0" anchor="t"/>
          <a:lstStyle/>
          <a:p>
            <a:pPr algn="ctr" indent="0" marL="0">
              <a:buNone/>
            </a:pPr>
            <a:r>
              <a:rPr lang="en-US" sz="1200" dirty="0">
                <a:solidFill>
                  <a:srgbClr val="5B6678"/>
                </a:solidFill>
                <a:latin typeface="Segoe UI" pitchFamily="34" charset="0"/>
                <a:ea typeface="Segoe UI" pitchFamily="34" charset="-122"/>
                <a:cs typeface="Segoe UI" pitchFamily="34" charset="-120"/>
              </a:rPr>
              <a:t>key</a:t>
            </a:r>
            <a:endParaRPr lang="en-US" sz="1200" dirty="0"/>
          </a:p>
        </p:txBody>
      </p:sp>
      <p:sp>
        <p:nvSpPr>
          <p:cNvPr id="14" name="Shape 11"/>
          <p:cNvSpPr/>
          <p:nvPr/>
        </p:nvSpPr>
        <p:spPr>
          <a:xfrm>
            <a:off x="4539996" y="2880360"/>
            <a:ext cx="64008" cy="1051560"/>
          </a:xfrm>
          <a:prstGeom prst="rect">
            <a:avLst/>
          </a:prstGeom>
          <a:solidFill>
            <a:srgbClr val="2354A6"/>
          </a:solidFill>
          <a:ln/>
        </p:spPr>
      </p:sp>
      <p:sp>
        <p:nvSpPr>
          <p:cNvPr id="15" name="Text 12"/>
          <p:cNvSpPr txBox="1"/>
          <p:nvPr/>
        </p:nvSpPr>
        <p:spPr>
          <a:xfrm>
            <a:off x="4206240" y="4023360"/>
            <a:ext cx="731520" cy="274320"/>
          </a:xfrm>
          <a:prstGeom prst="rect">
            <a:avLst/>
          </a:prstGeom>
          <a:noFill/>
          <a:ln/>
        </p:spPr>
        <p:txBody>
          <a:bodyPr wrap="square" lIns="0" tIns="0" rIns="0" bIns="0" rtlCol="0" anchor="t"/>
          <a:lstStyle/>
          <a:p>
            <a:pPr algn="ctr" indent="0" marL="0">
              <a:buNone/>
            </a:pPr>
            <a:r>
              <a:rPr lang="en-US" sz="1200" dirty="0">
                <a:solidFill>
                  <a:srgbClr val="5B6678"/>
                </a:solidFill>
                <a:latin typeface="Segoe UI" pitchFamily="34" charset="0"/>
                <a:ea typeface="Segoe UI" pitchFamily="34" charset="-122"/>
                <a:cs typeface="Segoe UI" pitchFamily="34" charset="-120"/>
              </a:rPr>
              <a:t>click</a:t>
            </a:r>
            <a:endParaRPr lang="en-US" sz="1200" dirty="0"/>
          </a:p>
        </p:txBody>
      </p:sp>
      <p:sp>
        <p:nvSpPr>
          <p:cNvPr id="16" name="Text 13"/>
          <p:cNvSpPr txBox="1"/>
          <p:nvPr/>
        </p:nvSpPr>
        <p:spPr>
          <a:xfrm>
            <a:off x="5257800" y="4023360"/>
            <a:ext cx="457200" cy="274320"/>
          </a:xfrm>
          <a:prstGeom prst="rect">
            <a:avLst/>
          </a:prstGeom>
          <a:noFill/>
          <a:ln/>
        </p:spPr>
        <p:txBody>
          <a:bodyPr wrap="square" lIns="0" tIns="0" rIns="0" bIns="0" rtlCol="0" anchor="t"/>
          <a:lstStyle/>
          <a:p>
            <a:pPr indent="0" marL="0">
              <a:buNone/>
            </a:pPr>
            <a:r>
              <a:rPr lang="en-US" sz="1200" dirty="0">
                <a:solidFill>
                  <a:srgbClr val="5B6678"/>
                </a:solidFill>
                <a:latin typeface="Segoe UI" pitchFamily="34" charset="0"/>
                <a:ea typeface="Segoe UI" pitchFamily="34" charset="-122"/>
                <a:cs typeface="Segoe UI" pitchFamily="34" charset="-120"/>
              </a:rPr>
              <a:t>time</a:t>
            </a:r>
            <a:endParaRPr lang="en-US" sz="1200" dirty="0"/>
          </a:p>
        </p:txBody>
      </p:sp>
      <p:sp>
        <p:nvSpPr>
          <p:cNvPr id="17" name="Text 14"/>
          <p:cNvSpPr txBox="1"/>
          <p:nvPr/>
        </p:nvSpPr>
        <p:spPr>
          <a:xfrm>
            <a:off x="822960" y="4572000"/>
            <a:ext cx="4846320" cy="457200"/>
          </a:xfrm>
          <a:prstGeom prst="rect">
            <a:avLst/>
          </a:prstGeom>
          <a:noFill/>
          <a:ln/>
        </p:spPr>
        <p:txBody>
          <a:bodyPr wrap="square" lIns="0" tIns="0" rIns="0" bIns="0" rtlCol="0" anchor="t"/>
          <a:lstStyle/>
          <a:p>
            <a:pPr indent="0" marL="0">
              <a:buNone/>
            </a:pPr>
            <a:r>
              <a:rPr lang="en-US" sz="1500" dirty="0">
                <a:solidFill>
                  <a:srgbClr val="364255"/>
                </a:solidFill>
                <a:latin typeface="Segoe UI" pitchFamily="34" charset="0"/>
                <a:ea typeface="Segoe UI" pitchFamily="34" charset="-122"/>
                <a:cs typeface="Segoe UI" pitchFamily="34" charset="-120"/>
              </a:rPr>
              <a:t>Waits for events. In between: idle, almost no CPU.</a:t>
            </a:r>
            <a:endParaRPr lang="en-US" sz="1500" dirty="0"/>
          </a:p>
        </p:txBody>
      </p:sp>
      <p:sp>
        <p:nvSpPr>
          <p:cNvPr id="18" name="Shape 15"/>
          <p:cNvSpPr/>
          <p:nvPr/>
        </p:nvSpPr>
        <p:spPr>
          <a:xfrm>
            <a:off x="6245352" y="1600200"/>
            <a:ext cx="5394960" cy="3611880"/>
          </a:xfrm>
          <a:prstGeom prst="rect">
            <a:avLst/>
          </a:prstGeom>
          <a:solidFill>
            <a:srgbClr val="F0F3F7"/>
          </a:solidFill>
          <a:ln/>
        </p:spPr>
      </p:sp>
      <p:sp>
        <p:nvSpPr>
          <p:cNvPr id="19" name="Text 16"/>
          <p:cNvSpPr txBox="1"/>
          <p:nvPr/>
        </p:nvSpPr>
        <p:spPr>
          <a:xfrm>
            <a:off x="6519672" y="1783080"/>
            <a:ext cx="4846320" cy="365760"/>
          </a:xfrm>
          <a:prstGeom prst="rect">
            <a:avLst/>
          </a:prstGeom>
          <a:noFill/>
          <a:ln/>
        </p:spPr>
        <p:txBody>
          <a:bodyPr wrap="square" lIns="0" tIns="0" rIns="0" bIns="0" rtlCol="0" anchor="t"/>
          <a:lstStyle/>
          <a:p>
            <a:pPr indent="0" marL="0">
              <a:buNone/>
            </a:pPr>
            <a:r>
              <a:rPr lang="en-US" sz="1900" dirty="0">
                <a:solidFill>
                  <a:srgbClr val="18202E"/>
                </a:solidFill>
                <a:latin typeface="Segoe UI Semibold" pitchFamily="34" charset="0"/>
                <a:ea typeface="Segoe UI Semibold" pitchFamily="34" charset="-122"/>
                <a:cs typeface="Segoe UI Semibold" pitchFamily="34" charset="-120"/>
              </a:rPr>
              <a:t>Loop-driven</a:t>
            </a:r>
            <a:endParaRPr lang="en-US" sz="1900" dirty="0"/>
          </a:p>
        </p:txBody>
      </p:sp>
      <p:sp>
        <p:nvSpPr>
          <p:cNvPr id="20" name="Text 17"/>
          <p:cNvSpPr txBox="1"/>
          <p:nvPr/>
        </p:nvSpPr>
        <p:spPr>
          <a:xfrm>
            <a:off x="6519672" y="2157984"/>
            <a:ext cx="4846320" cy="274320"/>
          </a:xfrm>
          <a:prstGeom prst="rect">
            <a:avLst/>
          </a:prstGeom>
          <a:noFill/>
          <a:ln/>
        </p:spPr>
        <p:txBody>
          <a:bodyPr wrap="square" lIns="0" tIns="0" rIns="0" bIns="0" rtlCol="0" anchor="t"/>
          <a:lstStyle/>
          <a:p>
            <a:pPr indent="0" marL="0">
              <a:buNone/>
            </a:pPr>
            <a:r>
              <a:rPr lang="en-US" sz="1300" dirty="0">
                <a:solidFill>
                  <a:srgbClr val="5B6678"/>
                </a:solidFill>
                <a:latin typeface="Segoe UI" pitchFamily="34" charset="0"/>
                <a:ea typeface="Segoe UI" pitchFamily="34" charset="-122"/>
                <a:cs typeface="Segoe UI" pitchFamily="34" charset="-120"/>
              </a:rPr>
              <a:t>a game</a:t>
            </a:r>
            <a:endParaRPr lang="en-US" sz="1300" dirty="0"/>
          </a:p>
        </p:txBody>
      </p:sp>
      <p:sp>
        <p:nvSpPr>
          <p:cNvPr id="21" name="Text 18"/>
          <p:cNvSpPr txBox="1"/>
          <p:nvPr/>
        </p:nvSpPr>
        <p:spPr>
          <a:xfrm>
            <a:off x="6565392" y="2697480"/>
            <a:ext cx="1371600" cy="685800"/>
          </a:xfrm>
          <a:prstGeom prst="roundRect">
            <a:avLst>
              <a:gd name="adj" fmla="val 8000"/>
            </a:avLst>
          </a:prstGeom>
          <a:solidFill>
            <a:srgbClr val="FFFFFF"/>
          </a:solidFill>
          <a:ln w="12700">
            <a:solidFill>
              <a:srgbClr val="B9CBEA"/>
            </a:solidFill>
          </a:ln>
        </p:spPr>
        <p:txBody>
          <a:bodyPr wrap="square" lIns="0" tIns="0" rIns="0" bIns="0" rtlCol="0" anchor="ctr"/>
          <a:lstStyle/>
          <a:p>
            <a:pPr algn="ctr" indent="0" marL="0">
              <a:buNone/>
            </a:pPr>
            <a:r>
              <a:rPr lang="en-US" sz="1700" dirty="0">
                <a:solidFill>
                  <a:srgbClr val="18202E"/>
                </a:solidFill>
                <a:latin typeface="Segoe UI Semibold" pitchFamily="34" charset="0"/>
                <a:ea typeface="Segoe UI Semibold" pitchFamily="34" charset="-122"/>
                <a:cs typeface="Segoe UI Semibold" pitchFamily="34" charset="-120"/>
              </a:rPr>
              <a:t>Input</a:t>
            </a:r>
            <a:endParaRPr lang="en-US" sz="1700" dirty="0"/>
          </a:p>
        </p:txBody>
      </p:sp>
      <p:sp>
        <p:nvSpPr>
          <p:cNvPr id="22" name="Text 19"/>
          <p:cNvSpPr txBox="1"/>
          <p:nvPr/>
        </p:nvSpPr>
        <p:spPr>
          <a:xfrm>
            <a:off x="8257032" y="2697480"/>
            <a:ext cx="1371600" cy="685800"/>
          </a:xfrm>
          <a:prstGeom prst="roundRect">
            <a:avLst>
              <a:gd name="adj" fmla="val 8000"/>
            </a:avLst>
          </a:prstGeom>
          <a:solidFill>
            <a:srgbClr val="FFFFFF"/>
          </a:solidFill>
          <a:ln w="12700">
            <a:solidFill>
              <a:srgbClr val="B9CBEA"/>
            </a:solidFill>
          </a:ln>
        </p:spPr>
        <p:txBody>
          <a:bodyPr wrap="square" lIns="0" tIns="0" rIns="0" bIns="0" rtlCol="0" anchor="ctr"/>
          <a:lstStyle/>
          <a:p>
            <a:pPr algn="ctr" indent="0" marL="0">
              <a:buNone/>
            </a:pPr>
            <a:r>
              <a:rPr lang="en-US" sz="1700" dirty="0">
                <a:solidFill>
                  <a:srgbClr val="18202E"/>
                </a:solidFill>
                <a:latin typeface="Segoe UI Semibold" pitchFamily="34" charset="0"/>
                <a:ea typeface="Segoe UI Semibold" pitchFamily="34" charset="-122"/>
                <a:cs typeface="Segoe UI Semibold" pitchFamily="34" charset="-120"/>
              </a:rPr>
              <a:t>Update</a:t>
            </a:r>
            <a:endParaRPr lang="en-US" sz="1700" dirty="0"/>
          </a:p>
        </p:txBody>
      </p:sp>
      <p:sp>
        <p:nvSpPr>
          <p:cNvPr id="23" name="Text 20"/>
          <p:cNvSpPr txBox="1"/>
          <p:nvPr/>
        </p:nvSpPr>
        <p:spPr>
          <a:xfrm>
            <a:off x="9948672" y="2697480"/>
            <a:ext cx="1371600" cy="685800"/>
          </a:xfrm>
          <a:prstGeom prst="roundRect">
            <a:avLst>
              <a:gd name="adj" fmla="val 8000"/>
            </a:avLst>
          </a:prstGeom>
          <a:solidFill>
            <a:srgbClr val="FFFFFF"/>
          </a:solidFill>
          <a:ln w="12700">
            <a:solidFill>
              <a:srgbClr val="B9CBEA"/>
            </a:solidFill>
          </a:ln>
        </p:spPr>
        <p:txBody>
          <a:bodyPr wrap="square" lIns="0" tIns="0" rIns="0" bIns="0" rtlCol="0" anchor="ctr"/>
          <a:lstStyle/>
          <a:p>
            <a:pPr algn="ctr" indent="0" marL="0">
              <a:buNone/>
            </a:pPr>
            <a:r>
              <a:rPr lang="en-US" sz="1700" dirty="0">
                <a:solidFill>
                  <a:srgbClr val="18202E"/>
                </a:solidFill>
                <a:latin typeface="Segoe UI Semibold" pitchFamily="34" charset="0"/>
                <a:ea typeface="Segoe UI Semibold" pitchFamily="34" charset="-122"/>
                <a:cs typeface="Segoe UI Semibold" pitchFamily="34" charset="-120"/>
              </a:rPr>
              <a:t>Render</a:t>
            </a:r>
            <a:endParaRPr lang="en-US" sz="1700" dirty="0"/>
          </a:p>
        </p:txBody>
      </p:sp>
      <p:sp>
        <p:nvSpPr>
          <p:cNvPr id="24" name="Shape 21"/>
          <p:cNvSpPr/>
          <p:nvPr/>
        </p:nvSpPr>
        <p:spPr>
          <a:xfrm>
            <a:off x="7936992" y="3040380"/>
            <a:ext cx="301752" cy="0"/>
          </a:xfrm>
          <a:prstGeom prst="line">
            <a:avLst/>
          </a:prstGeom>
          <a:noFill/>
          <a:ln w="22225">
            <a:solidFill>
              <a:srgbClr val="2354A6"/>
            </a:solidFill>
            <a:prstDash val="solid"/>
            <a:tailEnd type="triangle"/>
          </a:ln>
        </p:spPr>
      </p:sp>
      <p:sp>
        <p:nvSpPr>
          <p:cNvPr id="25" name="Shape 22"/>
          <p:cNvSpPr/>
          <p:nvPr/>
        </p:nvSpPr>
        <p:spPr>
          <a:xfrm>
            <a:off x="9628632" y="3040380"/>
            <a:ext cx="301752" cy="0"/>
          </a:xfrm>
          <a:prstGeom prst="line">
            <a:avLst/>
          </a:prstGeom>
          <a:noFill/>
          <a:ln w="22225">
            <a:solidFill>
              <a:srgbClr val="2354A6"/>
            </a:solidFill>
            <a:prstDash val="solid"/>
            <a:tailEnd type="triangle"/>
          </a:ln>
        </p:spPr>
      </p:sp>
      <p:sp>
        <p:nvSpPr>
          <p:cNvPr id="26" name="Shape 23"/>
          <p:cNvSpPr/>
          <p:nvPr/>
        </p:nvSpPr>
        <p:spPr>
          <a:xfrm>
            <a:off x="10634472" y="3383280"/>
            <a:ext cx="0" cy="457200"/>
          </a:xfrm>
          <a:prstGeom prst="line">
            <a:avLst/>
          </a:prstGeom>
          <a:noFill/>
          <a:ln w="22225">
            <a:solidFill>
              <a:srgbClr val="2354A6"/>
            </a:solidFill>
            <a:prstDash val="solid"/>
          </a:ln>
        </p:spPr>
      </p:sp>
      <p:sp>
        <p:nvSpPr>
          <p:cNvPr id="27" name="Shape 24"/>
          <p:cNvSpPr/>
          <p:nvPr/>
        </p:nvSpPr>
        <p:spPr>
          <a:xfrm flipH="1">
            <a:off x="7251192" y="3840480"/>
            <a:ext cx="3383280" cy="0"/>
          </a:xfrm>
          <a:prstGeom prst="line">
            <a:avLst/>
          </a:prstGeom>
          <a:noFill/>
          <a:ln w="22225">
            <a:solidFill>
              <a:srgbClr val="2354A6"/>
            </a:solidFill>
            <a:prstDash val="solid"/>
          </a:ln>
        </p:spPr>
      </p:sp>
      <p:sp>
        <p:nvSpPr>
          <p:cNvPr id="28" name="Shape 25"/>
          <p:cNvSpPr/>
          <p:nvPr/>
        </p:nvSpPr>
        <p:spPr>
          <a:xfrm flipV="1">
            <a:off x="7251192" y="3401568"/>
            <a:ext cx="0" cy="438912"/>
          </a:xfrm>
          <a:prstGeom prst="line">
            <a:avLst/>
          </a:prstGeom>
          <a:noFill/>
          <a:ln w="22225">
            <a:solidFill>
              <a:srgbClr val="2354A6"/>
            </a:solidFill>
            <a:prstDash val="solid"/>
            <a:tailEnd type="triangle"/>
          </a:ln>
        </p:spPr>
      </p:sp>
      <p:sp>
        <p:nvSpPr>
          <p:cNvPr id="29" name="Text 26"/>
          <p:cNvSpPr txBox="1"/>
          <p:nvPr/>
        </p:nvSpPr>
        <p:spPr>
          <a:xfrm>
            <a:off x="7616952" y="3904488"/>
            <a:ext cx="2651760" cy="274320"/>
          </a:xfrm>
          <a:prstGeom prst="rect">
            <a:avLst/>
          </a:prstGeom>
          <a:noFill/>
          <a:ln/>
        </p:spPr>
        <p:txBody>
          <a:bodyPr wrap="square" lIns="0" tIns="0" rIns="0" bIns="0" rtlCol="0" anchor="t"/>
          <a:lstStyle/>
          <a:p>
            <a:pPr algn="ctr" indent="0" marL="0">
              <a:buNone/>
            </a:pPr>
            <a:r>
              <a:rPr lang="en-US" sz="1200" dirty="0">
                <a:solidFill>
                  <a:srgbClr val="5B6678"/>
                </a:solidFill>
                <a:latin typeface="Segoe UI" pitchFamily="34" charset="0"/>
                <a:ea typeface="Segoe UI" pitchFamily="34" charset="-122"/>
                <a:cs typeface="Segoe UI" pitchFamily="34" charset="-120"/>
              </a:rPr>
              <a:t>one pass = one frame</a:t>
            </a:r>
            <a:endParaRPr lang="en-US" sz="1200" dirty="0"/>
          </a:p>
        </p:txBody>
      </p:sp>
      <p:sp>
        <p:nvSpPr>
          <p:cNvPr id="30" name="Text 27"/>
          <p:cNvSpPr txBox="1"/>
          <p:nvPr/>
        </p:nvSpPr>
        <p:spPr>
          <a:xfrm>
            <a:off x="6519672" y="4572000"/>
            <a:ext cx="4846320" cy="457200"/>
          </a:xfrm>
          <a:prstGeom prst="rect">
            <a:avLst/>
          </a:prstGeom>
          <a:noFill/>
          <a:ln/>
        </p:spPr>
        <p:txBody>
          <a:bodyPr wrap="square" lIns="0" tIns="0" rIns="0" bIns="0" rtlCol="0" anchor="t"/>
          <a:lstStyle/>
          <a:p>
            <a:pPr indent="0" marL="0">
              <a:buNone/>
            </a:pPr>
            <a:r>
              <a:rPr lang="en-US" sz="1500" dirty="0">
                <a:solidFill>
                  <a:srgbClr val="364255"/>
                </a:solidFill>
                <a:latin typeface="Segoe UI" pitchFamily="34" charset="0"/>
                <a:ea typeface="Segoe UI" pitchFamily="34" charset="-122"/>
                <a:cs typeface="Segoe UI" pitchFamily="34" charset="-120"/>
              </a:rPr>
              <a:t>Runs every frame, input or not. At 60 fps, one frame has 16.7 ms.</a:t>
            </a:r>
            <a:endParaRPr lang="en-US" sz="1500" dirty="0"/>
          </a:p>
        </p:txBody>
      </p:sp>
      <p:sp>
        <p:nvSpPr>
          <p:cNvPr id="31" name="Text 28"/>
          <p:cNvSpPr txBox="1"/>
          <p:nvPr/>
        </p:nvSpPr>
        <p:spPr>
          <a:xfrm>
            <a:off x="548640" y="5486400"/>
            <a:ext cx="11094415" cy="411480"/>
          </a:xfrm>
          <a:prstGeom prst="rect">
            <a:avLst/>
          </a:prstGeom>
          <a:noFill/>
          <a:ln/>
        </p:spPr>
        <p:txBody>
          <a:bodyPr wrap="square" lIns="0" tIns="0" rIns="0" bIns="0" rtlCol="0" anchor="t"/>
          <a:lstStyle/>
          <a:p>
            <a:pPr indent="0" marL="0">
              <a:buNone/>
            </a:pPr>
            <a:r>
              <a:rPr lang="en-US" sz="1800" b="1" dirty="0">
                <a:solidFill>
                  <a:srgbClr val="18202E"/>
                </a:solidFill>
                <a:latin typeface="Segoe UI" pitchFamily="34" charset="0"/>
                <a:ea typeface="Segoe UI" pitchFamily="34" charset="-122"/>
                <a:cs typeface="Segoe UI" pitchFamily="34" charset="-120"/>
              </a:rPr>
              <a:t>The world changes with time itself, not only with input.</a:t>
            </a:r>
            <a:endParaRPr lang="en-US" sz="18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1 · GAME ENGINES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The loop, and who owns it</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00200"/>
            <a:ext cx="5943600" cy="3657600"/>
          </a:xfrm>
          <a:prstGeom prst="rect">
            <a:avLst/>
          </a:prstGeom>
          <a:solidFill>
            <a:srgbClr val="F0F3F7"/>
          </a:solidFill>
          <a:ln/>
        </p:spPr>
      </p:sp>
      <p:sp>
        <p:nvSpPr>
          <p:cNvPr id="7" name="Text 4"/>
          <p:cNvSpPr txBox="1"/>
          <p:nvPr/>
        </p:nvSpPr>
        <p:spPr>
          <a:xfrm>
            <a:off x="749808" y="1746504"/>
            <a:ext cx="5577840" cy="3401568"/>
          </a:xfrm>
          <a:prstGeom prst="rect">
            <a:avLst/>
          </a:prstGeom>
          <a:noFill/>
          <a:ln/>
        </p:spPr>
        <p:txBody>
          <a:bodyPr wrap="square" lIns="0" tIns="0" rIns="0" bIns="0" rtlCol="0" anchor="t"/>
          <a:lstStyle/>
          <a:p>
            <a:pPr indent="0" marL="0">
              <a:buNone/>
            </a:pPr>
            <a:r>
              <a:rPr lang="en-US" sz="1550" dirty="0">
                <a:solidFill>
                  <a:srgbClr val="18202E"/>
                </a:solidFill>
                <a:latin typeface="Consolas" pitchFamily="34" charset="0"/>
                <a:ea typeface="Consolas" pitchFamily="34" charset="-122"/>
                <a:cs typeface="Consolas" pitchFamily="34" charset="-120"/>
              </a:rPr>
              <a:t>Initialize();</a:t>
            </a:r>
            <a:endParaRPr lang="en-US" sz="1550" dirty="0"/>
          </a:p>
          <a:p>
            <a:pPr indent="0" marL="0">
              <a:buNone/>
            </a:pPr>
            <a:endParaRPr lang="en-US" sz="1550" dirty="0"/>
          </a:p>
          <a:p>
            <a:pPr indent="0" marL="0">
              <a:buNone/>
            </a:pPr>
            <a:r>
              <a:rPr lang="en-US" sz="1550" dirty="0">
                <a:solidFill>
                  <a:srgbClr val="18202E"/>
                </a:solidFill>
                <a:latin typeface="Consolas" pitchFamily="34" charset="0"/>
                <a:ea typeface="Consolas" pitchFamily="34" charset="-122"/>
                <a:cs typeface="Consolas" pitchFamily="34" charset="-120"/>
              </a:rPr>
              <a:t>while (running)</a:t>
            </a:r>
            <a:endParaRPr lang="en-US" sz="1550" dirty="0"/>
          </a:p>
          <a:p>
            <a:pPr indent="0" marL="0">
              <a:buNone/>
            </a:pPr>
            <a:r>
              <a:rPr lang="en-US" sz="1550" dirty="0">
                <a:solidFill>
                  <a:srgbClr val="18202E"/>
                </a:solidFill>
                <a:latin typeface="Consolas" pitchFamily="34" charset="0"/>
                <a:ea typeface="Consolas" pitchFamily="34" charset="-122"/>
                <a:cs typeface="Consolas" pitchFamily="34" charset="-120"/>
              </a:rPr>
              <a:t>{</a:t>
            </a:r>
            <a:endParaRPr lang="en-US" sz="1550" dirty="0"/>
          </a:p>
          <a:p>
            <a:pPr indent="0" marL="0">
              <a:buNone/>
            </a:pPr>
            <a:r>
              <a:rPr lang="en-US" sz="1550" dirty="0">
                <a:solidFill>
                  <a:srgbClr val="18202E"/>
                </a:solidFill>
                <a:latin typeface="Consolas" pitchFamily="34" charset="0"/>
                <a:ea typeface="Consolas" pitchFamily="34" charset="-122"/>
                <a:cs typeface="Consolas" pitchFamily="34" charset="-120"/>
              </a:rPr>
              <a:t>    float deltaTime = TimeSinceLastIteration();</a:t>
            </a:r>
            <a:endParaRPr lang="en-US" sz="1550" dirty="0"/>
          </a:p>
          <a:p>
            <a:pPr indent="0" marL="0">
              <a:buNone/>
            </a:pPr>
            <a:endParaRPr lang="en-US" sz="1550" dirty="0"/>
          </a:p>
          <a:p>
            <a:pPr indent="0" marL="0">
              <a:buNone/>
            </a:pPr>
            <a:r>
              <a:rPr lang="en-US" sz="1550" dirty="0">
                <a:solidFill>
                  <a:srgbClr val="18202E"/>
                </a:solidFill>
                <a:latin typeface="Consolas" pitchFamily="34" charset="0"/>
                <a:ea typeface="Consolas" pitchFamily="34" charset="-122"/>
                <a:cs typeface="Consolas" pitchFamily="34" charset="-120"/>
              </a:rPr>
              <a:t>    ProcessInput();     // what did the player do?</a:t>
            </a:r>
            <a:endParaRPr lang="en-US" sz="1550" dirty="0"/>
          </a:p>
          <a:p>
            <a:pPr indent="0" marL="0">
              <a:buNone/>
            </a:pPr>
            <a:r>
              <a:rPr lang="en-US" sz="1550" dirty="0">
                <a:solidFill>
                  <a:srgbClr val="18202E"/>
                </a:solidFill>
                <a:latin typeface="Consolas" pitchFamily="34" charset="0"/>
                <a:ea typeface="Consolas" pitchFamily="34" charset="-122"/>
                <a:cs typeface="Consolas" pitchFamily="34" charset="-120"/>
              </a:rPr>
              <a:t>    Update(deltaTime);  // advance the simulation</a:t>
            </a:r>
            <a:endParaRPr lang="en-US" sz="1550" dirty="0"/>
          </a:p>
          <a:p>
            <a:pPr indent="0" marL="0">
              <a:buNone/>
            </a:pPr>
            <a:r>
              <a:rPr lang="en-US" sz="1550" dirty="0">
                <a:solidFill>
                  <a:srgbClr val="18202E"/>
                </a:solidFill>
                <a:latin typeface="Consolas" pitchFamily="34" charset="0"/>
                <a:ea typeface="Consolas" pitchFamily="34" charset="-122"/>
                <a:cs typeface="Consolas" pitchFamily="34" charset="-120"/>
              </a:rPr>
              <a:t>    Render();           // draw the current state</a:t>
            </a:r>
            <a:endParaRPr lang="en-US" sz="1550" dirty="0"/>
          </a:p>
          <a:p>
            <a:pPr indent="0" marL="0">
              <a:buNone/>
            </a:pPr>
            <a:r>
              <a:rPr lang="en-US" sz="1550" dirty="0">
                <a:solidFill>
                  <a:srgbClr val="18202E"/>
                </a:solidFill>
                <a:latin typeface="Consolas" pitchFamily="34" charset="0"/>
                <a:ea typeface="Consolas" pitchFamily="34" charset="-122"/>
                <a:cs typeface="Consolas" pitchFamily="34" charset="-120"/>
              </a:rPr>
              <a:t>}</a:t>
            </a:r>
            <a:endParaRPr lang="en-US" sz="1550" dirty="0"/>
          </a:p>
          <a:p>
            <a:pPr indent="0" marL="0">
              <a:buNone/>
            </a:pPr>
            <a:endParaRPr lang="en-US" sz="1550" dirty="0"/>
          </a:p>
          <a:p>
            <a:pPr indent="0" marL="0">
              <a:buNone/>
            </a:pPr>
            <a:r>
              <a:rPr lang="en-US" sz="1550" dirty="0">
                <a:solidFill>
                  <a:srgbClr val="18202E"/>
                </a:solidFill>
                <a:latin typeface="Consolas" pitchFamily="34" charset="0"/>
                <a:ea typeface="Consolas" pitchFamily="34" charset="-122"/>
                <a:cs typeface="Consolas" pitchFamily="34" charset="-120"/>
              </a:rPr>
              <a:t>Shutdown();</a:t>
            </a:r>
            <a:endParaRPr lang="en-US" sz="1550" dirty="0"/>
          </a:p>
        </p:txBody>
      </p:sp>
      <p:sp>
        <p:nvSpPr>
          <p:cNvPr id="8" name="Text 5"/>
          <p:cNvSpPr txBox="1"/>
          <p:nvPr/>
        </p:nvSpPr>
        <p:spPr>
          <a:xfrm>
            <a:off x="6858000" y="1691640"/>
            <a:ext cx="4754880" cy="384048"/>
          </a:xfrm>
          <a:prstGeom prst="rect">
            <a:avLst/>
          </a:prstGeom>
          <a:noFill/>
          <a:ln/>
        </p:spPr>
        <p:txBody>
          <a:bodyPr wrap="square" lIns="0" tIns="0" rIns="0" bIns="0" rtlCol="0" anchor="t"/>
          <a:lstStyle/>
          <a:p>
            <a:pPr indent="0" marL="0">
              <a:buNone/>
            </a:pPr>
            <a:r>
              <a:rPr lang="en-US" sz="2100" dirty="0">
                <a:solidFill>
                  <a:srgbClr val="2354A6"/>
                </a:solidFill>
                <a:latin typeface="Segoe UI Semibold" pitchFamily="34" charset="0"/>
                <a:ea typeface="Segoe UI Semibold" pitchFamily="34" charset="-122"/>
                <a:cs typeface="Segoe UI Semibold" pitchFamily="34" charset="-120"/>
              </a:rPr>
              <a:t>Input</a:t>
            </a:r>
            <a:endParaRPr lang="en-US" sz="2100" dirty="0"/>
          </a:p>
        </p:txBody>
      </p:sp>
      <p:sp>
        <p:nvSpPr>
          <p:cNvPr id="9" name="Text 6"/>
          <p:cNvSpPr txBox="1"/>
          <p:nvPr/>
        </p:nvSpPr>
        <p:spPr>
          <a:xfrm>
            <a:off x="6858000" y="2103120"/>
            <a:ext cx="4754880" cy="640080"/>
          </a:xfrm>
          <a:prstGeom prst="rect">
            <a:avLst/>
          </a:prstGeom>
          <a:noFill/>
          <a:ln/>
        </p:spPr>
        <p:txBody>
          <a:bodyPr wrap="square" lIns="0" tIns="0" rIns="0" bIns="0" rtlCol="0" anchor="t"/>
          <a:lstStyle/>
          <a:p>
            <a:pPr indent="0" marL="0">
              <a:buNone/>
            </a:pPr>
            <a:r>
              <a:rPr lang="en-US" sz="1600" dirty="0">
                <a:solidFill>
                  <a:srgbClr val="364255"/>
                </a:solidFill>
                <a:latin typeface="Segoe UI" pitchFamily="34" charset="0"/>
                <a:ea typeface="Segoe UI" pitchFamily="34" charset="-122"/>
                <a:cs typeface="Segoe UI" pitchFamily="34" charset="-120"/>
              </a:rPr>
              <a:t>What changed since the last frame: keys, mouse, gamepad.</a:t>
            </a:r>
            <a:endParaRPr lang="en-US" sz="1600" dirty="0"/>
          </a:p>
        </p:txBody>
      </p:sp>
      <p:sp>
        <p:nvSpPr>
          <p:cNvPr id="10" name="Text 7"/>
          <p:cNvSpPr txBox="1"/>
          <p:nvPr/>
        </p:nvSpPr>
        <p:spPr>
          <a:xfrm>
            <a:off x="6858000" y="2880360"/>
            <a:ext cx="4754880" cy="384048"/>
          </a:xfrm>
          <a:prstGeom prst="rect">
            <a:avLst/>
          </a:prstGeom>
          <a:noFill/>
          <a:ln/>
        </p:spPr>
        <p:txBody>
          <a:bodyPr wrap="square" lIns="0" tIns="0" rIns="0" bIns="0" rtlCol="0" anchor="t"/>
          <a:lstStyle/>
          <a:p>
            <a:pPr indent="0" marL="0">
              <a:buNone/>
            </a:pPr>
            <a:r>
              <a:rPr lang="en-US" sz="2100" dirty="0">
                <a:solidFill>
                  <a:srgbClr val="2354A6"/>
                </a:solidFill>
                <a:latin typeface="Segoe UI Semibold" pitchFamily="34" charset="0"/>
                <a:ea typeface="Segoe UI Semibold" pitchFamily="34" charset="-122"/>
                <a:cs typeface="Segoe UI Semibold" pitchFamily="34" charset="-120"/>
              </a:rPr>
              <a:t>Update</a:t>
            </a:r>
            <a:endParaRPr lang="en-US" sz="2100" dirty="0"/>
          </a:p>
        </p:txBody>
      </p:sp>
      <p:sp>
        <p:nvSpPr>
          <p:cNvPr id="11" name="Text 8"/>
          <p:cNvSpPr txBox="1"/>
          <p:nvPr/>
        </p:nvSpPr>
        <p:spPr>
          <a:xfrm>
            <a:off x="6858000" y="3291840"/>
            <a:ext cx="4754880" cy="640080"/>
          </a:xfrm>
          <a:prstGeom prst="rect">
            <a:avLst/>
          </a:prstGeom>
          <a:noFill/>
          <a:ln/>
        </p:spPr>
        <p:txBody>
          <a:bodyPr wrap="square" lIns="0" tIns="0" rIns="0" bIns="0" rtlCol="0" anchor="t"/>
          <a:lstStyle/>
          <a:p>
            <a:pPr indent="0" marL="0">
              <a:buNone/>
            </a:pPr>
            <a:r>
              <a:rPr lang="en-US" sz="1600" dirty="0">
                <a:solidFill>
                  <a:srgbClr val="364255"/>
                </a:solidFill>
                <a:latin typeface="Segoe UI" pitchFamily="34" charset="0"/>
                <a:ea typeface="Segoe UI" pitchFamily="34" charset="-122"/>
                <a:cs typeface="Segoe UI" pitchFamily="34" charset="-120"/>
              </a:rPr>
              <a:t>Every object acts; physics, animations and timers advance.</a:t>
            </a:r>
            <a:endParaRPr lang="en-US" sz="1600" dirty="0"/>
          </a:p>
        </p:txBody>
      </p:sp>
      <p:sp>
        <p:nvSpPr>
          <p:cNvPr id="12" name="Text 9"/>
          <p:cNvSpPr txBox="1"/>
          <p:nvPr/>
        </p:nvSpPr>
        <p:spPr>
          <a:xfrm>
            <a:off x="6858000" y="4069080"/>
            <a:ext cx="4754880" cy="384048"/>
          </a:xfrm>
          <a:prstGeom prst="rect">
            <a:avLst/>
          </a:prstGeom>
          <a:noFill/>
          <a:ln/>
        </p:spPr>
        <p:txBody>
          <a:bodyPr wrap="square" lIns="0" tIns="0" rIns="0" bIns="0" rtlCol="0" anchor="t"/>
          <a:lstStyle/>
          <a:p>
            <a:pPr indent="0" marL="0">
              <a:buNone/>
            </a:pPr>
            <a:r>
              <a:rPr lang="en-US" sz="2100" dirty="0">
                <a:solidFill>
                  <a:srgbClr val="2354A6"/>
                </a:solidFill>
                <a:latin typeface="Segoe UI Semibold" pitchFamily="34" charset="0"/>
                <a:ea typeface="Segoe UI Semibold" pitchFamily="34" charset="-122"/>
                <a:cs typeface="Segoe UI Semibold" pitchFamily="34" charset="-120"/>
              </a:rPr>
              <a:t>Render</a:t>
            </a:r>
            <a:endParaRPr lang="en-US" sz="2100" dirty="0"/>
          </a:p>
        </p:txBody>
      </p:sp>
      <p:sp>
        <p:nvSpPr>
          <p:cNvPr id="13" name="Text 10"/>
          <p:cNvSpPr txBox="1"/>
          <p:nvPr/>
        </p:nvSpPr>
        <p:spPr>
          <a:xfrm>
            <a:off x="6858000" y="4480560"/>
            <a:ext cx="4754880" cy="640080"/>
          </a:xfrm>
          <a:prstGeom prst="rect">
            <a:avLst/>
          </a:prstGeom>
          <a:noFill/>
          <a:ln/>
        </p:spPr>
        <p:txBody>
          <a:bodyPr wrap="square" lIns="0" tIns="0" rIns="0" bIns="0" rtlCol="0" anchor="t"/>
          <a:lstStyle/>
          <a:p>
            <a:pPr indent="0" marL="0">
              <a:buNone/>
            </a:pPr>
            <a:r>
              <a:rPr lang="en-US" sz="1600" dirty="0">
                <a:solidFill>
                  <a:srgbClr val="364255"/>
                </a:solidFill>
                <a:latin typeface="Segoe UI" pitchFamily="34" charset="0"/>
                <a:ea typeface="Segoe UI" pitchFamily="34" charset="-122"/>
                <a:cs typeface="Segoe UI" pitchFamily="34" charset="-120"/>
              </a:rPr>
              <a:t>Draws the resulting state. It changes nothing.</a:t>
            </a:r>
            <a:endParaRPr lang="en-US" sz="1600" dirty="0"/>
          </a:p>
        </p:txBody>
      </p:sp>
      <p:sp>
        <p:nvSpPr>
          <p:cNvPr id="14" name="Shape 11"/>
          <p:cNvSpPr/>
          <p:nvPr/>
        </p:nvSpPr>
        <p:spPr>
          <a:xfrm>
            <a:off x="548640" y="5486400"/>
            <a:ext cx="11094415" cy="658368"/>
          </a:xfrm>
          <a:prstGeom prst="rect">
            <a:avLst/>
          </a:prstGeom>
          <a:solidFill>
            <a:srgbClr val="E9EFF9"/>
          </a:solidFill>
          <a:ln/>
        </p:spPr>
      </p:sp>
      <p:sp>
        <p:nvSpPr>
          <p:cNvPr id="15" name="Text 12"/>
          <p:cNvSpPr txBox="1"/>
          <p:nvPr/>
        </p:nvSpPr>
        <p:spPr>
          <a:xfrm>
            <a:off x="822960" y="5486400"/>
            <a:ext cx="10545775" cy="658368"/>
          </a:xfrm>
          <a:prstGeom prst="rect">
            <a:avLst/>
          </a:prstGeom>
          <a:noFill/>
          <a:ln/>
        </p:spPr>
        <p:txBody>
          <a:bodyPr wrap="square" lIns="0" tIns="0" rIns="0" bIns="0" rtlCol="0" anchor="ctr"/>
          <a:lstStyle/>
          <a:p>
            <a:pPr indent="0" marL="0">
              <a:buNone/>
            </a:pPr>
            <a:r>
              <a:rPr lang="en-US" sz="1600" b="1" dirty="0">
                <a:solidFill>
                  <a:srgbClr val="18202E"/>
                </a:solidFill>
                <a:latin typeface="Segoe UI" pitchFamily="34" charset="0"/>
                <a:ea typeface="Segoe UI" pitchFamily="34" charset="-122"/>
                <a:cs typeface="Segoe UI" pitchFamily="34" charset="-120"/>
              </a:rPr>
              <a:t>Unity owns this loop. </a:t>
            </a:r>
            <a:pPr indent="0" marL="0">
              <a:buNone/>
            </a:pPr>
            <a:r>
              <a:rPr lang="en-US" sz="1600" dirty="0">
                <a:solidFill>
                  <a:srgbClr val="18202E"/>
                </a:solidFill>
                <a:latin typeface="Segoe UI" pitchFamily="34" charset="0"/>
                <a:ea typeface="Segoe UI" pitchFamily="34" charset="-122"/>
                <a:cs typeface="Segoe UI" pitchFamily="34" charset="-120"/>
              </a:rPr>
              <a:t>You never write the </a:t>
            </a:r>
            <a:pPr indent="0" marL="0">
              <a:buNone/>
            </a:pPr>
            <a:r>
              <a:rPr lang="en-US" sz="1600" dirty="0">
                <a:solidFill>
                  <a:srgbClr val="18202E"/>
                </a:solidFill>
                <a:latin typeface="Consolas" pitchFamily="34" charset="0"/>
                <a:ea typeface="Consolas" pitchFamily="34" charset="-122"/>
                <a:cs typeface="Consolas" pitchFamily="34" charset="-120"/>
              </a:rPr>
              <a:t>while</a:t>
            </a:r>
            <a:pPr indent="0" marL="0">
              <a:buNone/>
            </a:pPr>
            <a:r>
              <a:rPr lang="en-US" sz="1600" dirty="0">
                <a:solidFill>
                  <a:srgbClr val="18202E"/>
                </a:solidFill>
                <a:latin typeface="Segoe UI" pitchFamily="34" charset="0"/>
                <a:ea typeface="Segoe UI" pitchFamily="34" charset="-122"/>
                <a:cs typeface="Segoe UI" pitchFamily="34" charset="-120"/>
              </a:rPr>
              <a:t>; the engine calls your </a:t>
            </a:r>
            <a:pPr indent="0" marL="0">
              <a:buNone/>
            </a:pPr>
            <a:r>
              <a:rPr lang="en-US" sz="1600" dirty="0">
                <a:solidFill>
                  <a:srgbClr val="18202E"/>
                </a:solidFill>
                <a:latin typeface="Consolas" pitchFamily="34" charset="0"/>
                <a:ea typeface="Consolas" pitchFamily="34" charset="-122"/>
                <a:cs typeface="Consolas" pitchFamily="34" charset="-120"/>
              </a:rPr>
              <a:t>Update()</a:t>
            </a:r>
            <a:pPr indent="0" marL="0">
              <a:buNone/>
            </a:pPr>
            <a:r>
              <a:rPr lang="en-US" sz="1600" dirty="0">
                <a:solidFill>
                  <a:srgbClr val="18202E"/>
                </a:solidFill>
                <a:latin typeface="Segoe UI" pitchFamily="34" charset="0"/>
                <a:ea typeface="Segoe UI" pitchFamily="34" charset="-122"/>
                <a:cs typeface="Segoe UI" pitchFamily="34" charset="-120"/>
              </a:rPr>
              <a:t> once per frame.</a:t>
            </a:r>
            <a:endParaRPr lang="en-US" sz="16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1 · GAME ENGINES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Per second, not per frame</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00200"/>
            <a:ext cx="5394960" cy="3611880"/>
          </a:xfrm>
          <a:prstGeom prst="rect">
            <a:avLst/>
          </a:prstGeom>
          <a:solidFill>
            <a:srgbClr val="FBE4E1"/>
          </a:solidFill>
          <a:ln/>
        </p:spPr>
      </p:sp>
      <p:sp>
        <p:nvSpPr>
          <p:cNvPr id="7" name="Text 4"/>
          <p:cNvSpPr txBox="1"/>
          <p:nvPr/>
        </p:nvSpPr>
        <p:spPr>
          <a:xfrm>
            <a:off x="822960" y="1783080"/>
            <a:ext cx="4846320" cy="274320"/>
          </a:xfrm>
          <a:prstGeom prst="rect">
            <a:avLst/>
          </a:prstGeom>
          <a:noFill/>
          <a:ln/>
        </p:spPr>
        <p:txBody>
          <a:bodyPr wrap="square" lIns="0" tIns="0" rIns="0" bIns="0" rtlCol="0" anchor="t"/>
          <a:lstStyle/>
          <a:p>
            <a:pPr indent="0" marL="0">
              <a:buNone/>
            </a:pPr>
            <a:r>
              <a:rPr lang="en-US" sz="1200" b="1" spc="150" kern="0" dirty="0">
                <a:solidFill>
                  <a:srgbClr val="A3261D"/>
                </a:solidFill>
                <a:latin typeface="Segoe UI" pitchFamily="34" charset="0"/>
                <a:ea typeface="Segoe UI" pitchFamily="34" charset="-122"/>
                <a:cs typeface="Segoe UI" pitchFamily="34" charset="-120"/>
              </a:rPr>
              <a:t>PER FRAME</a:t>
            </a:r>
            <a:endParaRPr lang="en-US" sz="1200" dirty="0"/>
          </a:p>
        </p:txBody>
      </p:sp>
      <p:sp>
        <p:nvSpPr>
          <p:cNvPr id="8" name="Text 5"/>
          <p:cNvSpPr txBox="1"/>
          <p:nvPr/>
        </p:nvSpPr>
        <p:spPr>
          <a:xfrm>
            <a:off x="822960" y="2148840"/>
            <a:ext cx="4937760" cy="685800"/>
          </a:xfrm>
          <a:prstGeom prst="rect">
            <a:avLst/>
          </a:prstGeom>
          <a:noFill/>
          <a:ln/>
        </p:spPr>
        <p:txBody>
          <a:bodyPr wrap="square" lIns="0" tIns="0" rIns="0" bIns="0" rtlCol="0" anchor="t"/>
          <a:lstStyle/>
          <a:p>
            <a:pPr indent="0" marL="0">
              <a:buNone/>
            </a:pPr>
            <a:r>
              <a:rPr lang="en-US" sz="1400" dirty="0">
                <a:solidFill>
                  <a:srgbClr val="18202E"/>
                </a:solidFill>
                <a:latin typeface="Consolas" pitchFamily="34" charset="0"/>
                <a:ea typeface="Consolas" pitchFamily="34" charset="-122"/>
                <a:cs typeface="Consolas" pitchFamily="34" charset="-120"/>
              </a:rPr>
              <a:t>transform.position +=</a:t>
            </a:r>
            <a:endParaRPr lang="en-US" sz="1400" dirty="0"/>
          </a:p>
          <a:p>
            <a:pPr indent="0" marL="0">
              <a:buNone/>
            </a:pPr>
            <a:r>
              <a:rPr lang="en-US" sz="1400" dirty="0">
                <a:solidFill>
                  <a:srgbClr val="18202E"/>
                </a:solidFill>
                <a:latin typeface="Consolas" pitchFamily="34" charset="0"/>
                <a:ea typeface="Consolas" pitchFamily="34" charset="-122"/>
                <a:cs typeface="Consolas" pitchFamily="34" charset="-120"/>
              </a:rPr>
              <a:t>    new Vector3(0.1f, 0, 0);</a:t>
            </a:r>
            <a:endParaRPr lang="en-US" sz="1400" dirty="0"/>
          </a:p>
        </p:txBody>
      </p:sp>
      <p:sp>
        <p:nvSpPr>
          <p:cNvPr id="9" name="Text 6"/>
          <p:cNvSpPr txBox="1"/>
          <p:nvPr/>
        </p:nvSpPr>
        <p:spPr>
          <a:xfrm>
            <a:off x="822960" y="3017520"/>
            <a:ext cx="1737360" cy="731520"/>
          </a:xfrm>
          <a:prstGeom prst="rect">
            <a:avLst/>
          </a:prstGeom>
          <a:noFill/>
          <a:ln/>
        </p:spPr>
        <p:txBody>
          <a:bodyPr wrap="square" lIns="0" tIns="0" rIns="0" bIns="0" rtlCol="0" anchor="ctr"/>
          <a:lstStyle/>
          <a:p>
            <a:pPr indent="0" marL="0">
              <a:buNone/>
            </a:pPr>
            <a:r>
              <a:rPr lang="en-US" sz="4000" dirty="0">
                <a:solidFill>
                  <a:srgbClr val="A3261D"/>
                </a:solidFill>
                <a:latin typeface="Segoe UI Semibold" pitchFamily="34" charset="0"/>
                <a:ea typeface="Segoe UI Semibold" pitchFamily="34" charset="-122"/>
                <a:cs typeface="Segoe UI Semibold" pitchFamily="34" charset="-120"/>
              </a:rPr>
              <a:t>3</a:t>
            </a:r>
            <a:endParaRPr lang="en-US" sz="4000" dirty="0"/>
          </a:p>
        </p:txBody>
      </p:sp>
      <p:sp>
        <p:nvSpPr>
          <p:cNvPr id="10" name="Text 7"/>
          <p:cNvSpPr txBox="1"/>
          <p:nvPr/>
        </p:nvSpPr>
        <p:spPr>
          <a:xfrm>
            <a:off x="2651760" y="3090672"/>
            <a:ext cx="3017520" cy="640080"/>
          </a:xfrm>
          <a:prstGeom prst="rect">
            <a:avLst/>
          </a:prstGeom>
          <a:noFill/>
          <a:ln/>
        </p:spPr>
        <p:txBody>
          <a:bodyPr wrap="square" lIns="0" tIns="0" rIns="0" bIns="0" rtlCol="0" anchor="t"/>
          <a:lstStyle/>
          <a:p>
            <a:pPr indent="0" marL="0">
              <a:buNone/>
            </a:pPr>
            <a:r>
              <a:rPr lang="en-US" sz="1400" b="1" dirty="0">
                <a:solidFill>
                  <a:srgbClr val="364255"/>
                </a:solidFill>
                <a:latin typeface="Segoe UI" pitchFamily="34" charset="0"/>
                <a:ea typeface="Segoe UI" pitchFamily="34" charset="-122"/>
                <a:cs typeface="Segoe UI" pitchFamily="34" charset="-120"/>
              </a:rPr>
              <a:t>30 fps laptop</a:t>
            </a:r>
            <a:endParaRPr lang="en-US" sz="1400" dirty="0"/>
          </a:p>
          <a:p>
            <a:pPr indent="0" marL="0">
              <a:buNone/>
            </a:pPr>
            <a:r>
              <a:rPr lang="en-US" sz="1400" dirty="0">
                <a:solidFill>
                  <a:srgbClr val="364255"/>
                </a:solidFill>
                <a:latin typeface="Segoe UI" pitchFamily="34" charset="0"/>
                <a:ea typeface="Segoe UI" pitchFamily="34" charset="-122"/>
                <a:cs typeface="Segoe UI" pitchFamily="34" charset="-120"/>
              </a:rPr>
              <a:t>units per second</a:t>
            </a:r>
            <a:endParaRPr lang="en-US" sz="1400" dirty="0"/>
          </a:p>
        </p:txBody>
      </p:sp>
      <p:sp>
        <p:nvSpPr>
          <p:cNvPr id="11" name="Text 8"/>
          <p:cNvSpPr txBox="1"/>
          <p:nvPr/>
        </p:nvSpPr>
        <p:spPr>
          <a:xfrm>
            <a:off x="822960" y="4005072"/>
            <a:ext cx="1737360" cy="731520"/>
          </a:xfrm>
          <a:prstGeom prst="rect">
            <a:avLst/>
          </a:prstGeom>
          <a:noFill/>
          <a:ln/>
        </p:spPr>
        <p:txBody>
          <a:bodyPr wrap="square" lIns="0" tIns="0" rIns="0" bIns="0" rtlCol="0" anchor="ctr"/>
          <a:lstStyle/>
          <a:p>
            <a:pPr indent="0" marL="0">
              <a:buNone/>
            </a:pPr>
            <a:r>
              <a:rPr lang="en-US" sz="4000" dirty="0">
                <a:solidFill>
                  <a:srgbClr val="A3261D"/>
                </a:solidFill>
                <a:latin typeface="Segoe UI Semibold" pitchFamily="34" charset="0"/>
                <a:ea typeface="Segoe UI Semibold" pitchFamily="34" charset="-122"/>
                <a:cs typeface="Segoe UI Semibold" pitchFamily="34" charset="-120"/>
              </a:rPr>
              <a:t>14.4</a:t>
            </a:r>
            <a:endParaRPr lang="en-US" sz="4000" dirty="0"/>
          </a:p>
        </p:txBody>
      </p:sp>
      <p:sp>
        <p:nvSpPr>
          <p:cNvPr id="12" name="Text 9"/>
          <p:cNvSpPr txBox="1"/>
          <p:nvPr/>
        </p:nvSpPr>
        <p:spPr>
          <a:xfrm>
            <a:off x="2651760" y="4078224"/>
            <a:ext cx="3017520" cy="640080"/>
          </a:xfrm>
          <a:prstGeom prst="rect">
            <a:avLst/>
          </a:prstGeom>
          <a:noFill/>
          <a:ln/>
        </p:spPr>
        <p:txBody>
          <a:bodyPr wrap="square" lIns="0" tIns="0" rIns="0" bIns="0" rtlCol="0" anchor="t"/>
          <a:lstStyle/>
          <a:p>
            <a:pPr indent="0" marL="0">
              <a:buNone/>
            </a:pPr>
            <a:r>
              <a:rPr lang="en-US" sz="1400" b="1" dirty="0">
                <a:solidFill>
                  <a:srgbClr val="364255"/>
                </a:solidFill>
                <a:latin typeface="Segoe UI" pitchFamily="34" charset="0"/>
                <a:ea typeface="Segoe UI" pitchFamily="34" charset="-122"/>
                <a:cs typeface="Segoe UI" pitchFamily="34" charset="-120"/>
              </a:rPr>
              <a:t>144 fps desktop</a:t>
            </a:r>
            <a:endParaRPr lang="en-US" sz="1400" dirty="0"/>
          </a:p>
          <a:p>
            <a:pPr indent="0" marL="0">
              <a:buNone/>
            </a:pPr>
            <a:r>
              <a:rPr lang="en-US" sz="1400" dirty="0">
                <a:solidFill>
                  <a:srgbClr val="364255"/>
                </a:solidFill>
                <a:latin typeface="Segoe UI" pitchFamily="34" charset="0"/>
                <a:ea typeface="Segoe UI" pitchFamily="34" charset="-122"/>
                <a:cs typeface="Segoe UI" pitchFamily="34" charset="-120"/>
              </a:rPr>
              <a:t>units per second</a:t>
            </a:r>
            <a:endParaRPr lang="en-US" sz="1400" dirty="0"/>
          </a:p>
        </p:txBody>
      </p:sp>
      <p:sp>
        <p:nvSpPr>
          <p:cNvPr id="13" name="Shape 10"/>
          <p:cNvSpPr/>
          <p:nvPr/>
        </p:nvSpPr>
        <p:spPr>
          <a:xfrm>
            <a:off x="6245352" y="1600200"/>
            <a:ext cx="5394960" cy="3611880"/>
          </a:xfrm>
          <a:prstGeom prst="rect">
            <a:avLst/>
          </a:prstGeom>
          <a:solidFill>
            <a:srgbClr val="E7F3EC"/>
          </a:solidFill>
          <a:ln/>
        </p:spPr>
      </p:sp>
      <p:sp>
        <p:nvSpPr>
          <p:cNvPr id="14" name="Text 11"/>
          <p:cNvSpPr txBox="1"/>
          <p:nvPr/>
        </p:nvSpPr>
        <p:spPr>
          <a:xfrm>
            <a:off x="6519672" y="1783080"/>
            <a:ext cx="4846320" cy="274320"/>
          </a:xfrm>
          <a:prstGeom prst="rect">
            <a:avLst/>
          </a:prstGeom>
          <a:noFill/>
          <a:ln/>
        </p:spPr>
        <p:txBody>
          <a:bodyPr wrap="square" lIns="0" tIns="0" rIns="0" bIns="0" rtlCol="0" anchor="t"/>
          <a:lstStyle/>
          <a:p>
            <a:pPr indent="0" marL="0">
              <a:buNone/>
            </a:pPr>
            <a:r>
              <a:rPr lang="en-US" sz="1200" b="1" spc="150" kern="0" dirty="0">
                <a:solidFill>
                  <a:srgbClr val="1D6F43"/>
                </a:solidFill>
                <a:latin typeface="Segoe UI" pitchFamily="34" charset="0"/>
                <a:ea typeface="Segoe UI" pitchFamily="34" charset="-122"/>
                <a:cs typeface="Segoe UI" pitchFamily="34" charset="-120"/>
              </a:rPr>
              <a:t>PER SECOND</a:t>
            </a:r>
            <a:endParaRPr lang="en-US" sz="1200" dirty="0"/>
          </a:p>
        </p:txBody>
      </p:sp>
      <p:sp>
        <p:nvSpPr>
          <p:cNvPr id="15" name="Text 12"/>
          <p:cNvSpPr txBox="1"/>
          <p:nvPr/>
        </p:nvSpPr>
        <p:spPr>
          <a:xfrm>
            <a:off x="6519672" y="2148840"/>
            <a:ext cx="4937760" cy="685800"/>
          </a:xfrm>
          <a:prstGeom prst="rect">
            <a:avLst/>
          </a:prstGeom>
          <a:noFill/>
          <a:ln/>
        </p:spPr>
        <p:txBody>
          <a:bodyPr wrap="square" lIns="0" tIns="0" rIns="0" bIns="0" rtlCol="0" anchor="t"/>
          <a:lstStyle/>
          <a:p>
            <a:pPr indent="0" marL="0">
              <a:buNone/>
            </a:pPr>
            <a:r>
              <a:rPr lang="en-US" sz="1400" dirty="0">
                <a:solidFill>
                  <a:srgbClr val="18202E"/>
                </a:solidFill>
                <a:latin typeface="Consolas" pitchFamily="34" charset="0"/>
                <a:ea typeface="Consolas" pitchFamily="34" charset="-122"/>
                <a:cs typeface="Consolas" pitchFamily="34" charset="-120"/>
              </a:rPr>
              <a:t>transform.position +=</a:t>
            </a:r>
            <a:endParaRPr lang="en-US" sz="1400" dirty="0"/>
          </a:p>
          <a:p>
            <a:pPr indent="0" marL="0">
              <a:buNone/>
            </a:pPr>
            <a:r>
              <a:rPr lang="en-US" sz="1400" dirty="0">
                <a:solidFill>
                  <a:srgbClr val="18202E"/>
                </a:solidFill>
                <a:latin typeface="Consolas" pitchFamily="34" charset="0"/>
                <a:ea typeface="Consolas" pitchFamily="34" charset="-122"/>
                <a:cs typeface="Consolas" pitchFamily="34" charset="-120"/>
              </a:rPr>
              <a:t>    new Vector3(3f, 0, 0) * Time.deltaTime;</a:t>
            </a:r>
            <a:endParaRPr lang="en-US" sz="1400" dirty="0"/>
          </a:p>
        </p:txBody>
      </p:sp>
      <p:sp>
        <p:nvSpPr>
          <p:cNvPr id="16" name="Text 13"/>
          <p:cNvSpPr txBox="1"/>
          <p:nvPr/>
        </p:nvSpPr>
        <p:spPr>
          <a:xfrm>
            <a:off x="6519672" y="3017520"/>
            <a:ext cx="1737360" cy="731520"/>
          </a:xfrm>
          <a:prstGeom prst="rect">
            <a:avLst/>
          </a:prstGeom>
          <a:noFill/>
          <a:ln/>
        </p:spPr>
        <p:txBody>
          <a:bodyPr wrap="square" lIns="0" tIns="0" rIns="0" bIns="0" rtlCol="0" anchor="ctr"/>
          <a:lstStyle/>
          <a:p>
            <a:pPr indent="0" marL="0">
              <a:buNone/>
            </a:pPr>
            <a:r>
              <a:rPr lang="en-US" sz="4000" dirty="0">
                <a:solidFill>
                  <a:srgbClr val="1D6F43"/>
                </a:solidFill>
                <a:latin typeface="Segoe UI Semibold" pitchFamily="34" charset="0"/>
                <a:ea typeface="Segoe UI Semibold" pitchFamily="34" charset="-122"/>
                <a:cs typeface="Segoe UI Semibold" pitchFamily="34" charset="-120"/>
              </a:rPr>
              <a:t>3</a:t>
            </a:r>
            <a:endParaRPr lang="en-US" sz="4000" dirty="0"/>
          </a:p>
        </p:txBody>
      </p:sp>
      <p:sp>
        <p:nvSpPr>
          <p:cNvPr id="17" name="Text 14"/>
          <p:cNvSpPr txBox="1"/>
          <p:nvPr/>
        </p:nvSpPr>
        <p:spPr>
          <a:xfrm>
            <a:off x="8348472" y="3090672"/>
            <a:ext cx="3017520" cy="640080"/>
          </a:xfrm>
          <a:prstGeom prst="rect">
            <a:avLst/>
          </a:prstGeom>
          <a:noFill/>
          <a:ln/>
        </p:spPr>
        <p:txBody>
          <a:bodyPr wrap="square" lIns="0" tIns="0" rIns="0" bIns="0" rtlCol="0" anchor="t"/>
          <a:lstStyle/>
          <a:p>
            <a:pPr indent="0" marL="0">
              <a:buNone/>
            </a:pPr>
            <a:r>
              <a:rPr lang="en-US" sz="1400" b="1" dirty="0">
                <a:solidFill>
                  <a:srgbClr val="364255"/>
                </a:solidFill>
                <a:latin typeface="Segoe UI" pitchFamily="34" charset="0"/>
                <a:ea typeface="Segoe UI" pitchFamily="34" charset="-122"/>
                <a:cs typeface="Segoe UI" pitchFamily="34" charset="-120"/>
              </a:rPr>
              <a:t>30 fps laptop</a:t>
            </a:r>
            <a:endParaRPr lang="en-US" sz="1400" dirty="0"/>
          </a:p>
          <a:p>
            <a:pPr indent="0" marL="0">
              <a:buNone/>
            </a:pPr>
            <a:r>
              <a:rPr lang="en-US" sz="1400" dirty="0">
                <a:solidFill>
                  <a:srgbClr val="364255"/>
                </a:solidFill>
                <a:latin typeface="Segoe UI" pitchFamily="34" charset="0"/>
                <a:ea typeface="Segoe UI" pitchFamily="34" charset="-122"/>
                <a:cs typeface="Segoe UI" pitchFamily="34" charset="-120"/>
              </a:rPr>
              <a:t>units per second</a:t>
            </a:r>
            <a:endParaRPr lang="en-US" sz="1400" dirty="0"/>
          </a:p>
        </p:txBody>
      </p:sp>
      <p:sp>
        <p:nvSpPr>
          <p:cNvPr id="18" name="Text 15"/>
          <p:cNvSpPr txBox="1"/>
          <p:nvPr/>
        </p:nvSpPr>
        <p:spPr>
          <a:xfrm>
            <a:off x="6519672" y="4005072"/>
            <a:ext cx="1737360" cy="731520"/>
          </a:xfrm>
          <a:prstGeom prst="rect">
            <a:avLst/>
          </a:prstGeom>
          <a:noFill/>
          <a:ln/>
        </p:spPr>
        <p:txBody>
          <a:bodyPr wrap="square" lIns="0" tIns="0" rIns="0" bIns="0" rtlCol="0" anchor="ctr"/>
          <a:lstStyle/>
          <a:p>
            <a:pPr indent="0" marL="0">
              <a:buNone/>
            </a:pPr>
            <a:r>
              <a:rPr lang="en-US" sz="4000" dirty="0">
                <a:solidFill>
                  <a:srgbClr val="1D6F43"/>
                </a:solidFill>
                <a:latin typeface="Segoe UI Semibold" pitchFamily="34" charset="0"/>
                <a:ea typeface="Segoe UI Semibold" pitchFamily="34" charset="-122"/>
                <a:cs typeface="Segoe UI Semibold" pitchFamily="34" charset="-120"/>
              </a:rPr>
              <a:t>3</a:t>
            </a:r>
            <a:endParaRPr lang="en-US" sz="4000" dirty="0"/>
          </a:p>
        </p:txBody>
      </p:sp>
      <p:sp>
        <p:nvSpPr>
          <p:cNvPr id="19" name="Text 16"/>
          <p:cNvSpPr txBox="1"/>
          <p:nvPr/>
        </p:nvSpPr>
        <p:spPr>
          <a:xfrm>
            <a:off x="8348472" y="4078224"/>
            <a:ext cx="3017520" cy="640080"/>
          </a:xfrm>
          <a:prstGeom prst="rect">
            <a:avLst/>
          </a:prstGeom>
          <a:noFill/>
          <a:ln/>
        </p:spPr>
        <p:txBody>
          <a:bodyPr wrap="square" lIns="0" tIns="0" rIns="0" bIns="0" rtlCol="0" anchor="t"/>
          <a:lstStyle/>
          <a:p>
            <a:pPr indent="0" marL="0">
              <a:buNone/>
            </a:pPr>
            <a:r>
              <a:rPr lang="en-US" sz="1400" b="1" dirty="0">
                <a:solidFill>
                  <a:srgbClr val="364255"/>
                </a:solidFill>
                <a:latin typeface="Segoe UI" pitchFamily="34" charset="0"/>
                <a:ea typeface="Segoe UI" pitchFamily="34" charset="-122"/>
                <a:cs typeface="Segoe UI" pitchFamily="34" charset="-120"/>
              </a:rPr>
              <a:t>144 fps desktop</a:t>
            </a:r>
            <a:endParaRPr lang="en-US" sz="1400" dirty="0"/>
          </a:p>
          <a:p>
            <a:pPr indent="0" marL="0">
              <a:buNone/>
            </a:pPr>
            <a:r>
              <a:rPr lang="en-US" sz="1400" dirty="0">
                <a:solidFill>
                  <a:srgbClr val="364255"/>
                </a:solidFill>
                <a:latin typeface="Segoe UI" pitchFamily="34" charset="0"/>
                <a:ea typeface="Segoe UI" pitchFamily="34" charset="-122"/>
                <a:cs typeface="Segoe UI" pitchFamily="34" charset="-120"/>
              </a:rPr>
              <a:t>units per second</a:t>
            </a:r>
            <a:endParaRPr lang="en-US" sz="1400" dirty="0"/>
          </a:p>
        </p:txBody>
      </p:sp>
      <p:sp>
        <p:nvSpPr>
          <p:cNvPr id="20" name="Text 17"/>
          <p:cNvSpPr txBox="1"/>
          <p:nvPr/>
        </p:nvSpPr>
        <p:spPr>
          <a:xfrm>
            <a:off x="548640" y="5440680"/>
            <a:ext cx="11094415" cy="411480"/>
          </a:xfrm>
          <a:prstGeom prst="rect">
            <a:avLst/>
          </a:prstGeom>
          <a:noFill/>
          <a:ln/>
        </p:spPr>
        <p:txBody>
          <a:bodyPr wrap="square" lIns="0" tIns="0" rIns="0" bIns="0" rtlCol="0" anchor="t"/>
          <a:lstStyle/>
          <a:p>
            <a:pPr indent="0" marL="0">
              <a:buNone/>
            </a:pPr>
            <a:r>
              <a:rPr lang="en-US" sz="1900" b="1" dirty="0">
                <a:solidFill>
                  <a:srgbClr val="18202E"/>
                </a:solidFill>
                <a:latin typeface="Segoe UI" pitchFamily="34" charset="0"/>
                <a:ea typeface="Segoe UI" pitchFamily="34" charset="-122"/>
                <a:cs typeface="Segoe UI" pitchFamily="34" charset="-120"/>
              </a:rPr>
              <a:t>Anything per frame is a bug; anything per second is correct.</a:t>
            </a:r>
            <a:endParaRPr lang="en-US" sz="1900" dirty="0"/>
          </a:p>
        </p:txBody>
      </p:sp>
      <p:sp>
        <p:nvSpPr>
          <p:cNvPr id="21" name="Text 18"/>
          <p:cNvSpPr txBox="1"/>
          <p:nvPr/>
        </p:nvSpPr>
        <p:spPr>
          <a:xfrm>
            <a:off x="548640" y="5897880"/>
            <a:ext cx="11094415" cy="320040"/>
          </a:xfrm>
          <a:prstGeom prst="rect">
            <a:avLst/>
          </a:prstGeom>
          <a:noFill/>
          <a:ln/>
        </p:spPr>
        <p:txBody>
          <a:bodyPr wrap="square" lIns="0" tIns="0" rIns="0" bIns="0" rtlCol="0" anchor="t"/>
          <a:lstStyle/>
          <a:p>
            <a:pPr indent="0" marL="0">
              <a:buNone/>
            </a:pPr>
            <a:r>
              <a:rPr lang="en-US" sz="1400" dirty="0">
                <a:solidFill>
                  <a:srgbClr val="5B6678"/>
                </a:solidFill>
                <a:latin typeface="Consolas" pitchFamily="34" charset="0"/>
                <a:ea typeface="Consolas" pitchFamily="34" charset="-122"/>
                <a:cs typeface="Consolas" pitchFamily="34" charset="-120"/>
              </a:rPr>
              <a:t>Time.deltaTime</a:t>
            </a:r>
            <a:pPr indent="0" marL="0">
              <a:buNone/>
            </a:pPr>
            <a:r>
              <a:rPr lang="en-US" sz="1400" dirty="0">
                <a:solidFill>
                  <a:srgbClr val="5B6678"/>
                </a:solidFill>
                <a:latin typeface="Segoe UI" pitchFamily="34" charset="0"/>
                <a:ea typeface="Segoe UI" pitchFamily="34" charset="-122"/>
                <a:cs typeface="Segoe UI" pitchFamily="34" charset="-120"/>
              </a:rPr>
              <a:t>: seconds since the last frame   ·   </a:t>
            </a:r>
            <a:pPr indent="0" marL="0">
              <a:buNone/>
            </a:pPr>
            <a:r>
              <a:rPr lang="en-US" sz="1400" dirty="0">
                <a:solidFill>
                  <a:srgbClr val="5B6678"/>
                </a:solidFill>
                <a:latin typeface="Consolas" pitchFamily="34" charset="0"/>
                <a:ea typeface="Consolas" pitchFamily="34" charset="-122"/>
                <a:cs typeface="Consolas" pitchFamily="34" charset="-120"/>
              </a:rPr>
              <a:t>Time.timeScale = 0</a:t>
            </a:r>
            <a:pPr indent="0" marL="0">
              <a:buNone/>
            </a:pPr>
            <a:r>
              <a:rPr lang="en-US" sz="1400" dirty="0">
                <a:solidFill>
                  <a:srgbClr val="5B6678"/>
                </a:solidFill>
                <a:latin typeface="Segoe UI" pitchFamily="34" charset="0"/>
                <a:ea typeface="Segoe UI" pitchFamily="34" charset="-122"/>
                <a:cs typeface="Segoe UI" pitchFamily="34" charset="-120"/>
              </a:rPr>
              <a:t>: the whole simulation freezes</a:t>
            </a:r>
            <a:endParaRPr lang="en-US" sz="14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1 · GAME ENGINES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Frame rate, frame time, vsync</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45920"/>
            <a:ext cx="3557930" cy="2743200"/>
          </a:xfrm>
          <a:prstGeom prst="rect">
            <a:avLst/>
          </a:prstGeom>
          <a:solidFill>
            <a:srgbClr val="F0F3F7"/>
          </a:solidFill>
          <a:ln/>
        </p:spPr>
      </p:sp>
      <p:sp>
        <p:nvSpPr>
          <p:cNvPr id="7" name="Text 4"/>
          <p:cNvSpPr txBox="1"/>
          <p:nvPr/>
        </p:nvSpPr>
        <p:spPr>
          <a:xfrm>
            <a:off x="822960" y="1828800"/>
            <a:ext cx="3009290" cy="822960"/>
          </a:xfrm>
          <a:prstGeom prst="rect">
            <a:avLst/>
          </a:prstGeom>
          <a:noFill/>
          <a:ln/>
        </p:spPr>
        <p:txBody>
          <a:bodyPr wrap="square" lIns="0" tIns="0" rIns="0" bIns="0" rtlCol="0" anchor="ctr"/>
          <a:lstStyle/>
          <a:p>
            <a:pPr indent="0" marL="0">
              <a:buNone/>
            </a:pPr>
            <a:r>
              <a:rPr lang="en-US" sz="4000" dirty="0">
                <a:solidFill>
                  <a:srgbClr val="2354A6"/>
                </a:solidFill>
                <a:latin typeface="Segoe UI Semibold" pitchFamily="34" charset="0"/>
                <a:ea typeface="Segoe UI Semibold" pitchFamily="34" charset="-122"/>
                <a:cs typeface="Segoe UI Semibold" pitchFamily="34" charset="-120"/>
              </a:rPr>
              <a:t>16.7 ms</a:t>
            </a:r>
            <a:endParaRPr lang="en-US" sz="4000" dirty="0"/>
          </a:p>
        </p:txBody>
      </p:sp>
      <p:sp>
        <p:nvSpPr>
          <p:cNvPr id="8" name="Text 5"/>
          <p:cNvSpPr txBox="1"/>
          <p:nvPr/>
        </p:nvSpPr>
        <p:spPr>
          <a:xfrm>
            <a:off x="822960" y="2743200"/>
            <a:ext cx="3009290" cy="365760"/>
          </a:xfrm>
          <a:prstGeom prst="rect">
            <a:avLst/>
          </a:prstGeom>
          <a:noFill/>
          <a:ln/>
        </p:spPr>
        <p:txBody>
          <a:bodyPr wrap="square" lIns="0" tIns="0" rIns="0" bIns="0" rtlCol="0" anchor="t"/>
          <a:lstStyle/>
          <a:p>
            <a:pPr indent="0" marL="0">
              <a:buNone/>
            </a:pPr>
            <a:r>
              <a:rPr lang="en-US" sz="1700" dirty="0">
                <a:solidFill>
                  <a:srgbClr val="18202E"/>
                </a:solidFill>
                <a:latin typeface="Segoe UI Semibold" pitchFamily="34" charset="0"/>
                <a:ea typeface="Segoe UI Semibold" pitchFamily="34" charset="-122"/>
                <a:cs typeface="Segoe UI Semibold" pitchFamily="34" charset="-120"/>
              </a:rPr>
              <a:t>One frame at 60 fps</a:t>
            </a:r>
            <a:endParaRPr lang="en-US" sz="1700" dirty="0"/>
          </a:p>
        </p:txBody>
      </p:sp>
      <p:sp>
        <p:nvSpPr>
          <p:cNvPr id="9" name="Text 6"/>
          <p:cNvSpPr txBox="1"/>
          <p:nvPr/>
        </p:nvSpPr>
        <p:spPr>
          <a:xfrm>
            <a:off x="822960" y="3200400"/>
            <a:ext cx="3009290" cy="1097280"/>
          </a:xfrm>
          <a:prstGeom prst="rect">
            <a:avLst/>
          </a:prstGeom>
          <a:noFill/>
          <a:ln/>
        </p:spPr>
        <p:txBody>
          <a:bodyPr wrap="square" lIns="0" tIns="0" rIns="0" bIns="0" rtlCol="0" anchor="t"/>
          <a:lstStyle/>
          <a:p>
            <a:pPr indent="0" marL="0">
              <a:buNone/>
            </a:pPr>
            <a:r>
              <a:rPr lang="en-US" sz="1500" dirty="0">
                <a:solidFill>
                  <a:srgbClr val="364255"/>
                </a:solidFill>
                <a:latin typeface="Segoe UI" pitchFamily="34" charset="0"/>
                <a:ea typeface="Segoe UI" pitchFamily="34" charset="-122"/>
                <a:cs typeface="Segoe UI" pitchFamily="34" charset="-120"/>
              </a:rPr>
              <a:t>Frame time = 1000 ÷ fps. Professionals think in milliseconds.</a:t>
            </a:r>
            <a:endParaRPr lang="en-US" sz="1500" dirty="0"/>
          </a:p>
        </p:txBody>
      </p:sp>
      <p:sp>
        <p:nvSpPr>
          <p:cNvPr id="10" name="Shape 7"/>
          <p:cNvSpPr/>
          <p:nvPr/>
        </p:nvSpPr>
        <p:spPr>
          <a:xfrm>
            <a:off x="4316882" y="1645920"/>
            <a:ext cx="3557930" cy="2743200"/>
          </a:xfrm>
          <a:prstGeom prst="rect">
            <a:avLst/>
          </a:prstGeom>
          <a:solidFill>
            <a:srgbClr val="F0F3F7"/>
          </a:solidFill>
          <a:ln/>
        </p:spPr>
      </p:sp>
      <p:sp>
        <p:nvSpPr>
          <p:cNvPr id="11" name="Text 8"/>
          <p:cNvSpPr txBox="1"/>
          <p:nvPr/>
        </p:nvSpPr>
        <p:spPr>
          <a:xfrm>
            <a:off x="4591202" y="1828800"/>
            <a:ext cx="3009290" cy="822960"/>
          </a:xfrm>
          <a:prstGeom prst="rect">
            <a:avLst/>
          </a:prstGeom>
          <a:noFill/>
          <a:ln/>
        </p:spPr>
        <p:txBody>
          <a:bodyPr wrap="square" lIns="0" tIns="0" rIns="0" bIns="0" rtlCol="0" anchor="ctr"/>
          <a:lstStyle/>
          <a:p>
            <a:pPr indent="0" marL="0">
              <a:buNone/>
            </a:pPr>
            <a:r>
              <a:rPr lang="en-US" sz="4000" dirty="0">
                <a:solidFill>
                  <a:srgbClr val="2354A6"/>
                </a:solidFill>
                <a:latin typeface="Segoe UI Semibold" pitchFamily="34" charset="0"/>
                <a:ea typeface="Segoe UI Semibold" pitchFamily="34" charset="-122"/>
                <a:cs typeface="Segoe UI Semibold" pitchFamily="34" charset="-120"/>
              </a:rPr>
              <a:t>+1.5 ms</a:t>
            </a:r>
            <a:endParaRPr lang="en-US" sz="4000" dirty="0"/>
          </a:p>
        </p:txBody>
      </p:sp>
      <p:sp>
        <p:nvSpPr>
          <p:cNvPr id="12" name="Text 9"/>
          <p:cNvSpPr txBox="1"/>
          <p:nvPr/>
        </p:nvSpPr>
        <p:spPr>
          <a:xfrm>
            <a:off x="4591202" y="2743200"/>
            <a:ext cx="3009290" cy="365760"/>
          </a:xfrm>
          <a:prstGeom prst="rect">
            <a:avLst/>
          </a:prstGeom>
          <a:noFill/>
          <a:ln/>
        </p:spPr>
        <p:txBody>
          <a:bodyPr wrap="square" lIns="0" tIns="0" rIns="0" bIns="0" rtlCol="0" anchor="t"/>
          <a:lstStyle/>
          <a:p>
            <a:pPr indent="0" marL="0">
              <a:buNone/>
            </a:pPr>
            <a:r>
              <a:rPr lang="en-US" sz="1700" dirty="0">
                <a:solidFill>
                  <a:srgbClr val="18202E"/>
                </a:solidFill>
                <a:latin typeface="Segoe UI Semibold" pitchFamily="34" charset="0"/>
                <a:ea typeface="Segoe UI Semibold" pitchFamily="34" charset="-122"/>
                <a:cs typeface="Segoe UI Semibold" pitchFamily="34" charset="-120"/>
              </a:rPr>
              <a:t>The same extra work…</a:t>
            </a:r>
            <a:endParaRPr lang="en-US" sz="1700" dirty="0"/>
          </a:p>
        </p:txBody>
      </p:sp>
      <p:sp>
        <p:nvSpPr>
          <p:cNvPr id="13" name="Text 10"/>
          <p:cNvSpPr txBox="1"/>
          <p:nvPr/>
        </p:nvSpPr>
        <p:spPr>
          <a:xfrm>
            <a:off x="4591202" y="3200400"/>
            <a:ext cx="3009290" cy="1097280"/>
          </a:xfrm>
          <a:prstGeom prst="rect">
            <a:avLst/>
          </a:prstGeom>
          <a:noFill/>
          <a:ln/>
        </p:spPr>
        <p:txBody>
          <a:bodyPr wrap="square" lIns="0" tIns="0" rIns="0" bIns="0" rtlCol="0" anchor="t"/>
          <a:lstStyle/>
          <a:p>
            <a:pPr indent="0" marL="0">
              <a:buNone/>
            </a:pPr>
            <a:r>
              <a:rPr lang="en-US" sz="1500" dirty="0">
                <a:solidFill>
                  <a:srgbClr val="364255"/>
                </a:solidFill>
                <a:latin typeface="Segoe UI" pitchFamily="34" charset="0"/>
                <a:ea typeface="Segoe UI" pitchFamily="34" charset="-122"/>
                <a:cs typeface="Segoe UI" pitchFamily="34" charset="-120"/>
              </a:rPr>
              <a:t>…takes 60 fps down to 55, but 30 fps only to 28.7. Frame time shows the cost; fps hides it.</a:t>
            </a:r>
            <a:endParaRPr lang="en-US" sz="1500" dirty="0"/>
          </a:p>
        </p:txBody>
      </p:sp>
      <p:sp>
        <p:nvSpPr>
          <p:cNvPr id="14" name="Shape 11"/>
          <p:cNvSpPr/>
          <p:nvPr/>
        </p:nvSpPr>
        <p:spPr>
          <a:xfrm>
            <a:off x="8085125" y="1645920"/>
            <a:ext cx="3557930" cy="2743200"/>
          </a:xfrm>
          <a:prstGeom prst="rect">
            <a:avLst/>
          </a:prstGeom>
          <a:solidFill>
            <a:srgbClr val="F0F3F7"/>
          </a:solidFill>
          <a:ln/>
        </p:spPr>
      </p:sp>
      <p:sp>
        <p:nvSpPr>
          <p:cNvPr id="15" name="Text 12"/>
          <p:cNvSpPr txBox="1"/>
          <p:nvPr/>
        </p:nvSpPr>
        <p:spPr>
          <a:xfrm>
            <a:off x="8359445" y="1828800"/>
            <a:ext cx="3009290" cy="822960"/>
          </a:xfrm>
          <a:prstGeom prst="rect">
            <a:avLst/>
          </a:prstGeom>
          <a:noFill/>
          <a:ln/>
        </p:spPr>
        <p:txBody>
          <a:bodyPr wrap="square" lIns="0" tIns="0" rIns="0" bIns="0" rtlCol="0" anchor="ctr"/>
          <a:lstStyle/>
          <a:p>
            <a:pPr indent="0" marL="0">
              <a:buNone/>
            </a:pPr>
            <a:r>
              <a:rPr lang="en-US" sz="4000" dirty="0">
                <a:solidFill>
                  <a:srgbClr val="2354A6"/>
                </a:solidFill>
                <a:latin typeface="Segoe UI Semibold" pitchFamily="34" charset="0"/>
                <a:ea typeface="Segoe UI Semibold" pitchFamily="34" charset="-122"/>
                <a:cs typeface="Segoe UI Semibold" pitchFamily="34" charset="-120"/>
              </a:rPr>
              <a:t>Vsync</a:t>
            </a:r>
            <a:endParaRPr lang="en-US" sz="4000" dirty="0"/>
          </a:p>
        </p:txBody>
      </p:sp>
      <p:sp>
        <p:nvSpPr>
          <p:cNvPr id="16" name="Text 13"/>
          <p:cNvSpPr txBox="1"/>
          <p:nvPr/>
        </p:nvSpPr>
        <p:spPr>
          <a:xfrm>
            <a:off x="8359445" y="2743200"/>
            <a:ext cx="3009290" cy="365760"/>
          </a:xfrm>
          <a:prstGeom prst="rect">
            <a:avLst/>
          </a:prstGeom>
          <a:noFill/>
          <a:ln/>
        </p:spPr>
        <p:txBody>
          <a:bodyPr wrap="square" lIns="0" tIns="0" rIns="0" bIns="0" rtlCol="0" anchor="t"/>
          <a:lstStyle/>
          <a:p>
            <a:pPr indent="0" marL="0">
              <a:buNone/>
            </a:pPr>
            <a:r>
              <a:rPr lang="en-US" sz="1700" dirty="0">
                <a:solidFill>
                  <a:srgbClr val="18202E"/>
                </a:solidFill>
                <a:latin typeface="Segoe UI Semibold" pitchFamily="34" charset="0"/>
                <a:ea typeface="Segoe UI Semibold" pitchFamily="34" charset="-122"/>
                <a:cs typeface="Segoe UI Semibold" pitchFamily="34" charset="-120"/>
              </a:rPr>
              <a:t>Frames wait for the monitor</a:t>
            </a:r>
            <a:endParaRPr lang="en-US" sz="1700" dirty="0"/>
          </a:p>
        </p:txBody>
      </p:sp>
      <p:sp>
        <p:nvSpPr>
          <p:cNvPr id="17" name="Text 14"/>
          <p:cNvSpPr txBox="1"/>
          <p:nvPr/>
        </p:nvSpPr>
        <p:spPr>
          <a:xfrm>
            <a:off x="8359445" y="3200400"/>
            <a:ext cx="3009290" cy="1097280"/>
          </a:xfrm>
          <a:prstGeom prst="rect">
            <a:avLst/>
          </a:prstGeom>
          <a:noFill/>
          <a:ln/>
        </p:spPr>
        <p:txBody>
          <a:bodyPr wrap="square" lIns="0" tIns="0" rIns="0" bIns="0" rtlCol="0" anchor="t"/>
          <a:lstStyle/>
          <a:p>
            <a:pPr indent="0" marL="0">
              <a:buNone/>
            </a:pPr>
            <a:r>
              <a:rPr lang="en-US" sz="1500" dirty="0">
                <a:solidFill>
                  <a:srgbClr val="364255"/>
                </a:solidFill>
                <a:latin typeface="Segoe UI" pitchFamily="34" charset="0"/>
                <a:ea typeface="Segoe UI" pitchFamily="34" charset="-122"/>
                <a:cs typeface="Segoe UI" pitchFamily="34" charset="-120"/>
              </a:rPr>
              <a:t>No tearing, and fps is capped at the refresh rate: a steady 60 is the cap, not a struggle.</a:t>
            </a:r>
            <a:endParaRPr lang="en-US" sz="1500" dirty="0"/>
          </a:p>
        </p:txBody>
      </p:sp>
      <p:sp>
        <p:nvSpPr>
          <p:cNvPr id="18" name="Text 15"/>
          <p:cNvSpPr txBox="1"/>
          <p:nvPr/>
        </p:nvSpPr>
        <p:spPr>
          <a:xfrm>
            <a:off x="548640" y="4754880"/>
            <a:ext cx="11094415" cy="411480"/>
          </a:xfrm>
          <a:prstGeom prst="rect">
            <a:avLst/>
          </a:prstGeom>
          <a:noFill/>
          <a:ln/>
        </p:spPr>
        <p:txBody>
          <a:bodyPr wrap="square" lIns="0" tIns="0" rIns="0" bIns="0" rtlCol="0" anchor="t"/>
          <a:lstStyle/>
          <a:p>
            <a:pPr indent="0" marL="0">
              <a:buNone/>
            </a:pPr>
            <a:r>
              <a:rPr lang="en-US" sz="1700" dirty="0">
                <a:solidFill>
                  <a:srgbClr val="364255"/>
                </a:solidFill>
                <a:latin typeface="Segoe UI" pitchFamily="34" charset="0"/>
                <a:ea typeface="Segoe UI" pitchFamily="34" charset="-122"/>
                <a:cs typeface="Segoe UI" pitchFamily="34" charset="-120"/>
              </a:rPr>
              <a:t>Editor numbers are not your players' numbers: measure performance in builds.</a:t>
            </a:r>
            <a:endParaRPr lang="en-US" sz="17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1 · GAME ENGINES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What an engine gives you</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45920"/>
            <a:ext cx="2636444" cy="1463040"/>
          </a:xfrm>
          <a:prstGeom prst="rect">
            <a:avLst/>
          </a:prstGeom>
          <a:solidFill>
            <a:srgbClr val="F0F3F7"/>
          </a:solidFill>
          <a:ln/>
        </p:spPr>
      </p:sp>
      <p:sp>
        <p:nvSpPr>
          <p:cNvPr id="7" name="Text 4"/>
          <p:cNvSpPr txBox="1"/>
          <p:nvPr/>
        </p:nvSpPr>
        <p:spPr>
          <a:xfrm>
            <a:off x="777240" y="1847088"/>
            <a:ext cx="2179244" cy="365760"/>
          </a:xfrm>
          <a:prstGeom prst="rect">
            <a:avLst/>
          </a:prstGeom>
          <a:noFill/>
          <a:ln/>
        </p:spPr>
        <p:txBody>
          <a:bodyPr wrap="square" lIns="0" tIns="0" rIns="0" bIns="0" rtlCol="0" anchor="t"/>
          <a:lstStyle/>
          <a:p>
            <a:pPr indent="0" marL="0">
              <a:buNone/>
            </a:pPr>
            <a:r>
              <a:rPr lang="en-US" sz="1800" dirty="0">
                <a:solidFill>
                  <a:srgbClr val="18202E"/>
                </a:solidFill>
                <a:latin typeface="Segoe UI Semibold" pitchFamily="34" charset="0"/>
                <a:ea typeface="Segoe UI Semibold" pitchFamily="34" charset="-122"/>
                <a:cs typeface="Segoe UI Semibold" pitchFamily="34" charset="-120"/>
              </a:rPr>
              <a:t>Renderer</a:t>
            </a:r>
            <a:endParaRPr lang="en-US" sz="1800" dirty="0"/>
          </a:p>
        </p:txBody>
      </p:sp>
      <p:sp>
        <p:nvSpPr>
          <p:cNvPr id="8" name="Text 5"/>
          <p:cNvSpPr txBox="1"/>
          <p:nvPr/>
        </p:nvSpPr>
        <p:spPr>
          <a:xfrm>
            <a:off x="777240" y="2286000"/>
            <a:ext cx="2179244" cy="685800"/>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Textures, shaders, batched draw calls to the GPU</a:t>
            </a:r>
            <a:endParaRPr lang="en-US" sz="1400" dirty="0"/>
          </a:p>
        </p:txBody>
      </p:sp>
      <p:sp>
        <p:nvSpPr>
          <p:cNvPr id="9" name="Shape 6"/>
          <p:cNvSpPr/>
          <p:nvPr/>
        </p:nvSpPr>
        <p:spPr>
          <a:xfrm>
            <a:off x="3367964" y="1645920"/>
            <a:ext cx="2636444" cy="1463040"/>
          </a:xfrm>
          <a:prstGeom prst="rect">
            <a:avLst/>
          </a:prstGeom>
          <a:solidFill>
            <a:srgbClr val="F0F3F7"/>
          </a:solidFill>
          <a:ln/>
        </p:spPr>
      </p:sp>
      <p:sp>
        <p:nvSpPr>
          <p:cNvPr id="10" name="Text 7"/>
          <p:cNvSpPr txBox="1"/>
          <p:nvPr/>
        </p:nvSpPr>
        <p:spPr>
          <a:xfrm>
            <a:off x="3596564" y="1847088"/>
            <a:ext cx="2179244" cy="365760"/>
          </a:xfrm>
          <a:prstGeom prst="rect">
            <a:avLst/>
          </a:prstGeom>
          <a:noFill/>
          <a:ln/>
        </p:spPr>
        <p:txBody>
          <a:bodyPr wrap="square" lIns="0" tIns="0" rIns="0" bIns="0" rtlCol="0" anchor="t"/>
          <a:lstStyle/>
          <a:p>
            <a:pPr indent="0" marL="0">
              <a:buNone/>
            </a:pPr>
            <a:r>
              <a:rPr lang="en-US" sz="1800" dirty="0">
                <a:solidFill>
                  <a:srgbClr val="18202E"/>
                </a:solidFill>
                <a:latin typeface="Segoe UI Semibold" pitchFamily="34" charset="0"/>
                <a:ea typeface="Segoe UI Semibold" pitchFamily="34" charset="-122"/>
                <a:cs typeface="Segoe UI Semibold" pitchFamily="34" charset="-120"/>
              </a:rPr>
              <a:t>Physics</a:t>
            </a:r>
            <a:endParaRPr lang="en-US" sz="1800" dirty="0"/>
          </a:p>
        </p:txBody>
      </p:sp>
      <p:sp>
        <p:nvSpPr>
          <p:cNvPr id="11" name="Text 8"/>
          <p:cNvSpPr txBox="1"/>
          <p:nvPr/>
        </p:nvSpPr>
        <p:spPr>
          <a:xfrm>
            <a:off x="3596564" y="2286000"/>
            <a:ext cx="2179244" cy="685800"/>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Collisions, gravity, friction, stable stacking</a:t>
            </a:r>
            <a:endParaRPr lang="en-US" sz="1400" dirty="0"/>
          </a:p>
        </p:txBody>
      </p:sp>
      <p:sp>
        <p:nvSpPr>
          <p:cNvPr id="12" name="Shape 9"/>
          <p:cNvSpPr/>
          <p:nvPr/>
        </p:nvSpPr>
        <p:spPr>
          <a:xfrm>
            <a:off x="6187288" y="1645920"/>
            <a:ext cx="2636444" cy="1463040"/>
          </a:xfrm>
          <a:prstGeom prst="rect">
            <a:avLst/>
          </a:prstGeom>
          <a:solidFill>
            <a:srgbClr val="F0F3F7"/>
          </a:solidFill>
          <a:ln/>
        </p:spPr>
      </p:sp>
      <p:sp>
        <p:nvSpPr>
          <p:cNvPr id="13" name="Text 10"/>
          <p:cNvSpPr txBox="1"/>
          <p:nvPr/>
        </p:nvSpPr>
        <p:spPr>
          <a:xfrm>
            <a:off x="6415888" y="1847088"/>
            <a:ext cx="2179244" cy="365760"/>
          </a:xfrm>
          <a:prstGeom prst="rect">
            <a:avLst/>
          </a:prstGeom>
          <a:noFill/>
          <a:ln/>
        </p:spPr>
        <p:txBody>
          <a:bodyPr wrap="square" lIns="0" tIns="0" rIns="0" bIns="0" rtlCol="0" anchor="t"/>
          <a:lstStyle/>
          <a:p>
            <a:pPr indent="0" marL="0">
              <a:buNone/>
            </a:pPr>
            <a:r>
              <a:rPr lang="en-US" sz="1800" dirty="0">
                <a:solidFill>
                  <a:srgbClr val="18202E"/>
                </a:solidFill>
                <a:latin typeface="Segoe UI Semibold" pitchFamily="34" charset="0"/>
                <a:ea typeface="Segoe UI Semibold" pitchFamily="34" charset="-122"/>
                <a:cs typeface="Segoe UI Semibold" pitchFamily="34" charset="-120"/>
              </a:rPr>
              <a:t>Input</a:t>
            </a:r>
            <a:endParaRPr lang="en-US" sz="1800" dirty="0"/>
          </a:p>
        </p:txBody>
      </p:sp>
      <p:sp>
        <p:nvSpPr>
          <p:cNvPr id="14" name="Text 11"/>
          <p:cNvSpPr txBox="1"/>
          <p:nvPr/>
        </p:nvSpPr>
        <p:spPr>
          <a:xfrm>
            <a:off x="6415888" y="2286000"/>
            <a:ext cx="2179244" cy="685800"/>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Keyboard, mouse, touch and gamepad behind one API</a:t>
            </a:r>
            <a:endParaRPr lang="en-US" sz="1400" dirty="0"/>
          </a:p>
        </p:txBody>
      </p:sp>
      <p:sp>
        <p:nvSpPr>
          <p:cNvPr id="15" name="Shape 12"/>
          <p:cNvSpPr/>
          <p:nvPr/>
        </p:nvSpPr>
        <p:spPr>
          <a:xfrm>
            <a:off x="9006611" y="1645920"/>
            <a:ext cx="2636444" cy="1463040"/>
          </a:xfrm>
          <a:prstGeom prst="rect">
            <a:avLst/>
          </a:prstGeom>
          <a:solidFill>
            <a:srgbClr val="F0F3F7"/>
          </a:solidFill>
          <a:ln/>
        </p:spPr>
      </p:sp>
      <p:sp>
        <p:nvSpPr>
          <p:cNvPr id="16" name="Text 13"/>
          <p:cNvSpPr txBox="1"/>
          <p:nvPr/>
        </p:nvSpPr>
        <p:spPr>
          <a:xfrm>
            <a:off x="9235211" y="1847088"/>
            <a:ext cx="2179244" cy="365760"/>
          </a:xfrm>
          <a:prstGeom prst="rect">
            <a:avLst/>
          </a:prstGeom>
          <a:noFill/>
          <a:ln/>
        </p:spPr>
        <p:txBody>
          <a:bodyPr wrap="square" lIns="0" tIns="0" rIns="0" bIns="0" rtlCol="0" anchor="t"/>
          <a:lstStyle/>
          <a:p>
            <a:pPr indent="0" marL="0">
              <a:buNone/>
            </a:pPr>
            <a:r>
              <a:rPr lang="en-US" sz="1800" dirty="0">
                <a:solidFill>
                  <a:srgbClr val="18202E"/>
                </a:solidFill>
                <a:latin typeface="Segoe UI Semibold" pitchFamily="34" charset="0"/>
                <a:ea typeface="Segoe UI Semibold" pitchFamily="34" charset="-122"/>
                <a:cs typeface="Segoe UI Semibold" pitchFamily="34" charset="-120"/>
              </a:rPr>
              <a:t>Audio</a:t>
            </a:r>
            <a:endParaRPr lang="en-US" sz="1800" dirty="0"/>
          </a:p>
        </p:txBody>
      </p:sp>
      <p:sp>
        <p:nvSpPr>
          <p:cNvPr id="17" name="Text 14"/>
          <p:cNvSpPr txBox="1"/>
          <p:nvPr/>
        </p:nvSpPr>
        <p:spPr>
          <a:xfrm>
            <a:off x="9235211" y="2286000"/>
            <a:ext cx="2179244" cy="685800"/>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Decodes and mixes many sources in real time</a:t>
            </a:r>
            <a:endParaRPr lang="en-US" sz="1400" dirty="0"/>
          </a:p>
        </p:txBody>
      </p:sp>
      <p:sp>
        <p:nvSpPr>
          <p:cNvPr id="18" name="Shape 15"/>
          <p:cNvSpPr/>
          <p:nvPr/>
        </p:nvSpPr>
        <p:spPr>
          <a:xfrm>
            <a:off x="548640" y="3291840"/>
            <a:ext cx="2636444" cy="1463040"/>
          </a:xfrm>
          <a:prstGeom prst="rect">
            <a:avLst/>
          </a:prstGeom>
          <a:solidFill>
            <a:srgbClr val="F0F3F7"/>
          </a:solidFill>
          <a:ln/>
        </p:spPr>
      </p:sp>
      <p:sp>
        <p:nvSpPr>
          <p:cNvPr id="19" name="Text 16"/>
          <p:cNvSpPr txBox="1"/>
          <p:nvPr/>
        </p:nvSpPr>
        <p:spPr>
          <a:xfrm>
            <a:off x="777240" y="3493008"/>
            <a:ext cx="2179244" cy="365760"/>
          </a:xfrm>
          <a:prstGeom prst="rect">
            <a:avLst/>
          </a:prstGeom>
          <a:noFill/>
          <a:ln/>
        </p:spPr>
        <p:txBody>
          <a:bodyPr wrap="square" lIns="0" tIns="0" rIns="0" bIns="0" rtlCol="0" anchor="t"/>
          <a:lstStyle/>
          <a:p>
            <a:pPr indent="0" marL="0">
              <a:buNone/>
            </a:pPr>
            <a:r>
              <a:rPr lang="en-US" sz="1800" dirty="0">
                <a:solidFill>
                  <a:srgbClr val="18202E"/>
                </a:solidFill>
                <a:latin typeface="Segoe UI Semibold" pitchFamily="34" charset="0"/>
                <a:ea typeface="Segoe UI Semibold" pitchFamily="34" charset="-122"/>
                <a:cs typeface="Segoe UI Semibold" pitchFamily="34" charset="-120"/>
              </a:rPr>
              <a:t>Asset pipeline</a:t>
            </a:r>
            <a:endParaRPr lang="en-US" sz="1800" dirty="0"/>
          </a:p>
        </p:txBody>
      </p:sp>
      <p:sp>
        <p:nvSpPr>
          <p:cNvPr id="20" name="Text 17"/>
          <p:cNvSpPr txBox="1"/>
          <p:nvPr/>
        </p:nvSpPr>
        <p:spPr>
          <a:xfrm>
            <a:off x="777240" y="3931920"/>
            <a:ext cx="2179244" cy="685800"/>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Turns PNG and WAV files into GPU-ready formats</a:t>
            </a:r>
            <a:endParaRPr lang="en-US" sz="1400" dirty="0"/>
          </a:p>
        </p:txBody>
      </p:sp>
      <p:sp>
        <p:nvSpPr>
          <p:cNvPr id="21" name="Shape 18"/>
          <p:cNvSpPr/>
          <p:nvPr/>
        </p:nvSpPr>
        <p:spPr>
          <a:xfrm>
            <a:off x="3367964" y="3291840"/>
            <a:ext cx="2636444" cy="1463040"/>
          </a:xfrm>
          <a:prstGeom prst="rect">
            <a:avLst/>
          </a:prstGeom>
          <a:solidFill>
            <a:srgbClr val="F0F3F7"/>
          </a:solidFill>
          <a:ln/>
        </p:spPr>
      </p:sp>
      <p:sp>
        <p:nvSpPr>
          <p:cNvPr id="22" name="Text 19"/>
          <p:cNvSpPr txBox="1"/>
          <p:nvPr/>
        </p:nvSpPr>
        <p:spPr>
          <a:xfrm>
            <a:off x="3596564" y="3493008"/>
            <a:ext cx="2179244" cy="365760"/>
          </a:xfrm>
          <a:prstGeom prst="rect">
            <a:avLst/>
          </a:prstGeom>
          <a:noFill/>
          <a:ln/>
        </p:spPr>
        <p:txBody>
          <a:bodyPr wrap="square" lIns="0" tIns="0" rIns="0" bIns="0" rtlCol="0" anchor="t"/>
          <a:lstStyle/>
          <a:p>
            <a:pPr indent="0" marL="0">
              <a:buNone/>
            </a:pPr>
            <a:r>
              <a:rPr lang="en-US" sz="1800" dirty="0">
                <a:solidFill>
                  <a:srgbClr val="18202E"/>
                </a:solidFill>
                <a:latin typeface="Segoe UI Semibold" pitchFamily="34" charset="0"/>
                <a:ea typeface="Segoe UI Semibold" pitchFamily="34" charset="-122"/>
                <a:cs typeface="Segoe UI Semibold" pitchFamily="34" charset="-120"/>
              </a:rPr>
              <a:t>Scenes</a:t>
            </a:r>
            <a:endParaRPr lang="en-US" sz="1800" dirty="0"/>
          </a:p>
        </p:txBody>
      </p:sp>
      <p:sp>
        <p:nvSpPr>
          <p:cNvPr id="23" name="Text 20"/>
          <p:cNvSpPr txBox="1"/>
          <p:nvPr/>
        </p:nvSpPr>
        <p:spPr>
          <a:xfrm>
            <a:off x="3596564" y="3931920"/>
            <a:ext cx="2179244" cy="685800"/>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Describe, save and load levels without recompiling</a:t>
            </a:r>
            <a:endParaRPr lang="en-US" sz="1400" dirty="0"/>
          </a:p>
        </p:txBody>
      </p:sp>
      <p:sp>
        <p:nvSpPr>
          <p:cNvPr id="24" name="Shape 21"/>
          <p:cNvSpPr/>
          <p:nvPr/>
        </p:nvSpPr>
        <p:spPr>
          <a:xfrm>
            <a:off x="6187288" y="3291840"/>
            <a:ext cx="2636444" cy="1463040"/>
          </a:xfrm>
          <a:prstGeom prst="rect">
            <a:avLst/>
          </a:prstGeom>
          <a:solidFill>
            <a:srgbClr val="F0F3F7"/>
          </a:solidFill>
          <a:ln/>
        </p:spPr>
      </p:sp>
      <p:sp>
        <p:nvSpPr>
          <p:cNvPr id="25" name="Text 22"/>
          <p:cNvSpPr txBox="1"/>
          <p:nvPr/>
        </p:nvSpPr>
        <p:spPr>
          <a:xfrm>
            <a:off x="6415888" y="3493008"/>
            <a:ext cx="2179244" cy="365760"/>
          </a:xfrm>
          <a:prstGeom prst="rect">
            <a:avLst/>
          </a:prstGeom>
          <a:noFill/>
          <a:ln/>
        </p:spPr>
        <p:txBody>
          <a:bodyPr wrap="square" lIns="0" tIns="0" rIns="0" bIns="0" rtlCol="0" anchor="t"/>
          <a:lstStyle/>
          <a:p>
            <a:pPr indent="0" marL="0">
              <a:buNone/>
            </a:pPr>
            <a:r>
              <a:rPr lang="en-US" sz="1800" dirty="0">
                <a:solidFill>
                  <a:srgbClr val="18202E"/>
                </a:solidFill>
                <a:latin typeface="Segoe UI Semibold" pitchFamily="34" charset="0"/>
                <a:ea typeface="Segoe UI Semibold" pitchFamily="34" charset="-122"/>
                <a:cs typeface="Segoe UI Semibold" pitchFamily="34" charset="-120"/>
              </a:rPr>
              <a:t>Build pipeline</a:t>
            </a:r>
            <a:endParaRPr lang="en-US" sz="1800" dirty="0"/>
          </a:p>
        </p:txBody>
      </p:sp>
      <p:sp>
        <p:nvSpPr>
          <p:cNvPr id="26" name="Text 23"/>
          <p:cNvSpPr txBox="1"/>
          <p:nvPr/>
        </p:nvSpPr>
        <p:spPr>
          <a:xfrm>
            <a:off x="6415888" y="3931920"/>
            <a:ext cx="2179244" cy="685800"/>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Packages the game for each platform</a:t>
            </a:r>
            <a:endParaRPr lang="en-US" sz="1400" dirty="0"/>
          </a:p>
        </p:txBody>
      </p:sp>
      <p:sp>
        <p:nvSpPr>
          <p:cNvPr id="27" name="Shape 24"/>
          <p:cNvSpPr/>
          <p:nvPr/>
        </p:nvSpPr>
        <p:spPr>
          <a:xfrm>
            <a:off x="9006611" y="3291840"/>
            <a:ext cx="2636444" cy="1463040"/>
          </a:xfrm>
          <a:prstGeom prst="rect">
            <a:avLst/>
          </a:prstGeom>
          <a:solidFill>
            <a:srgbClr val="2354A6"/>
          </a:solidFill>
          <a:ln/>
        </p:spPr>
      </p:sp>
      <p:sp>
        <p:nvSpPr>
          <p:cNvPr id="28" name="Text 25"/>
          <p:cNvSpPr txBox="1"/>
          <p:nvPr/>
        </p:nvSpPr>
        <p:spPr>
          <a:xfrm>
            <a:off x="9235211" y="3493008"/>
            <a:ext cx="2179244" cy="365760"/>
          </a:xfrm>
          <a:prstGeom prst="rect">
            <a:avLst/>
          </a:prstGeom>
          <a:noFill/>
          <a:ln/>
        </p:spPr>
        <p:txBody>
          <a:bodyPr wrap="square" lIns="0" tIns="0" rIns="0" bIns="0" rtlCol="0" anchor="t"/>
          <a:lstStyle/>
          <a:p>
            <a:pPr indent="0" marL="0">
              <a:buNone/>
            </a:pPr>
            <a:r>
              <a:rPr lang="en-US" sz="1800" dirty="0">
                <a:solidFill>
                  <a:srgbClr val="FFFFFF"/>
                </a:solidFill>
                <a:latin typeface="Segoe UI Semibold" pitchFamily="34" charset="0"/>
                <a:ea typeface="Segoe UI Semibold" pitchFamily="34" charset="-122"/>
                <a:cs typeface="Segoe UI Semibold" pitchFamily="34" charset="-120"/>
              </a:rPr>
              <a:t>The editor</a:t>
            </a:r>
            <a:endParaRPr lang="en-US" sz="1800" dirty="0"/>
          </a:p>
        </p:txBody>
      </p:sp>
      <p:sp>
        <p:nvSpPr>
          <p:cNvPr id="29" name="Text 26"/>
          <p:cNvSpPr txBox="1"/>
          <p:nvPr/>
        </p:nvSpPr>
        <p:spPr>
          <a:xfrm>
            <a:off x="9235211" y="3931920"/>
            <a:ext cx="2179244" cy="685800"/>
          </a:xfrm>
          <a:prstGeom prst="rect">
            <a:avLst/>
          </a:prstGeom>
          <a:noFill/>
          <a:ln/>
        </p:spPr>
        <p:txBody>
          <a:bodyPr wrap="square" lIns="0" tIns="0" rIns="0" bIns="0" rtlCol="0" anchor="t"/>
          <a:lstStyle/>
          <a:p>
            <a:pPr indent="0" marL="0">
              <a:buNone/>
            </a:pPr>
            <a:r>
              <a:rPr lang="en-US" sz="1400" dirty="0">
                <a:solidFill>
                  <a:srgbClr val="DDE6F7"/>
                </a:solidFill>
                <a:latin typeface="Segoe UI" pitchFamily="34" charset="0"/>
                <a:ea typeface="Segoe UI" pitchFamily="34" charset="-122"/>
                <a:cs typeface="Segoe UI" pitchFamily="34" charset="-120"/>
              </a:rPr>
              <a:t>Place, tune and preview content without code</a:t>
            </a:r>
            <a:endParaRPr lang="en-US" sz="1400" dirty="0"/>
          </a:p>
        </p:txBody>
      </p:sp>
      <p:sp>
        <p:nvSpPr>
          <p:cNvPr id="30" name="Text 27"/>
          <p:cNvSpPr txBox="1"/>
          <p:nvPr/>
        </p:nvSpPr>
        <p:spPr>
          <a:xfrm>
            <a:off x="548640" y="5120640"/>
            <a:ext cx="11094415" cy="411480"/>
          </a:xfrm>
          <a:prstGeom prst="rect">
            <a:avLst/>
          </a:prstGeom>
          <a:noFill/>
          <a:ln/>
        </p:spPr>
        <p:txBody>
          <a:bodyPr wrap="square" lIns="0" tIns="0" rIns="0" bIns="0" rtlCol="0" anchor="t"/>
          <a:lstStyle/>
          <a:p>
            <a:pPr indent="0" marL="0">
              <a:buNone/>
            </a:pPr>
            <a:r>
              <a:rPr lang="en-US" sz="1900" b="1" dirty="0">
                <a:solidFill>
                  <a:srgbClr val="18202E"/>
                </a:solidFill>
                <a:latin typeface="Segoe UI" pitchFamily="34" charset="0"/>
                <a:ea typeface="Segoe UI" pitchFamily="34" charset="-122"/>
                <a:cs typeface="Segoe UI" pitchFamily="34" charset="-120"/>
              </a:rPr>
              <a:t>Months of work each, and none of it is your game.</a:t>
            </a:r>
            <a:endParaRPr lang="en-US" sz="1900" dirty="0"/>
          </a:p>
        </p:txBody>
      </p:sp>
      <p:sp>
        <p:nvSpPr>
          <p:cNvPr id="31" name="Text 28"/>
          <p:cNvSpPr txBox="1"/>
          <p:nvPr/>
        </p:nvSpPr>
        <p:spPr>
          <a:xfrm>
            <a:off x="548640" y="5577840"/>
            <a:ext cx="11094415" cy="365760"/>
          </a:xfrm>
          <a:prstGeom prst="rect">
            <a:avLst/>
          </a:prstGeom>
          <a:noFill/>
          <a:ln/>
        </p:spPr>
        <p:txBody>
          <a:bodyPr wrap="square" lIns="0" tIns="0" rIns="0" bIns="0" rtlCol="0" anchor="t"/>
          <a:lstStyle/>
          <a:p>
            <a:pPr indent="0" marL="0">
              <a:buNone/>
            </a:pPr>
            <a:r>
              <a:rPr lang="en-US" sz="1500" dirty="0">
                <a:solidFill>
                  <a:srgbClr val="5B6678"/>
                </a:solidFill>
                <a:latin typeface="Segoe UI" pitchFamily="34" charset="0"/>
                <a:ea typeface="Segoe UI" pitchFamily="34" charset="-122"/>
                <a:cs typeface="Segoe UI" pitchFamily="34" charset="-120"/>
              </a:rPr>
              <a:t>The trade: you accept the engine's model of objects, the loop, assets and scenes.</a:t>
            </a:r>
            <a:endParaRPr lang="en-US" sz="15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1 · GAME ENGINES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Library, framework, engine</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2423160"/>
            <a:ext cx="3557930" cy="3200400"/>
          </a:xfrm>
          <a:prstGeom prst="rect">
            <a:avLst/>
          </a:prstGeom>
          <a:solidFill>
            <a:srgbClr val="F0F3F7"/>
          </a:solidFill>
          <a:ln/>
        </p:spPr>
      </p:sp>
      <p:sp>
        <p:nvSpPr>
          <p:cNvPr id="7" name="Text 4"/>
          <p:cNvSpPr txBox="1"/>
          <p:nvPr/>
        </p:nvSpPr>
        <p:spPr>
          <a:xfrm>
            <a:off x="822960" y="2606040"/>
            <a:ext cx="3009290" cy="411480"/>
          </a:xfrm>
          <a:prstGeom prst="rect">
            <a:avLst/>
          </a:prstGeom>
          <a:noFill/>
          <a:ln/>
        </p:spPr>
        <p:txBody>
          <a:bodyPr wrap="square" lIns="0" tIns="0" rIns="0" bIns="0" rtlCol="0" anchor="t"/>
          <a:lstStyle/>
          <a:p>
            <a:pPr indent="0" marL="0">
              <a:buNone/>
            </a:pPr>
            <a:r>
              <a:rPr lang="en-US" sz="2200" dirty="0">
                <a:solidFill>
                  <a:srgbClr val="18202E"/>
                </a:solidFill>
                <a:latin typeface="Segoe UI Semibold" pitchFamily="34" charset="0"/>
                <a:ea typeface="Segoe UI Semibold" pitchFamily="34" charset="-122"/>
                <a:cs typeface="Segoe UI Semibold" pitchFamily="34" charset="-120"/>
              </a:rPr>
              <a:t>Library</a:t>
            </a:r>
            <a:endParaRPr lang="en-US" sz="2200" dirty="0"/>
          </a:p>
        </p:txBody>
      </p:sp>
      <p:sp>
        <p:nvSpPr>
          <p:cNvPr id="8" name="Text 5"/>
          <p:cNvSpPr txBox="1"/>
          <p:nvPr/>
        </p:nvSpPr>
        <p:spPr>
          <a:xfrm>
            <a:off x="822960" y="3108960"/>
            <a:ext cx="3009290" cy="228600"/>
          </a:xfrm>
          <a:prstGeom prst="rect">
            <a:avLst/>
          </a:prstGeom>
          <a:noFill/>
          <a:ln/>
        </p:spPr>
        <p:txBody>
          <a:bodyPr wrap="square" lIns="0" tIns="0" rIns="0" bIns="0" rtlCol="0" anchor="t"/>
          <a:lstStyle/>
          <a:p>
            <a:pPr indent="0" marL="0">
              <a:buNone/>
            </a:pPr>
            <a:r>
              <a:rPr lang="en-US" sz="1000" b="1" spc="120" kern="0" dirty="0">
                <a:solidFill>
                  <a:srgbClr val="5B6678"/>
                </a:solidFill>
                <a:latin typeface="Segoe UI" pitchFamily="34" charset="0"/>
                <a:ea typeface="Segoe UI" pitchFamily="34" charset="-122"/>
                <a:cs typeface="Segoe UI" pitchFamily="34" charset="-120"/>
              </a:rPr>
              <a:t>YOU PROVIDE</a:t>
            </a:r>
            <a:endParaRPr lang="en-US" sz="1000" dirty="0"/>
          </a:p>
        </p:txBody>
      </p:sp>
      <p:sp>
        <p:nvSpPr>
          <p:cNvPr id="9" name="Text 6"/>
          <p:cNvSpPr txBox="1"/>
          <p:nvPr/>
        </p:nvSpPr>
        <p:spPr>
          <a:xfrm>
            <a:off x="822960" y="3328416"/>
            <a:ext cx="3009290" cy="548640"/>
          </a:xfrm>
          <a:prstGeom prst="rect">
            <a:avLst/>
          </a:prstGeom>
          <a:noFill/>
          <a:ln/>
        </p:spPr>
        <p:txBody>
          <a:bodyPr wrap="square" lIns="0" tIns="0" rIns="0" bIns="0" rtlCol="0" anchor="t"/>
          <a:lstStyle/>
          <a:p>
            <a:pPr indent="0" marL="0">
              <a:buNone/>
            </a:pPr>
            <a:r>
              <a:rPr lang="en-US" sz="1400" dirty="0">
                <a:solidFill>
                  <a:srgbClr val="18202E"/>
                </a:solidFill>
                <a:latin typeface="Segoe UI" pitchFamily="34" charset="0"/>
                <a:ea typeface="Segoe UI" pitchFamily="34" charset="-122"/>
                <a:cs typeface="Segoe UI" pitchFamily="34" charset="-120"/>
              </a:rPr>
              <a:t>The whole program, including the loop</a:t>
            </a:r>
            <a:endParaRPr lang="en-US" sz="1400" dirty="0"/>
          </a:p>
        </p:txBody>
      </p:sp>
      <p:sp>
        <p:nvSpPr>
          <p:cNvPr id="10" name="Text 7"/>
          <p:cNvSpPr txBox="1"/>
          <p:nvPr/>
        </p:nvSpPr>
        <p:spPr>
          <a:xfrm>
            <a:off x="822960" y="3931920"/>
            <a:ext cx="3009290" cy="228600"/>
          </a:xfrm>
          <a:prstGeom prst="rect">
            <a:avLst/>
          </a:prstGeom>
          <a:noFill/>
          <a:ln/>
        </p:spPr>
        <p:txBody>
          <a:bodyPr wrap="square" lIns="0" tIns="0" rIns="0" bIns="0" rtlCol="0" anchor="t"/>
          <a:lstStyle/>
          <a:p>
            <a:pPr indent="0" marL="0">
              <a:buNone/>
            </a:pPr>
            <a:r>
              <a:rPr lang="en-US" sz="1000" b="1" spc="120" kern="0" dirty="0">
                <a:solidFill>
                  <a:srgbClr val="5B6678"/>
                </a:solidFill>
                <a:latin typeface="Segoe UI" pitchFamily="34" charset="0"/>
                <a:ea typeface="Segoe UI" pitchFamily="34" charset="-122"/>
                <a:cs typeface="Segoe UI" pitchFamily="34" charset="-120"/>
              </a:rPr>
              <a:t>IT PROVIDES</a:t>
            </a:r>
            <a:endParaRPr lang="en-US" sz="1000" dirty="0"/>
          </a:p>
        </p:txBody>
      </p:sp>
      <p:sp>
        <p:nvSpPr>
          <p:cNvPr id="11" name="Text 8"/>
          <p:cNvSpPr txBox="1"/>
          <p:nvPr/>
        </p:nvSpPr>
        <p:spPr>
          <a:xfrm>
            <a:off x="822960" y="4151376"/>
            <a:ext cx="3009290" cy="548640"/>
          </a:xfrm>
          <a:prstGeom prst="rect">
            <a:avLst/>
          </a:prstGeom>
          <a:noFill/>
          <a:ln/>
        </p:spPr>
        <p:txBody>
          <a:bodyPr wrap="square" lIns="0" tIns="0" rIns="0" bIns="0" rtlCol="0" anchor="t"/>
          <a:lstStyle/>
          <a:p>
            <a:pPr indent="0" marL="0">
              <a:buNone/>
            </a:pPr>
            <a:r>
              <a:rPr lang="en-US" sz="1400" dirty="0">
                <a:solidFill>
                  <a:srgbClr val="18202E"/>
                </a:solidFill>
                <a:latin typeface="Segoe UI" pitchFamily="34" charset="0"/>
                <a:ea typeface="Segoe UI" pitchFamily="34" charset="-122"/>
                <a:cs typeface="Segoe UI" pitchFamily="34" charset="-120"/>
              </a:rPr>
              <a:t>One capability you call into</a:t>
            </a:r>
            <a:endParaRPr lang="en-US" sz="1400" dirty="0"/>
          </a:p>
        </p:txBody>
      </p:sp>
      <p:sp>
        <p:nvSpPr>
          <p:cNvPr id="12" name="Text 9"/>
          <p:cNvSpPr txBox="1"/>
          <p:nvPr/>
        </p:nvSpPr>
        <p:spPr>
          <a:xfrm>
            <a:off x="822960" y="4754880"/>
            <a:ext cx="3009290" cy="228600"/>
          </a:xfrm>
          <a:prstGeom prst="rect">
            <a:avLst/>
          </a:prstGeom>
          <a:noFill/>
          <a:ln/>
        </p:spPr>
        <p:txBody>
          <a:bodyPr wrap="square" lIns="0" tIns="0" rIns="0" bIns="0" rtlCol="0" anchor="t"/>
          <a:lstStyle/>
          <a:p>
            <a:pPr indent="0" marL="0">
              <a:buNone/>
            </a:pPr>
            <a:r>
              <a:rPr lang="en-US" sz="1000" b="1" spc="120" kern="0" dirty="0">
                <a:solidFill>
                  <a:srgbClr val="5B6678"/>
                </a:solidFill>
                <a:latin typeface="Segoe UI" pitchFamily="34" charset="0"/>
                <a:ea typeface="Segoe UI" pitchFamily="34" charset="-122"/>
                <a:cs typeface="Segoe UI" pitchFamily="34" charset="-120"/>
              </a:rPr>
              <a:t>EXAMPLES</a:t>
            </a:r>
            <a:endParaRPr lang="en-US" sz="1000" dirty="0"/>
          </a:p>
        </p:txBody>
      </p:sp>
      <p:sp>
        <p:nvSpPr>
          <p:cNvPr id="13" name="Text 10"/>
          <p:cNvSpPr txBox="1"/>
          <p:nvPr/>
        </p:nvSpPr>
        <p:spPr>
          <a:xfrm>
            <a:off x="822960" y="4974336"/>
            <a:ext cx="3009290" cy="548640"/>
          </a:xfrm>
          <a:prstGeom prst="rect">
            <a:avLst/>
          </a:prstGeom>
          <a:noFill/>
          <a:ln/>
        </p:spPr>
        <p:txBody>
          <a:bodyPr wrap="square" lIns="0" tIns="0" rIns="0" bIns="0" rtlCol="0" anchor="t"/>
          <a:lstStyle/>
          <a:p>
            <a:pPr indent="0" marL="0">
              <a:buNone/>
            </a:pPr>
            <a:r>
              <a:rPr lang="en-US" sz="1400" dirty="0">
                <a:solidFill>
                  <a:srgbClr val="18202E"/>
                </a:solidFill>
                <a:latin typeface="Segoe UI" pitchFamily="34" charset="0"/>
                <a:ea typeface="Segoe UI" pitchFamily="34" charset="-122"/>
                <a:cs typeface="Segoe UI" pitchFamily="34" charset="-120"/>
              </a:rPr>
              <a:t>SDL, OpenGL, FMOD</a:t>
            </a:r>
            <a:endParaRPr lang="en-US" sz="1400" dirty="0"/>
          </a:p>
        </p:txBody>
      </p:sp>
      <p:sp>
        <p:nvSpPr>
          <p:cNvPr id="14" name="Shape 11"/>
          <p:cNvSpPr/>
          <p:nvPr/>
        </p:nvSpPr>
        <p:spPr>
          <a:xfrm>
            <a:off x="4316882" y="1965960"/>
            <a:ext cx="3557930" cy="3657600"/>
          </a:xfrm>
          <a:prstGeom prst="rect">
            <a:avLst/>
          </a:prstGeom>
          <a:solidFill>
            <a:srgbClr val="F0F3F7"/>
          </a:solidFill>
          <a:ln/>
        </p:spPr>
      </p:sp>
      <p:sp>
        <p:nvSpPr>
          <p:cNvPr id="15" name="Text 12"/>
          <p:cNvSpPr txBox="1"/>
          <p:nvPr/>
        </p:nvSpPr>
        <p:spPr>
          <a:xfrm>
            <a:off x="4591202" y="2148840"/>
            <a:ext cx="3009290" cy="411480"/>
          </a:xfrm>
          <a:prstGeom prst="rect">
            <a:avLst/>
          </a:prstGeom>
          <a:noFill/>
          <a:ln/>
        </p:spPr>
        <p:txBody>
          <a:bodyPr wrap="square" lIns="0" tIns="0" rIns="0" bIns="0" rtlCol="0" anchor="t"/>
          <a:lstStyle/>
          <a:p>
            <a:pPr indent="0" marL="0">
              <a:buNone/>
            </a:pPr>
            <a:r>
              <a:rPr lang="en-US" sz="2200" dirty="0">
                <a:solidFill>
                  <a:srgbClr val="18202E"/>
                </a:solidFill>
                <a:latin typeface="Segoe UI Semibold" pitchFamily="34" charset="0"/>
                <a:ea typeface="Segoe UI Semibold" pitchFamily="34" charset="-122"/>
                <a:cs typeface="Segoe UI Semibold" pitchFamily="34" charset="-120"/>
              </a:rPr>
              <a:t>Framework</a:t>
            </a:r>
            <a:endParaRPr lang="en-US" sz="2200" dirty="0"/>
          </a:p>
        </p:txBody>
      </p:sp>
      <p:sp>
        <p:nvSpPr>
          <p:cNvPr id="16" name="Text 13"/>
          <p:cNvSpPr txBox="1"/>
          <p:nvPr/>
        </p:nvSpPr>
        <p:spPr>
          <a:xfrm>
            <a:off x="4591202" y="3108960"/>
            <a:ext cx="3009290" cy="228600"/>
          </a:xfrm>
          <a:prstGeom prst="rect">
            <a:avLst/>
          </a:prstGeom>
          <a:noFill/>
          <a:ln/>
        </p:spPr>
        <p:txBody>
          <a:bodyPr wrap="square" lIns="0" tIns="0" rIns="0" bIns="0" rtlCol="0" anchor="t"/>
          <a:lstStyle/>
          <a:p>
            <a:pPr indent="0" marL="0">
              <a:buNone/>
            </a:pPr>
            <a:r>
              <a:rPr lang="en-US" sz="1000" b="1" spc="120" kern="0" dirty="0">
                <a:solidFill>
                  <a:srgbClr val="5B6678"/>
                </a:solidFill>
                <a:latin typeface="Segoe UI" pitchFamily="34" charset="0"/>
                <a:ea typeface="Segoe UI" pitchFamily="34" charset="-122"/>
                <a:cs typeface="Segoe UI" pitchFamily="34" charset="-120"/>
              </a:rPr>
              <a:t>YOU PROVIDE</a:t>
            </a:r>
            <a:endParaRPr lang="en-US" sz="1000" dirty="0"/>
          </a:p>
        </p:txBody>
      </p:sp>
      <p:sp>
        <p:nvSpPr>
          <p:cNvPr id="17" name="Text 14"/>
          <p:cNvSpPr txBox="1"/>
          <p:nvPr/>
        </p:nvSpPr>
        <p:spPr>
          <a:xfrm>
            <a:off x="4591202" y="3328416"/>
            <a:ext cx="3009290" cy="548640"/>
          </a:xfrm>
          <a:prstGeom prst="rect">
            <a:avLst/>
          </a:prstGeom>
          <a:noFill/>
          <a:ln/>
        </p:spPr>
        <p:txBody>
          <a:bodyPr wrap="square" lIns="0" tIns="0" rIns="0" bIns="0" rtlCol="0" anchor="t"/>
          <a:lstStyle/>
          <a:p>
            <a:pPr indent="0" marL="0">
              <a:buNone/>
            </a:pPr>
            <a:r>
              <a:rPr lang="en-US" sz="1400" dirty="0">
                <a:solidFill>
                  <a:srgbClr val="18202E"/>
                </a:solidFill>
                <a:latin typeface="Segoe UI" pitchFamily="34" charset="0"/>
                <a:ea typeface="Segoe UI" pitchFamily="34" charset="-122"/>
                <a:cs typeface="Segoe UI" pitchFamily="34" charset="-120"/>
              </a:rPr>
              <a:t>Game logic in prescribed hooks</a:t>
            </a:r>
            <a:endParaRPr lang="en-US" sz="1400" dirty="0"/>
          </a:p>
        </p:txBody>
      </p:sp>
      <p:sp>
        <p:nvSpPr>
          <p:cNvPr id="18" name="Text 15"/>
          <p:cNvSpPr txBox="1"/>
          <p:nvPr/>
        </p:nvSpPr>
        <p:spPr>
          <a:xfrm>
            <a:off x="4591202" y="3931920"/>
            <a:ext cx="3009290" cy="228600"/>
          </a:xfrm>
          <a:prstGeom prst="rect">
            <a:avLst/>
          </a:prstGeom>
          <a:noFill/>
          <a:ln/>
        </p:spPr>
        <p:txBody>
          <a:bodyPr wrap="square" lIns="0" tIns="0" rIns="0" bIns="0" rtlCol="0" anchor="t"/>
          <a:lstStyle/>
          <a:p>
            <a:pPr indent="0" marL="0">
              <a:buNone/>
            </a:pPr>
            <a:r>
              <a:rPr lang="en-US" sz="1000" b="1" spc="120" kern="0" dirty="0">
                <a:solidFill>
                  <a:srgbClr val="5B6678"/>
                </a:solidFill>
                <a:latin typeface="Segoe UI" pitchFamily="34" charset="0"/>
                <a:ea typeface="Segoe UI" pitchFamily="34" charset="-122"/>
                <a:cs typeface="Segoe UI" pitchFamily="34" charset="-120"/>
              </a:rPr>
              <a:t>IT PROVIDES</a:t>
            </a:r>
            <a:endParaRPr lang="en-US" sz="1000" dirty="0"/>
          </a:p>
        </p:txBody>
      </p:sp>
      <p:sp>
        <p:nvSpPr>
          <p:cNvPr id="19" name="Text 16"/>
          <p:cNvSpPr txBox="1"/>
          <p:nvPr/>
        </p:nvSpPr>
        <p:spPr>
          <a:xfrm>
            <a:off x="4591202" y="4151376"/>
            <a:ext cx="3009290" cy="548640"/>
          </a:xfrm>
          <a:prstGeom prst="rect">
            <a:avLst/>
          </a:prstGeom>
          <a:noFill/>
          <a:ln/>
        </p:spPr>
        <p:txBody>
          <a:bodyPr wrap="square" lIns="0" tIns="0" rIns="0" bIns="0" rtlCol="0" anchor="t"/>
          <a:lstStyle/>
          <a:p>
            <a:pPr indent="0" marL="0">
              <a:buNone/>
            </a:pPr>
            <a:r>
              <a:rPr lang="en-US" sz="1400" dirty="0">
                <a:solidFill>
                  <a:srgbClr val="18202E"/>
                </a:solidFill>
                <a:latin typeface="Segoe UI" pitchFamily="34" charset="0"/>
                <a:ea typeface="Segoe UI" pitchFamily="34" charset="-122"/>
                <a:cs typeface="Segoe UI" pitchFamily="34" charset="-120"/>
              </a:rPr>
              <a:t>The loop, rendering, input</a:t>
            </a:r>
            <a:endParaRPr lang="en-US" sz="1400" dirty="0"/>
          </a:p>
        </p:txBody>
      </p:sp>
      <p:sp>
        <p:nvSpPr>
          <p:cNvPr id="20" name="Text 17"/>
          <p:cNvSpPr txBox="1"/>
          <p:nvPr/>
        </p:nvSpPr>
        <p:spPr>
          <a:xfrm>
            <a:off x="4591202" y="4754880"/>
            <a:ext cx="3009290" cy="228600"/>
          </a:xfrm>
          <a:prstGeom prst="rect">
            <a:avLst/>
          </a:prstGeom>
          <a:noFill/>
          <a:ln/>
        </p:spPr>
        <p:txBody>
          <a:bodyPr wrap="square" lIns="0" tIns="0" rIns="0" bIns="0" rtlCol="0" anchor="t"/>
          <a:lstStyle/>
          <a:p>
            <a:pPr indent="0" marL="0">
              <a:buNone/>
            </a:pPr>
            <a:r>
              <a:rPr lang="en-US" sz="1000" b="1" spc="120" kern="0" dirty="0">
                <a:solidFill>
                  <a:srgbClr val="5B6678"/>
                </a:solidFill>
                <a:latin typeface="Segoe UI" pitchFamily="34" charset="0"/>
                <a:ea typeface="Segoe UI" pitchFamily="34" charset="-122"/>
                <a:cs typeface="Segoe UI" pitchFamily="34" charset="-120"/>
              </a:rPr>
              <a:t>EXAMPLES</a:t>
            </a:r>
            <a:endParaRPr lang="en-US" sz="1000" dirty="0"/>
          </a:p>
        </p:txBody>
      </p:sp>
      <p:sp>
        <p:nvSpPr>
          <p:cNvPr id="21" name="Text 18"/>
          <p:cNvSpPr txBox="1"/>
          <p:nvPr/>
        </p:nvSpPr>
        <p:spPr>
          <a:xfrm>
            <a:off x="4591202" y="4974336"/>
            <a:ext cx="3009290" cy="548640"/>
          </a:xfrm>
          <a:prstGeom prst="rect">
            <a:avLst/>
          </a:prstGeom>
          <a:noFill/>
          <a:ln/>
        </p:spPr>
        <p:txBody>
          <a:bodyPr wrap="square" lIns="0" tIns="0" rIns="0" bIns="0" rtlCol="0" anchor="t"/>
          <a:lstStyle/>
          <a:p>
            <a:pPr indent="0" marL="0">
              <a:buNone/>
            </a:pPr>
            <a:r>
              <a:rPr lang="en-US" sz="1400" dirty="0">
                <a:solidFill>
                  <a:srgbClr val="18202E"/>
                </a:solidFill>
                <a:latin typeface="Segoe UI" pitchFamily="34" charset="0"/>
                <a:ea typeface="Segoe UI" pitchFamily="34" charset="-122"/>
                <a:cs typeface="Segoe UI" pitchFamily="34" charset="-120"/>
              </a:rPr>
              <a:t>MonoGame, LibGDX, raylib</a:t>
            </a:r>
            <a:endParaRPr lang="en-US" sz="1400" dirty="0"/>
          </a:p>
        </p:txBody>
      </p:sp>
      <p:sp>
        <p:nvSpPr>
          <p:cNvPr id="22" name="Shape 19"/>
          <p:cNvSpPr/>
          <p:nvPr/>
        </p:nvSpPr>
        <p:spPr>
          <a:xfrm>
            <a:off x="8085125" y="1508760"/>
            <a:ext cx="3557930" cy="4114800"/>
          </a:xfrm>
          <a:prstGeom prst="rect">
            <a:avLst/>
          </a:prstGeom>
          <a:solidFill>
            <a:srgbClr val="E9EFF9"/>
          </a:solidFill>
          <a:ln/>
        </p:spPr>
      </p:sp>
      <p:sp>
        <p:nvSpPr>
          <p:cNvPr id="23" name="Text 20"/>
          <p:cNvSpPr txBox="1"/>
          <p:nvPr/>
        </p:nvSpPr>
        <p:spPr>
          <a:xfrm>
            <a:off x="8359445" y="1691640"/>
            <a:ext cx="3009290" cy="411480"/>
          </a:xfrm>
          <a:prstGeom prst="rect">
            <a:avLst/>
          </a:prstGeom>
          <a:noFill/>
          <a:ln/>
        </p:spPr>
        <p:txBody>
          <a:bodyPr wrap="square" lIns="0" tIns="0" rIns="0" bIns="0" rtlCol="0" anchor="t"/>
          <a:lstStyle/>
          <a:p>
            <a:pPr indent="0" marL="0">
              <a:buNone/>
            </a:pPr>
            <a:r>
              <a:rPr lang="en-US" sz="2200" dirty="0">
                <a:solidFill>
                  <a:srgbClr val="2354A6"/>
                </a:solidFill>
                <a:latin typeface="Segoe UI Semibold" pitchFamily="34" charset="0"/>
                <a:ea typeface="Segoe UI Semibold" pitchFamily="34" charset="-122"/>
                <a:cs typeface="Segoe UI Semibold" pitchFamily="34" charset="-120"/>
              </a:rPr>
              <a:t>Engine</a:t>
            </a:r>
            <a:endParaRPr lang="en-US" sz="2200" dirty="0"/>
          </a:p>
        </p:txBody>
      </p:sp>
      <p:sp>
        <p:nvSpPr>
          <p:cNvPr id="24" name="Text 21"/>
          <p:cNvSpPr txBox="1"/>
          <p:nvPr/>
        </p:nvSpPr>
        <p:spPr>
          <a:xfrm>
            <a:off x="8359445" y="3108960"/>
            <a:ext cx="3009290" cy="228600"/>
          </a:xfrm>
          <a:prstGeom prst="rect">
            <a:avLst/>
          </a:prstGeom>
          <a:noFill/>
          <a:ln/>
        </p:spPr>
        <p:txBody>
          <a:bodyPr wrap="square" lIns="0" tIns="0" rIns="0" bIns="0" rtlCol="0" anchor="t"/>
          <a:lstStyle/>
          <a:p>
            <a:pPr indent="0" marL="0">
              <a:buNone/>
            </a:pPr>
            <a:r>
              <a:rPr lang="en-US" sz="1000" b="1" spc="120" kern="0" dirty="0">
                <a:solidFill>
                  <a:srgbClr val="5B6678"/>
                </a:solidFill>
                <a:latin typeface="Segoe UI" pitchFamily="34" charset="0"/>
                <a:ea typeface="Segoe UI" pitchFamily="34" charset="-122"/>
                <a:cs typeface="Segoe UI" pitchFamily="34" charset="-120"/>
              </a:rPr>
              <a:t>YOU PROVIDE</a:t>
            </a:r>
            <a:endParaRPr lang="en-US" sz="1000" dirty="0"/>
          </a:p>
        </p:txBody>
      </p:sp>
      <p:sp>
        <p:nvSpPr>
          <p:cNvPr id="25" name="Text 22"/>
          <p:cNvSpPr txBox="1"/>
          <p:nvPr/>
        </p:nvSpPr>
        <p:spPr>
          <a:xfrm>
            <a:off x="8359445" y="3328416"/>
            <a:ext cx="3009290" cy="548640"/>
          </a:xfrm>
          <a:prstGeom prst="rect">
            <a:avLst/>
          </a:prstGeom>
          <a:noFill/>
          <a:ln/>
        </p:spPr>
        <p:txBody>
          <a:bodyPr wrap="square" lIns="0" tIns="0" rIns="0" bIns="0" rtlCol="0" anchor="t"/>
          <a:lstStyle/>
          <a:p>
            <a:pPr indent="0" marL="0">
              <a:buNone/>
            </a:pPr>
            <a:r>
              <a:rPr lang="en-US" sz="1400" dirty="0">
                <a:solidFill>
                  <a:srgbClr val="18202E"/>
                </a:solidFill>
                <a:latin typeface="Segoe UI" pitchFamily="34" charset="0"/>
                <a:ea typeface="Segoe UI" pitchFamily="34" charset="-122"/>
                <a:cs typeface="Segoe UI" pitchFamily="34" charset="-120"/>
              </a:rPr>
              <a:t>Game logic and content, made in an editor</a:t>
            </a:r>
            <a:endParaRPr lang="en-US" sz="1400" dirty="0"/>
          </a:p>
        </p:txBody>
      </p:sp>
      <p:sp>
        <p:nvSpPr>
          <p:cNvPr id="26" name="Text 23"/>
          <p:cNvSpPr txBox="1"/>
          <p:nvPr/>
        </p:nvSpPr>
        <p:spPr>
          <a:xfrm>
            <a:off x="8359445" y="3931920"/>
            <a:ext cx="3009290" cy="228600"/>
          </a:xfrm>
          <a:prstGeom prst="rect">
            <a:avLst/>
          </a:prstGeom>
          <a:noFill/>
          <a:ln/>
        </p:spPr>
        <p:txBody>
          <a:bodyPr wrap="square" lIns="0" tIns="0" rIns="0" bIns="0" rtlCol="0" anchor="t"/>
          <a:lstStyle/>
          <a:p>
            <a:pPr indent="0" marL="0">
              <a:buNone/>
            </a:pPr>
            <a:r>
              <a:rPr lang="en-US" sz="1000" b="1" spc="120" kern="0" dirty="0">
                <a:solidFill>
                  <a:srgbClr val="5B6678"/>
                </a:solidFill>
                <a:latin typeface="Segoe UI" pitchFamily="34" charset="0"/>
                <a:ea typeface="Segoe UI" pitchFamily="34" charset="-122"/>
                <a:cs typeface="Segoe UI" pitchFamily="34" charset="-120"/>
              </a:rPr>
              <a:t>IT PROVIDES</a:t>
            </a:r>
            <a:endParaRPr lang="en-US" sz="1000" dirty="0"/>
          </a:p>
        </p:txBody>
      </p:sp>
      <p:sp>
        <p:nvSpPr>
          <p:cNvPr id="27" name="Text 24"/>
          <p:cNvSpPr txBox="1"/>
          <p:nvPr/>
        </p:nvSpPr>
        <p:spPr>
          <a:xfrm>
            <a:off x="8359445" y="4151376"/>
            <a:ext cx="3009290" cy="548640"/>
          </a:xfrm>
          <a:prstGeom prst="rect">
            <a:avLst/>
          </a:prstGeom>
          <a:noFill/>
          <a:ln/>
        </p:spPr>
        <p:txBody>
          <a:bodyPr wrap="square" lIns="0" tIns="0" rIns="0" bIns="0" rtlCol="0" anchor="t"/>
          <a:lstStyle/>
          <a:p>
            <a:pPr indent="0" marL="0">
              <a:buNone/>
            </a:pPr>
            <a:r>
              <a:rPr lang="en-US" sz="1400" dirty="0">
                <a:solidFill>
                  <a:srgbClr val="18202E"/>
                </a:solidFill>
                <a:latin typeface="Segoe UI" pitchFamily="34" charset="0"/>
                <a:ea typeface="Segoe UI" pitchFamily="34" charset="-122"/>
                <a:cs typeface="Segoe UI" pitchFamily="34" charset="-120"/>
              </a:rPr>
              <a:t>All of that, plus an editor, an asset pipeline and builds</a:t>
            </a:r>
            <a:endParaRPr lang="en-US" sz="1400" dirty="0"/>
          </a:p>
        </p:txBody>
      </p:sp>
      <p:sp>
        <p:nvSpPr>
          <p:cNvPr id="28" name="Text 25"/>
          <p:cNvSpPr txBox="1"/>
          <p:nvPr/>
        </p:nvSpPr>
        <p:spPr>
          <a:xfrm>
            <a:off x="8359445" y="4754880"/>
            <a:ext cx="3009290" cy="228600"/>
          </a:xfrm>
          <a:prstGeom prst="rect">
            <a:avLst/>
          </a:prstGeom>
          <a:noFill/>
          <a:ln/>
        </p:spPr>
        <p:txBody>
          <a:bodyPr wrap="square" lIns="0" tIns="0" rIns="0" bIns="0" rtlCol="0" anchor="t"/>
          <a:lstStyle/>
          <a:p>
            <a:pPr indent="0" marL="0">
              <a:buNone/>
            </a:pPr>
            <a:r>
              <a:rPr lang="en-US" sz="1000" b="1" spc="120" kern="0" dirty="0">
                <a:solidFill>
                  <a:srgbClr val="5B6678"/>
                </a:solidFill>
                <a:latin typeface="Segoe UI" pitchFamily="34" charset="0"/>
                <a:ea typeface="Segoe UI" pitchFamily="34" charset="-122"/>
                <a:cs typeface="Segoe UI" pitchFamily="34" charset="-120"/>
              </a:rPr>
              <a:t>EXAMPLES</a:t>
            </a:r>
            <a:endParaRPr lang="en-US" sz="1000" dirty="0"/>
          </a:p>
        </p:txBody>
      </p:sp>
      <p:sp>
        <p:nvSpPr>
          <p:cNvPr id="29" name="Text 26"/>
          <p:cNvSpPr txBox="1"/>
          <p:nvPr/>
        </p:nvSpPr>
        <p:spPr>
          <a:xfrm>
            <a:off x="8359445" y="4974336"/>
            <a:ext cx="3009290" cy="548640"/>
          </a:xfrm>
          <a:prstGeom prst="rect">
            <a:avLst/>
          </a:prstGeom>
          <a:noFill/>
          <a:ln/>
        </p:spPr>
        <p:txBody>
          <a:bodyPr wrap="square" lIns="0" tIns="0" rIns="0" bIns="0" rtlCol="0" anchor="t"/>
          <a:lstStyle/>
          <a:p>
            <a:pPr indent="0" marL="0">
              <a:buNone/>
            </a:pPr>
            <a:r>
              <a:rPr lang="en-US" sz="1400" dirty="0">
                <a:solidFill>
                  <a:srgbClr val="18202E"/>
                </a:solidFill>
                <a:latin typeface="Segoe UI" pitchFamily="34" charset="0"/>
                <a:ea typeface="Segoe UI" pitchFamily="34" charset="-122"/>
                <a:cs typeface="Segoe UI" pitchFamily="34" charset="-120"/>
              </a:rPr>
              <a:t>Unity, Godot, Unreal</a:t>
            </a:r>
            <a:endParaRPr lang="en-US" sz="1400" dirty="0"/>
          </a:p>
        </p:txBody>
      </p:sp>
      <p:sp>
        <p:nvSpPr>
          <p:cNvPr id="30" name="Text 27"/>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500" dirty="0">
                <a:solidFill>
                  <a:srgbClr val="364255"/>
                </a:solidFill>
                <a:latin typeface="Segoe UI" pitchFamily="34" charset="0"/>
                <a:ea typeface="Segoe UI" pitchFamily="34" charset="-122"/>
                <a:cs typeface="Segoe UI" pitchFamily="34" charset="-120"/>
              </a:rPr>
              <a:t>The editor is what makes an engine: in Unity, learning the editor is learning the tool.</a:t>
            </a:r>
            <a:endParaRPr lang="en-US" sz="15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1 · GAME ENGINES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Unity in three facts</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Text 3"/>
          <p:cNvSpPr txBox="1"/>
          <p:nvPr/>
        </p:nvSpPr>
        <p:spPr>
          <a:xfrm>
            <a:off x="548640" y="1609344"/>
            <a:ext cx="502920" cy="502920"/>
          </a:xfrm>
          <a:prstGeom prst="rect">
            <a:avLst/>
          </a:prstGeom>
          <a:noFill/>
          <a:ln/>
        </p:spPr>
        <p:txBody>
          <a:bodyPr wrap="square" lIns="0" tIns="0" rIns="0" bIns="0" rtlCol="0" anchor="t"/>
          <a:lstStyle/>
          <a:p>
            <a:pPr indent="0" marL="0">
              <a:buNone/>
            </a:pPr>
            <a:r>
              <a:rPr lang="en-US" sz="2800" b="1" dirty="0">
                <a:solidFill>
                  <a:srgbClr val="2354A6"/>
                </a:solidFill>
                <a:latin typeface="Consolas" pitchFamily="34" charset="0"/>
                <a:ea typeface="Consolas" pitchFamily="34" charset="-122"/>
                <a:cs typeface="Consolas" pitchFamily="34" charset="-120"/>
              </a:rPr>
              <a:t>1</a:t>
            </a:r>
            <a:endParaRPr lang="en-US" sz="2800" dirty="0"/>
          </a:p>
        </p:txBody>
      </p:sp>
      <p:sp>
        <p:nvSpPr>
          <p:cNvPr id="7" name="Text 4"/>
          <p:cNvSpPr txBox="1"/>
          <p:nvPr/>
        </p:nvSpPr>
        <p:spPr>
          <a:xfrm>
            <a:off x="1188720" y="1645920"/>
            <a:ext cx="10424160" cy="384048"/>
          </a:xfrm>
          <a:prstGeom prst="rect">
            <a:avLst/>
          </a:prstGeom>
          <a:noFill/>
          <a:ln/>
        </p:spPr>
        <p:txBody>
          <a:bodyPr wrap="square" lIns="0" tIns="0" rIns="0" bIns="0" rtlCol="0" anchor="t"/>
          <a:lstStyle/>
          <a:p>
            <a:pPr indent="0" marL="0">
              <a:buNone/>
            </a:pPr>
            <a:r>
              <a:rPr lang="en-US" sz="2100" dirty="0">
                <a:solidFill>
                  <a:srgbClr val="18202E"/>
                </a:solidFill>
                <a:latin typeface="Segoe UI Semibold" pitchFamily="34" charset="0"/>
                <a:ea typeface="Segoe UI Semibold" pitchFamily="34" charset="-122"/>
                <a:cs typeface="Segoe UI Semibold" pitchFamily="34" charset="-120"/>
              </a:rPr>
              <a:t>A C++ core runs your C# scripts</a:t>
            </a:r>
            <a:endParaRPr lang="en-US" sz="2100" dirty="0"/>
          </a:p>
        </p:txBody>
      </p:sp>
      <p:sp>
        <p:nvSpPr>
          <p:cNvPr id="8" name="Text 5"/>
          <p:cNvSpPr txBox="1"/>
          <p:nvPr/>
        </p:nvSpPr>
        <p:spPr>
          <a:xfrm>
            <a:off x="1188720" y="2066544"/>
            <a:ext cx="10058400" cy="640080"/>
          </a:xfrm>
          <a:prstGeom prst="rect">
            <a:avLst/>
          </a:prstGeom>
          <a:noFill/>
          <a:ln/>
        </p:spPr>
        <p:txBody>
          <a:bodyPr wrap="square" lIns="0" tIns="0" rIns="0" bIns="0" rtlCol="0" anchor="t"/>
          <a:lstStyle/>
          <a:p>
            <a:pPr indent="0" marL="0">
              <a:buNone/>
            </a:pPr>
            <a:r>
              <a:rPr lang="en-US" sz="1600" dirty="0">
                <a:solidFill>
                  <a:srgbClr val="364255"/>
                </a:solidFill>
                <a:latin typeface="Segoe UI" pitchFamily="34" charset="0"/>
                <a:ea typeface="Segoe UI" pitchFamily="34" charset="-122"/>
                <a:cs typeface="Segoe UI" pitchFamily="34" charset="-120"/>
              </a:rPr>
              <a:t>Rendering, physics and the loop are native code. Your scripts are guests the engine calls on schedule; every </a:t>
            </a:r>
            <a:pPr indent="0" marL="0">
              <a:buNone/>
            </a:pPr>
            <a:r>
              <a:rPr lang="en-US" sz="1600" dirty="0">
                <a:solidFill>
                  <a:srgbClr val="364255"/>
                </a:solidFill>
                <a:latin typeface="Consolas" pitchFamily="34" charset="0"/>
                <a:ea typeface="Consolas" pitchFamily="34" charset="-122"/>
                <a:cs typeface="Consolas" pitchFamily="34" charset="-120"/>
              </a:rPr>
              <a:t>transform.position</a:t>
            </a:r>
            <a:pPr indent="0" marL="0">
              <a:buNone/>
            </a:pPr>
            <a:r>
              <a:rPr lang="en-US" sz="1600" dirty="0">
                <a:solidFill>
                  <a:srgbClr val="364255"/>
                </a:solidFill>
                <a:latin typeface="Segoe UI" pitchFamily="34" charset="0"/>
                <a:ea typeface="Segoe UI" pitchFamily="34" charset="-122"/>
                <a:cs typeface="Segoe UI" pitchFamily="34" charset="-120"/>
              </a:rPr>
              <a:t> crosses that border.</a:t>
            </a:r>
            <a:endParaRPr lang="en-US" sz="1600" dirty="0"/>
          </a:p>
        </p:txBody>
      </p:sp>
      <p:sp>
        <p:nvSpPr>
          <p:cNvPr id="9" name="Text 6"/>
          <p:cNvSpPr txBox="1"/>
          <p:nvPr/>
        </p:nvSpPr>
        <p:spPr>
          <a:xfrm>
            <a:off x="548640" y="2843784"/>
            <a:ext cx="502920" cy="502920"/>
          </a:xfrm>
          <a:prstGeom prst="rect">
            <a:avLst/>
          </a:prstGeom>
          <a:noFill/>
          <a:ln/>
        </p:spPr>
        <p:txBody>
          <a:bodyPr wrap="square" lIns="0" tIns="0" rIns="0" bIns="0" rtlCol="0" anchor="t"/>
          <a:lstStyle/>
          <a:p>
            <a:pPr indent="0" marL="0">
              <a:buNone/>
            </a:pPr>
            <a:r>
              <a:rPr lang="en-US" sz="2800" b="1" dirty="0">
                <a:solidFill>
                  <a:srgbClr val="2354A6"/>
                </a:solidFill>
                <a:latin typeface="Consolas" pitchFamily="34" charset="0"/>
                <a:ea typeface="Consolas" pitchFamily="34" charset="-122"/>
                <a:cs typeface="Consolas" pitchFamily="34" charset="-120"/>
              </a:rPr>
              <a:t>2</a:t>
            </a:r>
            <a:endParaRPr lang="en-US" sz="2800" dirty="0"/>
          </a:p>
        </p:txBody>
      </p:sp>
      <p:sp>
        <p:nvSpPr>
          <p:cNvPr id="10" name="Text 7"/>
          <p:cNvSpPr txBox="1"/>
          <p:nvPr/>
        </p:nvSpPr>
        <p:spPr>
          <a:xfrm>
            <a:off x="1188720" y="2880360"/>
            <a:ext cx="10424160" cy="384048"/>
          </a:xfrm>
          <a:prstGeom prst="rect">
            <a:avLst/>
          </a:prstGeom>
          <a:noFill/>
          <a:ln/>
        </p:spPr>
        <p:txBody>
          <a:bodyPr wrap="square" lIns="0" tIns="0" rIns="0" bIns="0" rtlCol="0" anchor="t"/>
          <a:lstStyle/>
          <a:p>
            <a:pPr indent="0" marL="0">
              <a:buNone/>
            </a:pPr>
            <a:r>
              <a:rPr lang="en-US" sz="2100" dirty="0">
                <a:solidFill>
                  <a:srgbClr val="18202E"/>
                </a:solidFill>
                <a:latin typeface="Segoe UI Semibold" pitchFamily="34" charset="0"/>
                <a:ea typeface="Segoe UI Semibold" pitchFamily="34" charset="-122"/>
                <a:cs typeface="Segoe UI Semibold" pitchFamily="34" charset="-120"/>
              </a:rPr>
              <a:t>The editor is the primary interface</a:t>
            </a:r>
            <a:endParaRPr lang="en-US" sz="2100" dirty="0"/>
          </a:p>
        </p:txBody>
      </p:sp>
      <p:sp>
        <p:nvSpPr>
          <p:cNvPr id="11" name="Text 8"/>
          <p:cNvSpPr txBox="1"/>
          <p:nvPr/>
        </p:nvSpPr>
        <p:spPr>
          <a:xfrm>
            <a:off x="1188720" y="3300984"/>
            <a:ext cx="10058400" cy="640080"/>
          </a:xfrm>
          <a:prstGeom prst="rect">
            <a:avLst/>
          </a:prstGeom>
          <a:noFill/>
          <a:ln/>
        </p:spPr>
        <p:txBody>
          <a:bodyPr wrap="square" lIns="0" tIns="0" rIns="0" bIns="0" rtlCol="0" anchor="t"/>
          <a:lstStyle/>
          <a:p>
            <a:pPr indent="0" marL="0">
              <a:buNone/>
            </a:pPr>
            <a:r>
              <a:rPr lang="en-US" sz="1600" dirty="0">
                <a:solidFill>
                  <a:srgbClr val="364255"/>
                </a:solidFill>
                <a:latin typeface="Segoe UI" pitchFamily="34" charset="0"/>
                <a:ea typeface="Segoe UI" pitchFamily="34" charset="-122"/>
                <a:cs typeface="Segoe UI" pitchFamily="34" charset="-120"/>
              </a:rPr>
              <a:t>A project is an asset database with some code attached: structure and configuration in the editor, behavior in code.</a:t>
            </a:r>
            <a:endParaRPr lang="en-US" sz="1600" dirty="0"/>
          </a:p>
        </p:txBody>
      </p:sp>
      <p:sp>
        <p:nvSpPr>
          <p:cNvPr id="12" name="Text 9"/>
          <p:cNvSpPr txBox="1"/>
          <p:nvPr/>
        </p:nvSpPr>
        <p:spPr>
          <a:xfrm>
            <a:off x="548640" y="4078224"/>
            <a:ext cx="502920" cy="502920"/>
          </a:xfrm>
          <a:prstGeom prst="rect">
            <a:avLst/>
          </a:prstGeom>
          <a:noFill/>
          <a:ln/>
        </p:spPr>
        <p:txBody>
          <a:bodyPr wrap="square" lIns="0" tIns="0" rIns="0" bIns="0" rtlCol="0" anchor="t"/>
          <a:lstStyle/>
          <a:p>
            <a:pPr indent="0" marL="0">
              <a:buNone/>
            </a:pPr>
            <a:r>
              <a:rPr lang="en-US" sz="2800" b="1" dirty="0">
                <a:solidFill>
                  <a:srgbClr val="2354A6"/>
                </a:solidFill>
                <a:latin typeface="Consolas" pitchFamily="34" charset="0"/>
                <a:ea typeface="Consolas" pitchFamily="34" charset="-122"/>
                <a:cs typeface="Consolas" pitchFamily="34" charset="-120"/>
              </a:rPr>
              <a:t>3</a:t>
            </a:r>
            <a:endParaRPr lang="en-US" sz="2800" dirty="0"/>
          </a:p>
        </p:txBody>
      </p:sp>
      <p:sp>
        <p:nvSpPr>
          <p:cNvPr id="13" name="Text 10"/>
          <p:cNvSpPr txBox="1"/>
          <p:nvPr/>
        </p:nvSpPr>
        <p:spPr>
          <a:xfrm>
            <a:off x="1188720" y="4114800"/>
            <a:ext cx="10424160" cy="384048"/>
          </a:xfrm>
          <a:prstGeom prst="rect">
            <a:avLst/>
          </a:prstGeom>
          <a:noFill/>
          <a:ln/>
        </p:spPr>
        <p:txBody>
          <a:bodyPr wrap="square" lIns="0" tIns="0" rIns="0" bIns="0" rtlCol="0" anchor="t"/>
          <a:lstStyle/>
          <a:p>
            <a:pPr indent="0" marL="0">
              <a:buNone/>
            </a:pPr>
            <a:r>
              <a:rPr lang="en-US" sz="2100" dirty="0">
                <a:solidFill>
                  <a:srgbClr val="18202E"/>
                </a:solidFill>
                <a:latin typeface="Segoe UI Semibold" pitchFamily="34" charset="0"/>
                <a:ea typeface="Segoe UI Semibold" pitchFamily="34" charset="-122"/>
                <a:cs typeface="Segoe UI Semibold" pitchFamily="34" charset="-120"/>
              </a:rPr>
              <a:t>A 2D game is a flat plane in a 3D world</a:t>
            </a:r>
            <a:endParaRPr lang="en-US" sz="2100" dirty="0"/>
          </a:p>
        </p:txBody>
      </p:sp>
      <p:sp>
        <p:nvSpPr>
          <p:cNvPr id="14" name="Text 11"/>
          <p:cNvSpPr txBox="1"/>
          <p:nvPr/>
        </p:nvSpPr>
        <p:spPr>
          <a:xfrm>
            <a:off x="1188720" y="4535424"/>
            <a:ext cx="10058400" cy="640080"/>
          </a:xfrm>
          <a:prstGeom prst="rect">
            <a:avLst/>
          </a:prstGeom>
          <a:noFill/>
          <a:ln/>
        </p:spPr>
        <p:txBody>
          <a:bodyPr wrap="square" lIns="0" tIns="0" rIns="0" bIns="0" rtlCol="0" anchor="t"/>
          <a:lstStyle/>
          <a:p>
            <a:pPr indent="0" marL="0">
              <a:buNone/>
            </a:pPr>
            <a:r>
              <a:rPr lang="en-US" sz="1600" dirty="0">
                <a:solidFill>
                  <a:srgbClr val="364255"/>
                </a:solidFill>
                <a:latin typeface="Segoe UI" pitchFamily="34" charset="0"/>
                <a:ea typeface="Segoe UI" pitchFamily="34" charset="-122"/>
                <a:cs typeface="Segoe UI" pitchFamily="34" charset="-120"/>
              </a:rPr>
              <a:t>Every position is a Vector3, the camera is orthographic, and draw order is set explicitly. What you learn here carries over to 3D.</a:t>
            </a:r>
            <a:endParaRPr lang="en-US" sz="1600" dirty="0"/>
          </a:p>
        </p:txBody>
      </p:sp>
      <p:sp>
        <p:nvSpPr>
          <p:cNvPr id="15" name="Text 12"/>
          <p:cNvSpPr txBox="1"/>
          <p:nvPr/>
        </p:nvSpPr>
        <p:spPr>
          <a:xfrm>
            <a:off x="548640" y="5577840"/>
            <a:ext cx="11094415" cy="365760"/>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Also worth knowing: Godot (open source, strong 2D)  ·  Unreal (high-end 3D)  ·  GameMaker (2D only)</a:t>
            </a:r>
            <a:endParaRPr lang="en-US" sz="14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2 · THE EDITOR</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Six windows, six questions</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00200"/>
            <a:ext cx="7498080" cy="365760"/>
          </a:xfrm>
          <a:prstGeom prst="rect">
            <a:avLst/>
          </a:prstGeom>
          <a:solidFill>
            <a:srgbClr val="E3E8EF"/>
          </a:solidFill>
          <a:ln/>
        </p:spPr>
      </p:sp>
      <p:sp>
        <p:nvSpPr>
          <p:cNvPr id="7" name="Text 4"/>
          <p:cNvSpPr txBox="1"/>
          <p:nvPr/>
        </p:nvSpPr>
        <p:spPr>
          <a:xfrm>
            <a:off x="548640" y="1600200"/>
            <a:ext cx="7498080" cy="365760"/>
          </a:xfrm>
          <a:prstGeom prst="rect">
            <a:avLst/>
          </a:prstGeom>
          <a:noFill/>
          <a:ln/>
        </p:spPr>
        <p:txBody>
          <a:bodyPr wrap="square" lIns="0" tIns="0" rIns="0" bIns="0" rtlCol="0" anchor="ctr"/>
          <a:lstStyle/>
          <a:p>
            <a:pPr algn="ctr" indent="0" marL="0">
              <a:buNone/>
            </a:pPr>
            <a:r>
              <a:rPr lang="en-US" sz="1200" dirty="0">
                <a:solidFill>
                  <a:srgbClr val="5B6678"/>
                </a:solidFill>
                <a:latin typeface="Segoe UI" pitchFamily="34" charset="0"/>
                <a:ea typeface="Segoe UI" pitchFamily="34" charset="-122"/>
                <a:cs typeface="Segoe UI" pitchFamily="34" charset="-120"/>
              </a:rPr>
              <a:t>Toolbar:  Play  ·  Pause  ·  Step</a:t>
            </a:r>
            <a:endParaRPr lang="en-US" sz="1200" dirty="0"/>
          </a:p>
        </p:txBody>
      </p:sp>
      <p:sp>
        <p:nvSpPr>
          <p:cNvPr id="8" name="Shape 5"/>
          <p:cNvSpPr/>
          <p:nvPr/>
        </p:nvSpPr>
        <p:spPr>
          <a:xfrm>
            <a:off x="548640" y="2039112"/>
            <a:ext cx="1920240" cy="2697480"/>
          </a:xfrm>
          <a:prstGeom prst="rect">
            <a:avLst/>
          </a:prstGeom>
          <a:solidFill>
            <a:srgbClr val="E9EFF9"/>
          </a:solidFill>
          <a:ln/>
        </p:spPr>
      </p:sp>
      <p:sp>
        <p:nvSpPr>
          <p:cNvPr id="9" name="Text 6"/>
          <p:cNvSpPr txBox="1"/>
          <p:nvPr/>
        </p:nvSpPr>
        <p:spPr>
          <a:xfrm>
            <a:off x="731520" y="2203704"/>
            <a:ext cx="1554480" cy="347472"/>
          </a:xfrm>
          <a:prstGeom prst="rect">
            <a:avLst/>
          </a:prstGeom>
          <a:noFill/>
          <a:ln/>
        </p:spPr>
        <p:txBody>
          <a:bodyPr wrap="square" lIns="0" tIns="0" rIns="0" bIns="0" rtlCol="0" anchor="t"/>
          <a:lstStyle/>
          <a:p>
            <a:pPr indent="0" marL="0">
              <a:buNone/>
            </a:pPr>
            <a:r>
              <a:rPr lang="en-US" sz="1700" dirty="0">
                <a:solidFill>
                  <a:srgbClr val="18202E"/>
                </a:solidFill>
                <a:latin typeface="Segoe UI Semibold" pitchFamily="34" charset="0"/>
                <a:ea typeface="Segoe UI Semibold" pitchFamily="34" charset="-122"/>
                <a:cs typeface="Segoe UI Semibold" pitchFamily="34" charset="-120"/>
              </a:rPr>
              <a:t>Hierarchy</a:t>
            </a:r>
            <a:endParaRPr lang="en-US" sz="1700" dirty="0"/>
          </a:p>
        </p:txBody>
      </p:sp>
      <p:sp>
        <p:nvSpPr>
          <p:cNvPr id="10" name="Text 7"/>
          <p:cNvSpPr txBox="1"/>
          <p:nvPr/>
        </p:nvSpPr>
        <p:spPr>
          <a:xfrm>
            <a:off x="731520" y="2587752"/>
            <a:ext cx="1554480" cy="2011680"/>
          </a:xfrm>
          <a:prstGeom prst="rect">
            <a:avLst/>
          </a:prstGeom>
          <a:noFill/>
          <a:ln/>
        </p:spPr>
        <p:txBody>
          <a:bodyPr wrap="square" lIns="0" tIns="0" rIns="0" bIns="0" rtlCol="0" anchor="t"/>
          <a:lstStyle/>
          <a:p>
            <a:pPr indent="0" marL="0">
              <a:buNone/>
            </a:pPr>
            <a:r>
              <a:rPr lang="en-US" sz="1400" dirty="0">
                <a:solidFill>
                  <a:srgbClr val="364255"/>
                </a:solidFill>
                <a:latin typeface="Segoe UI" pitchFamily="34" charset="0"/>
                <a:ea typeface="Segoe UI" pitchFamily="34" charset="-122"/>
                <a:cs typeface="Segoe UI" pitchFamily="34" charset="-120"/>
              </a:rPr>
              <a:t>What objects are in the open scene?</a:t>
            </a:r>
            <a:endParaRPr lang="en-US" sz="1400" dirty="0"/>
          </a:p>
        </p:txBody>
      </p:sp>
      <p:sp>
        <p:nvSpPr>
          <p:cNvPr id="11" name="Shape 8"/>
          <p:cNvSpPr/>
          <p:nvPr/>
        </p:nvSpPr>
        <p:spPr>
          <a:xfrm>
            <a:off x="2542032" y="2039112"/>
            <a:ext cx="3511296" cy="2697480"/>
          </a:xfrm>
          <a:prstGeom prst="rect">
            <a:avLst/>
          </a:prstGeom>
          <a:solidFill>
            <a:srgbClr val="F0F3F7"/>
          </a:solidFill>
          <a:ln/>
        </p:spPr>
      </p:sp>
      <p:sp>
        <p:nvSpPr>
          <p:cNvPr id="12" name="Text 9"/>
          <p:cNvSpPr txBox="1"/>
          <p:nvPr/>
        </p:nvSpPr>
        <p:spPr>
          <a:xfrm>
            <a:off x="2724912" y="2203704"/>
            <a:ext cx="3145536" cy="347472"/>
          </a:xfrm>
          <a:prstGeom prst="rect">
            <a:avLst/>
          </a:prstGeom>
          <a:noFill/>
          <a:ln/>
        </p:spPr>
        <p:txBody>
          <a:bodyPr wrap="square" lIns="0" tIns="0" rIns="0" bIns="0" rtlCol="0" anchor="t"/>
          <a:lstStyle/>
          <a:p>
            <a:pPr indent="0" marL="0">
              <a:buNone/>
            </a:pPr>
            <a:r>
              <a:rPr lang="en-US" sz="1700" dirty="0">
                <a:solidFill>
                  <a:srgbClr val="18202E"/>
                </a:solidFill>
                <a:latin typeface="Segoe UI Semibold" pitchFamily="34" charset="0"/>
                <a:ea typeface="Segoe UI Semibold" pitchFamily="34" charset="-122"/>
                <a:cs typeface="Segoe UI Semibold" pitchFamily="34" charset="-120"/>
              </a:rPr>
              <a:t>Scene  |  Game</a:t>
            </a:r>
            <a:endParaRPr lang="en-US" sz="1700" dirty="0"/>
          </a:p>
        </p:txBody>
      </p:sp>
      <p:sp>
        <p:nvSpPr>
          <p:cNvPr id="13" name="Text 10"/>
          <p:cNvSpPr txBox="1"/>
          <p:nvPr/>
        </p:nvSpPr>
        <p:spPr>
          <a:xfrm>
            <a:off x="2724912" y="2587752"/>
            <a:ext cx="3145536" cy="2011680"/>
          </a:xfrm>
          <a:prstGeom prst="rect">
            <a:avLst/>
          </a:prstGeom>
          <a:noFill/>
          <a:ln/>
        </p:spPr>
        <p:txBody>
          <a:bodyPr wrap="square" lIns="0" tIns="0" rIns="0" bIns="0" rtlCol="0" anchor="t"/>
          <a:lstStyle/>
          <a:p>
            <a:pPr indent="0" marL="0">
              <a:buNone/>
            </a:pPr>
            <a:r>
              <a:rPr lang="en-US" sz="1400" dirty="0">
                <a:solidFill>
                  <a:srgbClr val="364255"/>
                </a:solidFill>
                <a:latin typeface="Segoe UI" pitchFamily="34" charset="0"/>
                <a:ea typeface="Segoe UI" pitchFamily="34" charset="-122"/>
                <a:cs typeface="Segoe UI" pitchFamily="34" charset="-120"/>
              </a:rPr>
              <a:t>Scene: where are they? (your view)</a:t>
            </a:r>
            <a:endParaRPr lang="en-US" sz="1400" dirty="0"/>
          </a:p>
          <a:p>
            <a:pPr indent="0" marL="0">
              <a:buNone/>
            </a:pPr>
            <a:r>
              <a:rPr lang="en-US" sz="1400" dirty="0">
                <a:solidFill>
                  <a:srgbClr val="364255"/>
                </a:solidFill>
                <a:latin typeface="Segoe UI" pitchFamily="34" charset="0"/>
                <a:ea typeface="Segoe UI" pitchFamily="34" charset="-122"/>
                <a:cs typeface="Segoe UI" pitchFamily="34" charset="-120"/>
              </a:rPr>
              <a:t>Game: what does the camera show?</a:t>
            </a:r>
            <a:endParaRPr lang="en-US" sz="1400" dirty="0"/>
          </a:p>
        </p:txBody>
      </p:sp>
      <p:sp>
        <p:nvSpPr>
          <p:cNvPr id="14" name="Shape 11"/>
          <p:cNvSpPr/>
          <p:nvPr/>
        </p:nvSpPr>
        <p:spPr>
          <a:xfrm>
            <a:off x="6126480" y="2039112"/>
            <a:ext cx="1920240" cy="4087368"/>
          </a:xfrm>
          <a:prstGeom prst="rect">
            <a:avLst/>
          </a:prstGeom>
          <a:solidFill>
            <a:srgbClr val="E9EFF9"/>
          </a:solidFill>
          <a:ln/>
        </p:spPr>
      </p:sp>
      <p:sp>
        <p:nvSpPr>
          <p:cNvPr id="15" name="Text 12"/>
          <p:cNvSpPr txBox="1"/>
          <p:nvPr/>
        </p:nvSpPr>
        <p:spPr>
          <a:xfrm>
            <a:off x="6309360" y="2203704"/>
            <a:ext cx="1554480" cy="347472"/>
          </a:xfrm>
          <a:prstGeom prst="rect">
            <a:avLst/>
          </a:prstGeom>
          <a:noFill/>
          <a:ln/>
        </p:spPr>
        <p:txBody>
          <a:bodyPr wrap="square" lIns="0" tIns="0" rIns="0" bIns="0" rtlCol="0" anchor="t"/>
          <a:lstStyle/>
          <a:p>
            <a:pPr indent="0" marL="0">
              <a:buNone/>
            </a:pPr>
            <a:r>
              <a:rPr lang="en-US" sz="1700" dirty="0">
                <a:solidFill>
                  <a:srgbClr val="18202E"/>
                </a:solidFill>
                <a:latin typeface="Segoe UI Semibold" pitchFamily="34" charset="0"/>
                <a:ea typeface="Segoe UI Semibold" pitchFamily="34" charset="-122"/>
                <a:cs typeface="Segoe UI Semibold" pitchFamily="34" charset="-120"/>
              </a:rPr>
              <a:t>Inspector</a:t>
            </a:r>
            <a:endParaRPr lang="en-US" sz="1700" dirty="0"/>
          </a:p>
        </p:txBody>
      </p:sp>
      <p:sp>
        <p:nvSpPr>
          <p:cNvPr id="16" name="Text 13"/>
          <p:cNvSpPr txBox="1"/>
          <p:nvPr/>
        </p:nvSpPr>
        <p:spPr>
          <a:xfrm>
            <a:off x="6309360" y="2587752"/>
            <a:ext cx="1554480" cy="3401568"/>
          </a:xfrm>
          <a:prstGeom prst="rect">
            <a:avLst/>
          </a:prstGeom>
          <a:noFill/>
          <a:ln/>
        </p:spPr>
        <p:txBody>
          <a:bodyPr wrap="square" lIns="0" tIns="0" rIns="0" bIns="0" rtlCol="0" anchor="t"/>
          <a:lstStyle/>
          <a:p>
            <a:pPr indent="0" marL="0">
              <a:buNone/>
            </a:pPr>
            <a:r>
              <a:rPr lang="en-US" sz="1400" dirty="0">
                <a:solidFill>
                  <a:srgbClr val="364255"/>
                </a:solidFill>
                <a:latin typeface="Segoe UI" pitchFamily="34" charset="0"/>
                <a:ea typeface="Segoe UI" pitchFamily="34" charset="-122"/>
                <a:cs typeface="Segoe UI" pitchFamily="34" charset="-120"/>
              </a:rPr>
              <a:t>What are the properties of the selection?</a:t>
            </a:r>
            <a:endParaRPr lang="en-US" sz="1400" dirty="0"/>
          </a:p>
        </p:txBody>
      </p:sp>
      <p:sp>
        <p:nvSpPr>
          <p:cNvPr id="17" name="Shape 14"/>
          <p:cNvSpPr/>
          <p:nvPr/>
        </p:nvSpPr>
        <p:spPr>
          <a:xfrm>
            <a:off x="548640" y="4809744"/>
            <a:ext cx="5504688" cy="1316736"/>
          </a:xfrm>
          <a:prstGeom prst="rect">
            <a:avLst/>
          </a:prstGeom>
          <a:solidFill>
            <a:srgbClr val="F0F3F7"/>
          </a:solidFill>
          <a:ln/>
        </p:spPr>
      </p:sp>
      <p:sp>
        <p:nvSpPr>
          <p:cNvPr id="18" name="Text 15"/>
          <p:cNvSpPr txBox="1"/>
          <p:nvPr/>
        </p:nvSpPr>
        <p:spPr>
          <a:xfrm>
            <a:off x="731520" y="4974336"/>
            <a:ext cx="5138928" cy="347472"/>
          </a:xfrm>
          <a:prstGeom prst="rect">
            <a:avLst/>
          </a:prstGeom>
          <a:noFill/>
          <a:ln/>
        </p:spPr>
        <p:txBody>
          <a:bodyPr wrap="square" lIns="0" tIns="0" rIns="0" bIns="0" rtlCol="0" anchor="t"/>
          <a:lstStyle/>
          <a:p>
            <a:pPr indent="0" marL="0">
              <a:buNone/>
            </a:pPr>
            <a:r>
              <a:rPr lang="en-US" sz="1700" dirty="0">
                <a:solidFill>
                  <a:srgbClr val="18202E"/>
                </a:solidFill>
                <a:latin typeface="Segoe UI Semibold" pitchFamily="34" charset="0"/>
                <a:ea typeface="Segoe UI Semibold" pitchFamily="34" charset="-122"/>
                <a:cs typeface="Segoe UI Semibold" pitchFamily="34" charset="-120"/>
              </a:rPr>
              <a:t>Project  |  Console</a:t>
            </a:r>
            <a:endParaRPr lang="en-US" sz="1700" dirty="0"/>
          </a:p>
        </p:txBody>
      </p:sp>
      <p:sp>
        <p:nvSpPr>
          <p:cNvPr id="19" name="Text 16"/>
          <p:cNvSpPr txBox="1"/>
          <p:nvPr/>
        </p:nvSpPr>
        <p:spPr>
          <a:xfrm>
            <a:off x="731520" y="5358384"/>
            <a:ext cx="5138928" cy="630936"/>
          </a:xfrm>
          <a:prstGeom prst="rect">
            <a:avLst/>
          </a:prstGeom>
          <a:noFill/>
          <a:ln/>
        </p:spPr>
        <p:txBody>
          <a:bodyPr wrap="square" lIns="0" tIns="0" rIns="0" bIns="0" rtlCol="0" anchor="t"/>
          <a:lstStyle/>
          <a:p>
            <a:pPr indent="0" marL="0">
              <a:buNone/>
            </a:pPr>
            <a:r>
              <a:rPr lang="en-US" sz="1400" dirty="0">
                <a:solidFill>
                  <a:srgbClr val="364255"/>
                </a:solidFill>
                <a:latin typeface="Segoe UI" pitchFamily="34" charset="0"/>
                <a:ea typeface="Segoe UI" pitchFamily="34" charset="-122"/>
                <a:cs typeface="Segoe UI" pitchFamily="34" charset="-120"/>
              </a:rPr>
              <a:t>Project: what files are on disk?</a:t>
            </a:r>
            <a:endParaRPr lang="en-US" sz="1400" dirty="0"/>
          </a:p>
          <a:p>
            <a:pPr indent="0" marL="0">
              <a:buNone/>
            </a:pPr>
            <a:r>
              <a:rPr lang="en-US" sz="1400" dirty="0">
                <a:solidFill>
                  <a:srgbClr val="364255"/>
                </a:solidFill>
                <a:latin typeface="Segoe UI" pitchFamily="34" charset="0"/>
                <a:ea typeface="Segoe UI" pitchFamily="34" charset="-122"/>
                <a:cs typeface="Segoe UI" pitchFamily="34" charset="-120"/>
              </a:rPr>
              <a:t>Console: what did Unity or my code report?</a:t>
            </a:r>
            <a:endParaRPr lang="en-US" sz="1400" dirty="0"/>
          </a:p>
        </p:txBody>
      </p:sp>
      <p:sp>
        <p:nvSpPr>
          <p:cNvPr id="20" name="Text 17"/>
          <p:cNvSpPr txBox="1"/>
          <p:nvPr/>
        </p:nvSpPr>
        <p:spPr>
          <a:xfrm>
            <a:off x="8412480" y="1645920"/>
            <a:ext cx="3227832" cy="685800"/>
          </a:xfrm>
          <a:prstGeom prst="rect">
            <a:avLst/>
          </a:prstGeom>
          <a:noFill/>
          <a:ln/>
        </p:spPr>
        <p:txBody>
          <a:bodyPr wrap="square" lIns="0" tIns="0" rIns="0" bIns="0" rtlCol="0" anchor="t"/>
          <a:lstStyle/>
          <a:p>
            <a:pPr indent="0" marL="0">
              <a:buNone/>
            </a:pPr>
            <a:r>
              <a:rPr lang="en-US" sz="1800" dirty="0">
                <a:solidFill>
                  <a:srgbClr val="18202E"/>
                </a:solidFill>
                <a:latin typeface="Segoe UI Semibold" pitchFamily="34" charset="0"/>
                <a:ea typeface="Segoe UI Semibold" pitchFamily="34" charset="-122"/>
                <a:cs typeface="Segoe UI Semibold" pitchFamily="34" charset="-120"/>
              </a:rPr>
              <a:t>One selection ties them together</a:t>
            </a:r>
            <a:endParaRPr lang="en-US" sz="1800" dirty="0"/>
          </a:p>
        </p:txBody>
      </p:sp>
      <p:sp>
        <p:nvSpPr>
          <p:cNvPr id="21" name="Text 18"/>
          <p:cNvSpPr txBox="1"/>
          <p:nvPr/>
        </p:nvSpPr>
        <p:spPr>
          <a:xfrm>
            <a:off x="8412480" y="2377440"/>
            <a:ext cx="3227832" cy="1188720"/>
          </a:xfrm>
          <a:prstGeom prst="rect">
            <a:avLst/>
          </a:prstGeom>
          <a:noFill/>
          <a:ln/>
        </p:spPr>
        <p:txBody>
          <a:bodyPr wrap="square" lIns="0" tIns="0" rIns="0" bIns="0" rtlCol="0" anchor="t"/>
          <a:lstStyle/>
          <a:p>
            <a:pPr indent="0" marL="0">
              <a:buNone/>
            </a:pPr>
            <a:r>
              <a:rPr lang="en-US" sz="1500" dirty="0">
                <a:solidFill>
                  <a:srgbClr val="364255"/>
                </a:solidFill>
                <a:latin typeface="Segoe UI" pitchFamily="34" charset="0"/>
                <a:ea typeface="Segoe UI" pitchFamily="34" charset="-122"/>
                <a:cs typeface="Segoe UI" pitchFamily="34" charset="-120"/>
              </a:rPr>
              <a:t>Select a thing, then read the windows: the Scene view highlights it, the Inspector shows it.</a:t>
            </a:r>
            <a:endParaRPr lang="en-US" sz="1500" dirty="0"/>
          </a:p>
        </p:txBody>
      </p:sp>
      <p:sp>
        <p:nvSpPr>
          <p:cNvPr id="22" name="Text 19"/>
          <p:cNvSpPr txBox="1"/>
          <p:nvPr/>
        </p:nvSpPr>
        <p:spPr>
          <a:xfrm>
            <a:off x="8412480" y="3931920"/>
            <a:ext cx="3227832" cy="365760"/>
          </a:xfrm>
          <a:prstGeom prst="rect">
            <a:avLst/>
          </a:prstGeom>
          <a:noFill/>
          <a:ln/>
        </p:spPr>
        <p:txBody>
          <a:bodyPr wrap="square" lIns="0" tIns="0" rIns="0" bIns="0" rtlCol="0" anchor="t"/>
          <a:lstStyle/>
          <a:p>
            <a:pPr indent="0" marL="0">
              <a:buNone/>
            </a:pPr>
            <a:r>
              <a:rPr lang="en-US" sz="1800" dirty="0">
                <a:solidFill>
                  <a:srgbClr val="18202E"/>
                </a:solidFill>
                <a:latin typeface="Segoe UI Semibold" pitchFamily="34" charset="0"/>
                <a:ea typeface="Segoe UI Semibold" pitchFamily="34" charset="-122"/>
                <a:cs typeface="Segoe UI Semibold" pitchFamily="34" charset="-120"/>
              </a:rPr>
              <a:t>Layout first aid</a:t>
            </a:r>
            <a:endParaRPr lang="en-US" sz="1800" dirty="0"/>
          </a:p>
        </p:txBody>
      </p:sp>
      <p:sp>
        <p:nvSpPr>
          <p:cNvPr id="23" name="Text 20"/>
          <p:cNvSpPr txBox="1"/>
          <p:nvPr/>
        </p:nvSpPr>
        <p:spPr>
          <a:xfrm>
            <a:off x="8412480" y="4389120"/>
            <a:ext cx="3227832" cy="1463040"/>
          </a:xfrm>
          <a:prstGeom prst="rect">
            <a:avLst/>
          </a:prstGeom>
          <a:noFill/>
          <a:ln/>
        </p:spPr>
        <p:txBody>
          <a:bodyPr wrap="square" lIns="0" tIns="0" rIns="0" bIns="0" rtlCol="0" anchor="t"/>
          <a:lstStyle/>
          <a:p>
            <a:pPr indent="0" marL="0">
              <a:spcAft>
                <a:spcPts val="800"/>
              </a:spcAft>
              <a:buNone/>
            </a:pPr>
            <a:r>
              <a:rPr lang="en-US" sz="1500" b="1" dirty="0">
                <a:solidFill>
                  <a:srgbClr val="364255"/>
                </a:solidFill>
                <a:latin typeface="Segoe UI" pitchFamily="34" charset="0"/>
                <a:ea typeface="Segoe UI" pitchFamily="34" charset="-122"/>
                <a:cs typeface="Segoe UI" pitchFamily="34" charset="-120"/>
              </a:rPr>
              <a:t>Window › General</a:t>
            </a:r>
            <a:pPr indent="0" marL="0">
              <a:buNone/>
            </a:pPr>
            <a:r>
              <a:rPr lang="en-US" sz="1500" dirty="0">
                <a:solidFill>
                  <a:srgbClr val="364255"/>
                </a:solidFill>
                <a:latin typeface="Segoe UI" pitchFamily="34" charset="0"/>
                <a:ea typeface="Segoe UI" pitchFamily="34" charset="-122"/>
                <a:cs typeface="Segoe UI" pitchFamily="34" charset="-120"/>
              </a:rPr>
              <a:t> reopens a closed window.</a:t>
            </a:r>
            <a:endParaRPr lang="en-US" sz="1500" dirty="0"/>
          </a:p>
          <a:p>
            <a:pPr indent="0" marL="0">
              <a:spcAft>
                <a:spcPts val="800"/>
              </a:spcAft>
              <a:buNone/>
            </a:pPr>
            <a:r>
              <a:rPr lang="en-US" sz="1500" b="1" dirty="0">
                <a:solidFill>
                  <a:srgbClr val="364255"/>
                </a:solidFill>
                <a:latin typeface="Segoe UI" pitchFamily="34" charset="0"/>
                <a:ea typeface="Segoe UI" pitchFamily="34" charset="-122"/>
                <a:cs typeface="Segoe UI" pitchFamily="34" charset="-120"/>
              </a:rPr>
              <a:t>Window › Layouts › Default</a:t>
            </a:r>
            <a:pPr indent="0" marL="0">
              <a:buNone/>
            </a:pPr>
            <a:r>
              <a:rPr lang="en-US" sz="1500" dirty="0">
                <a:solidFill>
                  <a:srgbClr val="364255"/>
                </a:solidFill>
                <a:latin typeface="Segoe UI" pitchFamily="34" charset="0"/>
                <a:ea typeface="Segoe UI" pitchFamily="34" charset="-122"/>
                <a:cs typeface="Segoe UI" pitchFamily="34" charset="-120"/>
              </a:rPr>
              <a:t> restores the whole layout.</a:t>
            </a:r>
            <a:endParaRPr lang="en-US" sz="15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2 · THE EDITOR</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The two distinctions that organize everything</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00200"/>
            <a:ext cx="5394960" cy="4023360"/>
          </a:xfrm>
          <a:prstGeom prst="rect">
            <a:avLst/>
          </a:prstGeom>
          <a:solidFill>
            <a:srgbClr val="F0F3F7"/>
          </a:solidFill>
          <a:ln/>
        </p:spPr>
      </p:sp>
      <p:sp>
        <p:nvSpPr>
          <p:cNvPr id="7" name="Shape 4"/>
          <p:cNvSpPr/>
          <p:nvPr/>
        </p:nvSpPr>
        <p:spPr>
          <a:xfrm>
            <a:off x="6245352" y="1600200"/>
            <a:ext cx="5394960" cy="4023360"/>
          </a:xfrm>
          <a:prstGeom prst="rect">
            <a:avLst/>
          </a:prstGeom>
          <a:solidFill>
            <a:srgbClr val="F0F3F7"/>
          </a:solidFill>
          <a:ln/>
        </p:spPr>
      </p:sp>
      <p:sp>
        <p:nvSpPr>
          <p:cNvPr id="8" name="Text 5"/>
          <p:cNvSpPr txBox="1"/>
          <p:nvPr/>
        </p:nvSpPr>
        <p:spPr>
          <a:xfrm>
            <a:off x="822960" y="1783080"/>
            <a:ext cx="4846320" cy="411480"/>
          </a:xfrm>
          <a:prstGeom prst="rect">
            <a:avLst/>
          </a:prstGeom>
          <a:noFill/>
          <a:ln/>
        </p:spPr>
        <p:txBody>
          <a:bodyPr wrap="square" lIns="0" tIns="0" rIns="0" bIns="0" rtlCol="0" anchor="t"/>
          <a:lstStyle/>
          <a:p>
            <a:pPr indent="0" marL="0">
              <a:buNone/>
            </a:pPr>
            <a:r>
              <a:rPr lang="en-US" sz="2200" dirty="0">
                <a:solidFill>
                  <a:srgbClr val="18202E"/>
                </a:solidFill>
                <a:latin typeface="Segoe UI Semibold" pitchFamily="34" charset="0"/>
                <a:ea typeface="Segoe UI Semibold" pitchFamily="34" charset="-122"/>
                <a:cs typeface="Segoe UI Semibold" pitchFamily="34" charset="-120"/>
              </a:rPr>
              <a:t>Hierarchy vs Project</a:t>
            </a:r>
            <a:endParaRPr lang="en-US" sz="2200" dirty="0"/>
          </a:p>
        </p:txBody>
      </p:sp>
      <p:sp>
        <p:nvSpPr>
          <p:cNvPr id="9" name="Text 6"/>
          <p:cNvSpPr txBox="1"/>
          <p:nvPr/>
        </p:nvSpPr>
        <p:spPr>
          <a:xfrm>
            <a:off x="822960" y="2203704"/>
            <a:ext cx="4846320" cy="320040"/>
          </a:xfrm>
          <a:prstGeom prst="rect">
            <a:avLst/>
          </a:prstGeom>
          <a:noFill/>
          <a:ln/>
        </p:spPr>
        <p:txBody>
          <a:bodyPr wrap="square" lIns="0" tIns="0" rIns="0" bIns="0" rtlCol="0" anchor="t"/>
          <a:lstStyle/>
          <a:p>
            <a:pPr indent="0" marL="0">
              <a:buNone/>
            </a:pPr>
            <a:r>
              <a:rPr lang="en-US" sz="1500" dirty="0">
                <a:solidFill>
                  <a:srgbClr val="2354A6"/>
                </a:solidFill>
                <a:latin typeface="Segoe UI" pitchFamily="34" charset="0"/>
                <a:ea typeface="Segoe UI" pitchFamily="34" charset="-122"/>
                <a:cs typeface="Segoe UI" pitchFamily="34" charset="-120"/>
              </a:rPr>
              <a:t>the scene vs the disk</a:t>
            </a:r>
            <a:endParaRPr lang="en-US" sz="1500" dirty="0"/>
          </a:p>
        </p:txBody>
      </p:sp>
      <p:sp>
        <p:nvSpPr>
          <p:cNvPr id="10" name="Text 7"/>
          <p:cNvSpPr txBox="1"/>
          <p:nvPr/>
        </p:nvSpPr>
        <p:spPr>
          <a:xfrm>
            <a:off x="868680" y="2788920"/>
            <a:ext cx="1828800" cy="502920"/>
          </a:xfrm>
          <a:prstGeom prst="roundRect">
            <a:avLst>
              <a:gd name="adj" fmla="val 10909"/>
            </a:avLst>
          </a:prstGeom>
          <a:solidFill>
            <a:srgbClr val="FFFFFF"/>
          </a:solidFill>
          <a:ln w="12700">
            <a:solidFill>
              <a:srgbClr val="D5DBE3"/>
            </a:solidFill>
          </a:ln>
        </p:spPr>
        <p:txBody>
          <a:bodyPr wrap="square" lIns="0" tIns="0" rIns="0" bIns="0" rtlCol="0" anchor="ctr"/>
          <a:lstStyle/>
          <a:p>
            <a:pPr algn="ctr" indent="0" marL="0">
              <a:buNone/>
            </a:pPr>
            <a:r>
              <a:rPr lang="en-US" sz="1500" dirty="0">
                <a:solidFill>
                  <a:srgbClr val="18202E"/>
                </a:solidFill>
                <a:latin typeface="Consolas" pitchFamily="34" charset="0"/>
                <a:ea typeface="Consolas" pitchFamily="34" charset="-122"/>
                <a:cs typeface="Consolas" pitchFamily="34" charset="-120"/>
              </a:rPr>
              <a:t>Player</a:t>
            </a:r>
            <a:endParaRPr lang="en-US" sz="1500" dirty="0"/>
          </a:p>
        </p:txBody>
      </p:sp>
      <p:sp>
        <p:nvSpPr>
          <p:cNvPr id="11" name="Text 8"/>
          <p:cNvSpPr txBox="1"/>
          <p:nvPr/>
        </p:nvSpPr>
        <p:spPr>
          <a:xfrm>
            <a:off x="3749040" y="2788920"/>
            <a:ext cx="1874520" cy="502920"/>
          </a:xfrm>
          <a:prstGeom prst="roundRect">
            <a:avLst>
              <a:gd name="adj" fmla="val 10909"/>
            </a:avLst>
          </a:prstGeom>
          <a:solidFill>
            <a:srgbClr val="FFFFFF"/>
          </a:solidFill>
          <a:ln w="12700">
            <a:solidFill>
              <a:srgbClr val="D5DBE3"/>
            </a:solidFill>
          </a:ln>
        </p:spPr>
        <p:txBody>
          <a:bodyPr wrap="square" lIns="0" tIns="0" rIns="0" bIns="0" rtlCol="0" anchor="ctr"/>
          <a:lstStyle/>
          <a:p>
            <a:pPr algn="ctr" indent="0" marL="0">
              <a:buNone/>
            </a:pPr>
            <a:r>
              <a:rPr lang="en-US" sz="1500" dirty="0">
                <a:solidFill>
                  <a:srgbClr val="18202E"/>
                </a:solidFill>
                <a:latin typeface="Consolas" pitchFamily="34" charset="0"/>
                <a:ea typeface="Consolas" pitchFamily="34" charset="-122"/>
                <a:cs typeface="Consolas" pitchFamily="34" charset="-120"/>
              </a:rPr>
              <a:t>player.png</a:t>
            </a:r>
            <a:endParaRPr lang="en-US" sz="1500" dirty="0"/>
          </a:p>
        </p:txBody>
      </p:sp>
      <p:sp>
        <p:nvSpPr>
          <p:cNvPr id="12" name="Shape 9"/>
          <p:cNvSpPr/>
          <p:nvPr/>
        </p:nvSpPr>
        <p:spPr>
          <a:xfrm>
            <a:off x="2743200" y="3040380"/>
            <a:ext cx="960120" cy="0"/>
          </a:xfrm>
          <a:prstGeom prst="line">
            <a:avLst/>
          </a:prstGeom>
          <a:noFill/>
          <a:ln w="22225">
            <a:solidFill>
              <a:srgbClr val="2354A6"/>
            </a:solidFill>
            <a:prstDash val="solid"/>
            <a:tailEnd type="triangle"/>
          </a:ln>
        </p:spPr>
      </p:sp>
      <p:sp>
        <p:nvSpPr>
          <p:cNvPr id="13" name="Text 10"/>
          <p:cNvSpPr txBox="1"/>
          <p:nvPr/>
        </p:nvSpPr>
        <p:spPr>
          <a:xfrm>
            <a:off x="2606040" y="2487168"/>
            <a:ext cx="1280160" cy="274320"/>
          </a:xfrm>
          <a:prstGeom prst="rect">
            <a:avLst/>
          </a:prstGeom>
          <a:noFill/>
          <a:ln/>
        </p:spPr>
        <p:txBody>
          <a:bodyPr wrap="square" lIns="0" tIns="0" rIns="0" bIns="0" rtlCol="0" anchor="t"/>
          <a:lstStyle/>
          <a:p>
            <a:pPr algn="ctr" indent="0" marL="0">
              <a:buNone/>
            </a:pPr>
            <a:r>
              <a:rPr lang="en-US" sz="1200" dirty="0">
                <a:solidFill>
                  <a:srgbClr val="2354A6"/>
                </a:solidFill>
                <a:latin typeface="Segoe UI" pitchFamily="34" charset="0"/>
                <a:ea typeface="Segoe UI" pitchFamily="34" charset="-122"/>
                <a:cs typeface="Segoe UI" pitchFamily="34" charset="-120"/>
              </a:rPr>
              <a:t>references</a:t>
            </a:r>
            <a:endParaRPr lang="en-US" sz="1200" dirty="0"/>
          </a:p>
        </p:txBody>
      </p:sp>
      <p:sp>
        <p:nvSpPr>
          <p:cNvPr id="14" name="Text 11"/>
          <p:cNvSpPr txBox="1"/>
          <p:nvPr/>
        </p:nvSpPr>
        <p:spPr>
          <a:xfrm>
            <a:off x="731520" y="3346704"/>
            <a:ext cx="2103120" cy="274320"/>
          </a:xfrm>
          <a:prstGeom prst="rect">
            <a:avLst/>
          </a:prstGeom>
          <a:noFill/>
          <a:ln/>
        </p:spPr>
        <p:txBody>
          <a:bodyPr wrap="square" lIns="0" tIns="0" rIns="0" bIns="0" rtlCol="0" anchor="t"/>
          <a:lstStyle/>
          <a:p>
            <a:pPr algn="ctr" indent="0" marL="0">
              <a:buNone/>
            </a:pPr>
            <a:r>
              <a:rPr lang="en-US" sz="1200" dirty="0">
                <a:solidFill>
                  <a:srgbClr val="5B6678"/>
                </a:solidFill>
                <a:latin typeface="Segoe UI" pitchFamily="34" charset="0"/>
                <a:ea typeface="Segoe UI" pitchFamily="34" charset="-122"/>
                <a:cs typeface="Segoe UI" pitchFamily="34" charset="-120"/>
              </a:rPr>
              <a:t>object (Hierarchy)</a:t>
            </a:r>
            <a:endParaRPr lang="en-US" sz="1200" dirty="0"/>
          </a:p>
        </p:txBody>
      </p:sp>
      <p:sp>
        <p:nvSpPr>
          <p:cNvPr id="15" name="Text 12"/>
          <p:cNvSpPr txBox="1"/>
          <p:nvPr/>
        </p:nvSpPr>
        <p:spPr>
          <a:xfrm>
            <a:off x="3657600" y="3346704"/>
            <a:ext cx="2057400" cy="274320"/>
          </a:xfrm>
          <a:prstGeom prst="rect">
            <a:avLst/>
          </a:prstGeom>
          <a:noFill/>
          <a:ln/>
        </p:spPr>
        <p:txBody>
          <a:bodyPr wrap="square" lIns="0" tIns="0" rIns="0" bIns="0" rtlCol="0" anchor="t"/>
          <a:lstStyle/>
          <a:p>
            <a:pPr algn="ctr" indent="0" marL="0">
              <a:buNone/>
            </a:pPr>
            <a:r>
              <a:rPr lang="en-US" sz="1200" dirty="0">
                <a:solidFill>
                  <a:srgbClr val="5B6678"/>
                </a:solidFill>
                <a:latin typeface="Segoe UI" pitchFamily="34" charset="0"/>
                <a:ea typeface="Segoe UI" pitchFamily="34" charset="-122"/>
                <a:cs typeface="Segoe UI" pitchFamily="34" charset="-120"/>
              </a:rPr>
              <a:t>file (Project)</a:t>
            </a:r>
            <a:endParaRPr lang="en-US" sz="1200" dirty="0"/>
          </a:p>
        </p:txBody>
      </p:sp>
      <p:sp>
        <p:nvSpPr>
          <p:cNvPr id="16" name="Text 13"/>
          <p:cNvSpPr txBox="1"/>
          <p:nvPr/>
        </p:nvSpPr>
        <p:spPr>
          <a:xfrm>
            <a:off x="822960" y="3931920"/>
            <a:ext cx="4846320" cy="2103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364255"/>
                </a:solidFill>
                <a:latin typeface="Segoe UI" pitchFamily="34" charset="0"/>
                <a:ea typeface="Segoe UI" pitchFamily="34" charset="-122"/>
                <a:cs typeface="Segoe UI" pitchFamily="34" charset="-120"/>
              </a:rPr>
              <a:t>Delete the object: the file is untouched.</a:t>
            </a:r>
            <a:endParaRPr lang="en-US" sz="1500" dirty="0"/>
          </a:p>
          <a:p>
            <a:pPr marL="203200" indent="-203200">
              <a:spcAft>
                <a:spcPts val="800"/>
              </a:spcAft>
              <a:buSzPct val="100000"/>
              <a:buChar char="•"/>
            </a:pPr>
            <a:r>
              <a:rPr lang="en-US" sz="1500" dirty="0">
                <a:solidFill>
                  <a:srgbClr val="364255"/>
                </a:solidFill>
                <a:latin typeface="Segoe UI" pitchFamily="34" charset="0"/>
                <a:ea typeface="Segoe UI" pitchFamily="34" charset="-122"/>
                <a:cs typeface="Segoe UI" pitchFamily="34" charset="-120"/>
              </a:rPr>
              <a:t>Delete the file: every object that used it breaks.</a:t>
            </a:r>
            <a:endParaRPr lang="en-US" sz="1500" dirty="0"/>
          </a:p>
          <a:p>
            <a:pPr marL="203200" indent="-203200">
              <a:spcAft>
                <a:spcPts val="800"/>
              </a:spcAft>
              <a:buSzPct val="100000"/>
              <a:buChar char="•"/>
            </a:pPr>
            <a:r>
              <a:rPr lang="en-US" sz="1500" dirty="0">
                <a:solidFill>
                  <a:srgbClr val="364255"/>
                </a:solidFill>
                <a:latin typeface="Segoe UI" pitchFamily="34" charset="0"/>
                <a:ea typeface="Segoe UI" pitchFamily="34" charset="-122"/>
                <a:cs typeface="Segoe UI" pitchFamily="34" charset="-120"/>
              </a:rPr>
              <a:t>The Project window lists files in Assets, used or not.</a:t>
            </a:r>
            <a:endParaRPr lang="en-US" sz="1500" dirty="0"/>
          </a:p>
        </p:txBody>
      </p:sp>
      <p:sp>
        <p:nvSpPr>
          <p:cNvPr id="17" name="Text 14"/>
          <p:cNvSpPr txBox="1"/>
          <p:nvPr/>
        </p:nvSpPr>
        <p:spPr>
          <a:xfrm>
            <a:off x="6519672" y="1783080"/>
            <a:ext cx="4846320" cy="411480"/>
          </a:xfrm>
          <a:prstGeom prst="rect">
            <a:avLst/>
          </a:prstGeom>
          <a:noFill/>
          <a:ln/>
        </p:spPr>
        <p:txBody>
          <a:bodyPr wrap="square" lIns="0" tIns="0" rIns="0" bIns="0" rtlCol="0" anchor="t"/>
          <a:lstStyle/>
          <a:p>
            <a:pPr indent="0" marL="0">
              <a:buNone/>
            </a:pPr>
            <a:r>
              <a:rPr lang="en-US" sz="2200" dirty="0">
                <a:solidFill>
                  <a:srgbClr val="18202E"/>
                </a:solidFill>
                <a:latin typeface="Segoe UI Semibold" pitchFamily="34" charset="0"/>
                <a:ea typeface="Segoe UI Semibold" pitchFamily="34" charset="-122"/>
                <a:cs typeface="Segoe UI Semibold" pitchFamily="34" charset="-120"/>
              </a:rPr>
              <a:t>Scene vs Game</a:t>
            </a:r>
            <a:endParaRPr lang="en-US" sz="2200" dirty="0"/>
          </a:p>
        </p:txBody>
      </p:sp>
      <p:sp>
        <p:nvSpPr>
          <p:cNvPr id="18" name="Text 15"/>
          <p:cNvSpPr txBox="1"/>
          <p:nvPr/>
        </p:nvSpPr>
        <p:spPr>
          <a:xfrm>
            <a:off x="6519672" y="2203704"/>
            <a:ext cx="4846320" cy="320040"/>
          </a:xfrm>
          <a:prstGeom prst="rect">
            <a:avLst/>
          </a:prstGeom>
          <a:noFill/>
          <a:ln/>
        </p:spPr>
        <p:txBody>
          <a:bodyPr wrap="square" lIns="0" tIns="0" rIns="0" bIns="0" rtlCol="0" anchor="t"/>
          <a:lstStyle/>
          <a:p>
            <a:pPr indent="0" marL="0">
              <a:buNone/>
            </a:pPr>
            <a:r>
              <a:rPr lang="en-US" sz="1500" dirty="0">
                <a:solidFill>
                  <a:srgbClr val="2354A6"/>
                </a:solidFill>
                <a:latin typeface="Segoe UI" pitchFamily="34" charset="0"/>
                <a:ea typeface="Segoe UI" pitchFamily="34" charset="-122"/>
                <a:cs typeface="Segoe UI" pitchFamily="34" charset="-120"/>
              </a:rPr>
              <a:t>your workspace vs the camera</a:t>
            </a:r>
            <a:endParaRPr lang="en-US" sz="1500" dirty="0"/>
          </a:p>
        </p:txBody>
      </p:sp>
      <p:sp>
        <p:nvSpPr>
          <p:cNvPr id="19" name="Shape 16"/>
          <p:cNvSpPr/>
          <p:nvPr/>
        </p:nvSpPr>
        <p:spPr>
          <a:xfrm>
            <a:off x="6565392" y="2606040"/>
            <a:ext cx="4754880" cy="1188720"/>
          </a:xfrm>
          <a:prstGeom prst="rect">
            <a:avLst/>
          </a:prstGeom>
          <a:solidFill>
            <a:srgbClr val="FFFFFF"/>
          </a:solidFill>
          <a:ln w="12700">
            <a:solidFill>
              <a:srgbClr val="D5DBE3"/>
            </a:solidFill>
            <a:prstDash val="solid"/>
          </a:ln>
        </p:spPr>
      </p:sp>
      <p:sp>
        <p:nvSpPr>
          <p:cNvPr id="20" name="Text 17"/>
          <p:cNvSpPr txBox="1"/>
          <p:nvPr/>
        </p:nvSpPr>
        <p:spPr>
          <a:xfrm>
            <a:off x="6656832" y="2651760"/>
            <a:ext cx="1371600" cy="228600"/>
          </a:xfrm>
          <a:prstGeom prst="rect">
            <a:avLst/>
          </a:prstGeom>
          <a:noFill/>
          <a:ln/>
        </p:spPr>
        <p:txBody>
          <a:bodyPr wrap="square" lIns="0" tIns="0" rIns="0" bIns="0" rtlCol="0" anchor="t"/>
          <a:lstStyle/>
          <a:p>
            <a:pPr indent="0" marL="0">
              <a:buNone/>
            </a:pPr>
            <a:r>
              <a:rPr lang="en-US" sz="1100" dirty="0">
                <a:solidFill>
                  <a:srgbClr val="5B6678"/>
                </a:solidFill>
                <a:latin typeface="Segoe UI" pitchFamily="34" charset="0"/>
                <a:ea typeface="Segoe UI" pitchFamily="34" charset="-122"/>
                <a:cs typeface="Segoe UI" pitchFamily="34" charset="-120"/>
              </a:rPr>
              <a:t>Scene view</a:t>
            </a:r>
            <a:endParaRPr lang="en-US" sz="1100" dirty="0"/>
          </a:p>
        </p:txBody>
      </p:sp>
      <p:sp>
        <p:nvSpPr>
          <p:cNvPr id="21" name="Shape 18"/>
          <p:cNvSpPr/>
          <p:nvPr/>
        </p:nvSpPr>
        <p:spPr>
          <a:xfrm>
            <a:off x="6885432" y="3246120"/>
            <a:ext cx="237744" cy="237744"/>
          </a:xfrm>
          <a:prstGeom prst="rect">
            <a:avLst/>
          </a:prstGeom>
          <a:solidFill>
            <a:srgbClr val="AEB8C6"/>
          </a:solidFill>
          <a:ln/>
        </p:spPr>
      </p:sp>
      <p:sp>
        <p:nvSpPr>
          <p:cNvPr id="22" name="Shape 19"/>
          <p:cNvSpPr/>
          <p:nvPr/>
        </p:nvSpPr>
        <p:spPr>
          <a:xfrm>
            <a:off x="7388352" y="2926080"/>
            <a:ext cx="237744" cy="237744"/>
          </a:xfrm>
          <a:prstGeom prst="rect">
            <a:avLst/>
          </a:prstGeom>
          <a:solidFill>
            <a:srgbClr val="AEB8C6"/>
          </a:solidFill>
          <a:ln/>
        </p:spPr>
      </p:sp>
      <p:sp>
        <p:nvSpPr>
          <p:cNvPr id="23" name="Shape 20"/>
          <p:cNvSpPr/>
          <p:nvPr/>
        </p:nvSpPr>
        <p:spPr>
          <a:xfrm>
            <a:off x="8622792" y="3063240"/>
            <a:ext cx="237744" cy="237744"/>
          </a:xfrm>
          <a:prstGeom prst="rect">
            <a:avLst/>
          </a:prstGeom>
          <a:solidFill>
            <a:srgbClr val="AEB8C6"/>
          </a:solidFill>
          <a:ln/>
        </p:spPr>
      </p:sp>
      <p:sp>
        <p:nvSpPr>
          <p:cNvPr id="24" name="Shape 21"/>
          <p:cNvSpPr/>
          <p:nvPr/>
        </p:nvSpPr>
        <p:spPr>
          <a:xfrm>
            <a:off x="9308592" y="3291840"/>
            <a:ext cx="237744" cy="237744"/>
          </a:xfrm>
          <a:prstGeom prst="rect">
            <a:avLst/>
          </a:prstGeom>
          <a:solidFill>
            <a:srgbClr val="AEB8C6"/>
          </a:solidFill>
          <a:ln/>
        </p:spPr>
      </p:sp>
      <p:sp>
        <p:nvSpPr>
          <p:cNvPr id="25" name="Shape 22"/>
          <p:cNvSpPr/>
          <p:nvPr/>
        </p:nvSpPr>
        <p:spPr>
          <a:xfrm>
            <a:off x="10451592" y="3017520"/>
            <a:ext cx="237744" cy="237744"/>
          </a:xfrm>
          <a:prstGeom prst="rect">
            <a:avLst/>
          </a:prstGeom>
          <a:solidFill>
            <a:srgbClr val="AEB8C6"/>
          </a:solidFill>
          <a:ln/>
        </p:spPr>
      </p:sp>
      <p:sp>
        <p:nvSpPr>
          <p:cNvPr id="26" name="Shape 23"/>
          <p:cNvSpPr/>
          <p:nvPr/>
        </p:nvSpPr>
        <p:spPr>
          <a:xfrm>
            <a:off x="10771632" y="3429000"/>
            <a:ext cx="237744" cy="237744"/>
          </a:xfrm>
          <a:prstGeom prst="rect">
            <a:avLst/>
          </a:prstGeom>
          <a:solidFill>
            <a:srgbClr val="AEB8C6"/>
          </a:solidFill>
          <a:ln/>
        </p:spPr>
      </p:sp>
      <p:sp>
        <p:nvSpPr>
          <p:cNvPr id="27" name="Shape 24"/>
          <p:cNvSpPr/>
          <p:nvPr/>
        </p:nvSpPr>
        <p:spPr>
          <a:xfrm>
            <a:off x="8257032" y="2743200"/>
            <a:ext cx="1737360" cy="914400"/>
          </a:xfrm>
          <a:prstGeom prst="roundRect">
            <a:avLst>
              <a:gd name="adj" fmla="val 6000"/>
            </a:avLst>
          </a:prstGeom>
          <a:solidFill>
            <a:srgbClr val="FFFFFF"/>
          </a:solidFill>
          <a:ln w="22225">
            <a:solidFill>
              <a:srgbClr val="2354A6"/>
            </a:solidFill>
            <a:prstDash val="dash"/>
          </a:ln>
        </p:spPr>
      </p:sp>
      <p:sp>
        <p:nvSpPr>
          <p:cNvPr id="28" name="Shape 25"/>
          <p:cNvSpPr/>
          <p:nvPr/>
        </p:nvSpPr>
        <p:spPr>
          <a:xfrm>
            <a:off x="8622792" y="3063240"/>
            <a:ext cx="237744" cy="237744"/>
          </a:xfrm>
          <a:prstGeom prst="rect">
            <a:avLst/>
          </a:prstGeom>
          <a:solidFill>
            <a:srgbClr val="2354A6"/>
          </a:solidFill>
          <a:ln/>
        </p:spPr>
      </p:sp>
      <p:sp>
        <p:nvSpPr>
          <p:cNvPr id="29" name="Shape 26"/>
          <p:cNvSpPr/>
          <p:nvPr/>
        </p:nvSpPr>
        <p:spPr>
          <a:xfrm>
            <a:off x="9308592" y="3291840"/>
            <a:ext cx="237744" cy="237744"/>
          </a:xfrm>
          <a:prstGeom prst="rect">
            <a:avLst/>
          </a:prstGeom>
          <a:solidFill>
            <a:srgbClr val="2354A6"/>
          </a:solidFill>
          <a:ln/>
        </p:spPr>
      </p:sp>
      <p:sp>
        <p:nvSpPr>
          <p:cNvPr id="30" name="Text 27"/>
          <p:cNvSpPr txBox="1"/>
          <p:nvPr/>
        </p:nvSpPr>
        <p:spPr>
          <a:xfrm>
            <a:off x="6565392" y="3858768"/>
            <a:ext cx="4754880" cy="274320"/>
          </a:xfrm>
          <a:prstGeom prst="rect">
            <a:avLst/>
          </a:prstGeom>
          <a:noFill/>
          <a:ln/>
        </p:spPr>
        <p:txBody>
          <a:bodyPr wrap="square" lIns="0" tIns="0" rIns="0" bIns="0" rtlCol="0" anchor="t"/>
          <a:lstStyle/>
          <a:p>
            <a:pPr algn="ctr" indent="0" marL="0">
              <a:buNone/>
            </a:pPr>
            <a:r>
              <a:rPr lang="en-US" sz="1200" dirty="0">
                <a:solidFill>
                  <a:srgbClr val="2354A6"/>
                </a:solidFill>
                <a:latin typeface="Segoe UI" pitchFamily="34" charset="0"/>
                <a:ea typeface="Segoe UI" pitchFamily="34" charset="-122"/>
                <a:cs typeface="Segoe UI" pitchFamily="34" charset="-120"/>
              </a:rPr>
              <a:t>camera frame = what the Game view shows</a:t>
            </a:r>
            <a:endParaRPr lang="en-US" sz="1200" dirty="0"/>
          </a:p>
        </p:txBody>
      </p:sp>
      <p:sp>
        <p:nvSpPr>
          <p:cNvPr id="31" name="Text 28"/>
          <p:cNvSpPr txBox="1"/>
          <p:nvPr/>
        </p:nvSpPr>
        <p:spPr>
          <a:xfrm>
            <a:off x="6519672" y="4315968"/>
            <a:ext cx="4846320" cy="17373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364255"/>
                </a:solidFill>
                <a:latin typeface="Segoe UI" pitchFamily="34" charset="0"/>
                <a:ea typeface="Segoe UI" pitchFamily="34" charset="-122"/>
                <a:cs typeface="Segoe UI" pitchFamily="34" charset="-120"/>
              </a:rPr>
              <a:t>Scene view: pan and zoom anywhere; the game never notices.</a:t>
            </a:r>
            <a:endParaRPr lang="en-US" sz="1500" dirty="0"/>
          </a:p>
          <a:p>
            <a:pPr marL="203200" indent="-203200">
              <a:spcAft>
                <a:spcPts val="800"/>
              </a:spcAft>
              <a:buSzPct val="100000"/>
              <a:buChar char="•"/>
            </a:pPr>
            <a:r>
              <a:rPr lang="en-US" sz="1500" dirty="0">
                <a:solidFill>
                  <a:srgbClr val="364255"/>
                </a:solidFill>
                <a:latin typeface="Segoe UI" pitchFamily="34" charset="0"/>
                <a:ea typeface="Segoe UI" pitchFamily="34" charset="-122"/>
                <a:cs typeface="Segoe UI" pitchFamily="34" charset="-120"/>
              </a:rPr>
              <a:t>Game view: the camera's output, what a build shows.</a:t>
            </a:r>
            <a:endParaRPr lang="en-US" sz="1500" dirty="0"/>
          </a:p>
          <a:p>
            <a:pPr marL="203200" indent="-203200">
              <a:spcAft>
                <a:spcPts val="800"/>
              </a:spcAft>
              <a:buSzPct val="100000"/>
              <a:buChar char="•"/>
            </a:pPr>
            <a:r>
              <a:rPr lang="en-US" sz="1500" dirty="0">
                <a:solidFill>
                  <a:srgbClr val="364255"/>
                </a:solidFill>
                <a:latin typeface="Segoe UI" pitchFamily="34" charset="0"/>
                <a:ea typeface="Segoe UI" pitchFamily="34" charset="-122"/>
                <a:cs typeface="Segoe UI" pitchFamily="34" charset="-120"/>
              </a:rPr>
              <a:t>Not in the Game view? The player never sees it.</a:t>
            </a:r>
            <a:endParaRPr lang="en-US" sz="15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2 · THE EDITOR</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Play mode is a sandbox</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91640"/>
            <a:ext cx="2496312" cy="1234440"/>
          </a:xfrm>
          <a:prstGeom prst="rect">
            <a:avLst/>
          </a:prstGeom>
          <a:solidFill>
            <a:srgbClr val="F0F3F7"/>
          </a:solidFill>
          <a:ln/>
        </p:spPr>
      </p:sp>
      <p:sp>
        <p:nvSpPr>
          <p:cNvPr id="7" name="Text 4"/>
          <p:cNvSpPr txBox="1"/>
          <p:nvPr/>
        </p:nvSpPr>
        <p:spPr>
          <a:xfrm>
            <a:off x="731520" y="1828800"/>
            <a:ext cx="2130552" cy="566928"/>
          </a:xfrm>
          <a:prstGeom prst="rect">
            <a:avLst/>
          </a:prstGeom>
          <a:noFill/>
          <a:ln/>
        </p:spPr>
        <p:txBody>
          <a:bodyPr wrap="square" lIns="0" tIns="0" rIns="0" bIns="0" rtlCol="0" anchor="t"/>
          <a:lstStyle/>
          <a:p>
            <a:pPr indent="0" marL="0">
              <a:buNone/>
            </a:pPr>
            <a:r>
              <a:rPr lang="en-US" sz="1600" dirty="0">
                <a:solidFill>
                  <a:srgbClr val="18202E"/>
                </a:solidFill>
                <a:latin typeface="Segoe UI Semibold" pitchFamily="34" charset="0"/>
                <a:ea typeface="Segoe UI Semibold" pitchFamily="34" charset="-122"/>
                <a:cs typeface="Segoe UI Semibold" pitchFamily="34" charset="-120"/>
              </a:rPr>
              <a:t>Press Play</a:t>
            </a:r>
            <a:endParaRPr lang="en-US" sz="1600" dirty="0"/>
          </a:p>
        </p:txBody>
      </p:sp>
      <p:sp>
        <p:nvSpPr>
          <p:cNvPr id="8" name="Text 5"/>
          <p:cNvSpPr txBox="1"/>
          <p:nvPr/>
        </p:nvSpPr>
        <p:spPr>
          <a:xfrm>
            <a:off x="731520" y="2395728"/>
            <a:ext cx="2130552" cy="457200"/>
          </a:xfrm>
          <a:prstGeom prst="rect">
            <a:avLst/>
          </a:prstGeom>
          <a:noFill/>
          <a:ln/>
        </p:spPr>
        <p:txBody>
          <a:bodyPr wrap="square" lIns="0" tIns="0" rIns="0" bIns="0" rtlCol="0" anchor="t"/>
          <a:lstStyle/>
          <a:p>
            <a:pPr indent="0" marL="0">
              <a:buNone/>
            </a:pPr>
            <a:r>
              <a:rPr lang="en-US" sz="1300" dirty="0">
                <a:solidFill>
                  <a:srgbClr val="364255"/>
                </a:solidFill>
                <a:latin typeface="Segoe UI" pitchFamily="34" charset="0"/>
                <a:ea typeface="Segoe UI" pitchFamily="34" charset="-122"/>
                <a:cs typeface="Segoe UI" pitchFamily="34" charset="-120"/>
              </a:rPr>
              <a:t>The editor switches to Play mode</a:t>
            </a:r>
            <a:endParaRPr lang="en-US" sz="1300" dirty="0"/>
          </a:p>
        </p:txBody>
      </p:sp>
      <p:sp>
        <p:nvSpPr>
          <p:cNvPr id="9" name="Shape 6"/>
          <p:cNvSpPr/>
          <p:nvPr/>
        </p:nvSpPr>
        <p:spPr>
          <a:xfrm>
            <a:off x="3090672" y="2308860"/>
            <a:ext cx="274320" cy="0"/>
          </a:xfrm>
          <a:prstGeom prst="line">
            <a:avLst/>
          </a:prstGeom>
          <a:noFill/>
          <a:ln w="22225">
            <a:solidFill>
              <a:srgbClr val="2354A6"/>
            </a:solidFill>
            <a:prstDash val="solid"/>
            <a:tailEnd type="triangle"/>
          </a:ln>
        </p:spPr>
      </p:sp>
      <p:sp>
        <p:nvSpPr>
          <p:cNvPr id="10" name="Shape 7"/>
          <p:cNvSpPr/>
          <p:nvPr/>
        </p:nvSpPr>
        <p:spPr>
          <a:xfrm>
            <a:off x="3410712" y="1691640"/>
            <a:ext cx="2496312" cy="1234440"/>
          </a:xfrm>
          <a:prstGeom prst="rect">
            <a:avLst/>
          </a:prstGeom>
          <a:solidFill>
            <a:srgbClr val="F0F3F7"/>
          </a:solidFill>
          <a:ln/>
        </p:spPr>
      </p:sp>
      <p:sp>
        <p:nvSpPr>
          <p:cNvPr id="11" name="Text 8"/>
          <p:cNvSpPr txBox="1"/>
          <p:nvPr/>
        </p:nvSpPr>
        <p:spPr>
          <a:xfrm>
            <a:off x="3593592" y="1828800"/>
            <a:ext cx="2130552" cy="566928"/>
          </a:xfrm>
          <a:prstGeom prst="rect">
            <a:avLst/>
          </a:prstGeom>
          <a:noFill/>
          <a:ln/>
        </p:spPr>
        <p:txBody>
          <a:bodyPr wrap="square" lIns="0" tIns="0" rIns="0" bIns="0" rtlCol="0" anchor="t"/>
          <a:lstStyle/>
          <a:p>
            <a:pPr indent="0" marL="0">
              <a:buNone/>
            </a:pPr>
            <a:r>
              <a:rPr lang="en-US" sz="1600" dirty="0">
                <a:solidFill>
                  <a:srgbClr val="18202E"/>
                </a:solidFill>
                <a:latin typeface="Segoe UI Semibold" pitchFamily="34" charset="0"/>
                <a:ea typeface="Segoe UI Semibold" pitchFamily="34" charset="-122"/>
                <a:cs typeface="Segoe UI Semibold" pitchFamily="34" charset="-120"/>
              </a:rPr>
              <a:t>Unity snapshots the scene</a:t>
            </a:r>
            <a:endParaRPr lang="en-US" sz="1600" dirty="0"/>
          </a:p>
        </p:txBody>
      </p:sp>
      <p:sp>
        <p:nvSpPr>
          <p:cNvPr id="12" name="Text 9"/>
          <p:cNvSpPr txBox="1"/>
          <p:nvPr/>
        </p:nvSpPr>
        <p:spPr>
          <a:xfrm>
            <a:off x="3593592" y="2395728"/>
            <a:ext cx="2130552" cy="457200"/>
          </a:xfrm>
          <a:prstGeom prst="rect">
            <a:avLst/>
          </a:prstGeom>
          <a:noFill/>
          <a:ln/>
        </p:spPr>
        <p:txBody>
          <a:bodyPr wrap="square" lIns="0" tIns="0" rIns="0" bIns="0" rtlCol="0" anchor="t"/>
          <a:lstStyle/>
          <a:p>
            <a:pPr indent="0" marL="0">
              <a:buNone/>
            </a:pPr>
            <a:r>
              <a:rPr lang="en-US" sz="1300" dirty="0">
                <a:solidFill>
                  <a:srgbClr val="364255"/>
                </a:solidFill>
                <a:latin typeface="Segoe UI" pitchFamily="34" charset="0"/>
                <a:ea typeface="Segoe UI" pitchFamily="34" charset="-122"/>
                <a:cs typeface="Segoe UI" pitchFamily="34" charset="-120"/>
              </a:rPr>
              <a:t>The saved scene stays untouched</a:t>
            </a:r>
            <a:endParaRPr lang="en-US" sz="1300" dirty="0"/>
          </a:p>
        </p:txBody>
      </p:sp>
      <p:sp>
        <p:nvSpPr>
          <p:cNvPr id="13" name="Shape 10"/>
          <p:cNvSpPr/>
          <p:nvPr/>
        </p:nvSpPr>
        <p:spPr>
          <a:xfrm>
            <a:off x="5952744" y="2308860"/>
            <a:ext cx="274320" cy="0"/>
          </a:xfrm>
          <a:prstGeom prst="line">
            <a:avLst/>
          </a:prstGeom>
          <a:noFill/>
          <a:ln w="22225">
            <a:solidFill>
              <a:srgbClr val="2354A6"/>
            </a:solidFill>
            <a:prstDash val="solid"/>
            <a:tailEnd type="triangle"/>
          </a:ln>
        </p:spPr>
      </p:sp>
      <p:sp>
        <p:nvSpPr>
          <p:cNvPr id="14" name="Shape 11"/>
          <p:cNvSpPr/>
          <p:nvPr/>
        </p:nvSpPr>
        <p:spPr>
          <a:xfrm>
            <a:off x="6272784" y="1691640"/>
            <a:ext cx="2496312" cy="1234440"/>
          </a:xfrm>
          <a:prstGeom prst="rect">
            <a:avLst/>
          </a:prstGeom>
          <a:solidFill>
            <a:srgbClr val="F0F3F7"/>
          </a:solidFill>
          <a:ln/>
        </p:spPr>
      </p:sp>
      <p:sp>
        <p:nvSpPr>
          <p:cNvPr id="15" name="Text 12"/>
          <p:cNvSpPr txBox="1"/>
          <p:nvPr/>
        </p:nvSpPr>
        <p:spPr>
          <a:xfrm>
            <a:off x="6455664" y="1828800"/>
            <a:ext cx="2130552" cy="566928"/>
          </a:xfrm>
          <a:prstGeom prst="rect">
            <a:avLst/>
          </a:prstGeom>
          <a:noFill/>
          <a:ln/>
        </p:spPr>
        <p:txBody>
          <a:bodyPr wrap="square" lIns="0" tIns="0" rIns="0" bIns="0" rtlCol="0" anchor="t"/>
          <a:lstStyle/>
          <a:p>
            <a:pPr indent="0" marL="0">
              <a:buNone/>
            </a:pPr>
            <a:r>
              <a:rPr lang="en-US" sz="1600" dirty="0">
                <a:solidFill>
                  <a:srgbClr val="18202E"/>
                </a:solidFill>
                <a:latin typeface="Segoe UI Semibold" pitchFamily="34" charset="0"/>
                <a:ea typeface="Segoe UI Semibold" pitchFamily="34" charset="-122"/>
                <a:cs typeface="Segoe UI Semibold" pitchFamily="34" charset="-120"/>
              </a:rPr>
              <a:t>You play and edit the copy</a:t>
            </a:r>
            <a:endParaRPr lang="en-US" sz="1600" dirty="0"/>
          </a:p>
        </p:txBody>
      </p:sp>
      <p:sp>
        <p:nvSpPr>
          <p:cNvPr id="16" name="Text 13"/>
          <p:cNvSpPr txBox="1"/>
          <p:nvPr/>
        </p:nvSpPr>
        <p:spPr>
          <a:xfrm>
            <a:off x="6455664" y="2395728"/>
            <a:ext cx="2130552" cy="457200"/>
          </a:xfrm>
          <a:prstGeom prst="rect">
            <a:avLst/>
          </a:prstGeom>
          <a:noFill/>
          <a:ln/>
        </p:spPr>
        <p:txBody>
          <a:bodyPr wrap="square" lIns="0" tIns="0" rIns="0" bIns="0" rtlCol="0" anchor="t"/>
          <a:lstStyle/>
          <a:p>
            <a:pPr indent="0" marL="0">
              <a:buNone/>
            </a:pPr>
            <a:r>
              <a:rPr lang="en-US" sz="1300" dirty="0">
                <a:solidFill>
                  <a:srgbClr val="364255"/>
                </a:solidFill>
                <a:latin typeface="Segoe UI" pitchFamily="34" charset="0"/>
                <a:ea typeface="Segoe UI" pitchFamily="34" charset="-122"/>
                <a:cs typeface="Segoe UI" pitchFamily="34" charset="-120"/>
              </a:rPr>
              <a:t>Move things, change values</a:t>
            </a:r>
            <a:endParaRPr lang="en-US" sz="1300" dirty="0"/>
          </a:p>
        </p:txBody>
      </p:sp>
      <p:sp>
        <p:nvSpPr>
          <p:cNvPr id="17" name="Shape 14"/>
          <p:cNvSpPr/>
          <p:nvPr/>
        </p:nvSpPr>
        <p:spPr>
          <a:xfrm>
            <a:off x="8814816" y="2308860"/>
            <a:ext cx="274320" cy="0"/>
          </a:xfrm>
          <a:prstGeom prst="line">
            <a:avLst/>
          </a:prstGeom>
          <a:noFill/>
          <a:ln w="22225">
            <a:solidFill>
              <a:srgbClr val="2354A6"/>
            </a:solidFill>
            <a:prstDash val="solid"/>
            <a:tailEnd type="triangle"/>
          </a:ln>
        </p:spPr>
      </p:sp>
      <p:sp>
        <p:nvSpPr>
          <p:cNvPr id="18" name="Shape 15"/>
          <p:cNvSpPr/>
          <p:nvPr/>
        </p:nvSpPr>
        <p:spPr>
          <a:xfrm>
            <a:off x="9134856" y="1691640"/>
            <a:ext cx="2496312" cy="1234440"/>
          </a:xfrm>
          <a:prstGeom prst="rect">
            <a:avLst/>
          </a:prstGeom>
          <a:solidFill>
            <a:srgbClr val="FBF0DC"/>
          </a:solidFill>
          <a:ln/>
        </p:spPr>
      </p:sp>
      <p:sp>
        <p:nvSpPr>
          <p:cNvPr id="19" name="Text 16"/>
          <p:cNvSpPr txBox="1"/>
          <p:nvPr/>
        </p:nvSpPr>
        <p:spPr>
          <a:xfrm>
            <a:off x="9317736" y="1828800"/>
            <a:ext cx="2130552" cy="566928"/>
          </a:xfrm>
          <a:prstGeom prst="rect">
            <a:avLst/>
          </a:prstGeom>
          <a:noFill/>
          <a:ln/>
        </p:spPr>
        <p:txBody>
          <a:bodyPr wrap="square" lIns="0" tIns="0" rIns="0" bIns="0" rtlCol="0" anchor="t"/>
          <a:lstStyle/>
          <a:p>
            <a:pPr indent="0" marL="0">
              <a:buNone/>
            </a:pPr>
            <a:r>
              <a:rPr lang="en-US" sz="1600" dirty="0">
                <a:solidFill>
                  <a:srgbClr val="8A5200"/>
                </a:solidFill>
                <a:latin typeface="Segoe UI Semibold" pitchFamily="34" charset="0"/>
                <a:ea typeface="Segoe UI Semibold" pitchFamily="34" charset="-122"/>
                <a:cs typeface="Segoe UI Semibold" pitchFamily="34" charset="-120"/>
              </a:rPr>
              <a:t>Stop: the copy is discarded</a:t>
            </a:r>
            <a:endParaRPr lang="en-US" sz="1600" dirty="0"/>
          </a:p>
        </p:txBody>
      </p:sp>
      <p:sp>
        <p:nvSpPr>
          <p:cNvPr id="20" name="Text 17"/>
          <p:cNvSpPr txBox="1"/>
          <p:nvPr/>
        </p:nvSpPr>
        <p:spPr>
          <a:xfrm>
            <a:off x="9317736" y="2395728"/>
            <a:ext cx="2130552" cy="457200"/>
          </a:xfrm>
          <a:prstGeom prst="rect">
            <a:avLst/>
          </a:prstGeom>
          <a:noFill/>
          <a:ln/>
        </p:spPr>
        <p:txBody>
          <a:bodyPr wrap="square" lIns="0" tIns="0" rIns="0" bIns="0" rtlCol="0" anchor="t"/>
          <a:lstStyle/>
          <a:p>
            <a:pPr indent="0" marL="0">
              <a:buNone/>
            </a:pPr>
            <a:r>
              <a:rPr lang="en-US" sz="1300" dirty="0">
                <a:solidFill>
                  <a:srgbClr val="364255"/>
                </a:solidFill>
                <a:latin typeface="Segoe UI" pitchFamily="34" charset="0"/>
                <a:ea typeface="Segoe UI" pitchFamily="34" charset="-122"/>
                <a:cs typeface="Segoe UI" pitchFamily="34" charset="-120"/>
              </a:rPr>
              <a:t>Every change made in Play mode is gone</a:t>
            </a:r>
            <a:endParaRPr lang="en-US" sz="1300" dirty="0"/>
          </a:p>
        </p:txBody>
      </p:sp>
      <p:sp>
        <p:nvSpPr>
          <p:cNvPr id="21" name="Shape 18"/>
          <p:cNvSpPr/>
          <p:nvPr/>
        </p:nvSpPr>
        <p:spPr>
          <a:xfrm>
            <a:off x="548640" y="3246120"/>
            <a:ext cx="5394960" cy="1874520"/>
          </a:xfrm>
          <a:prstGeom prst="rect">
            <a:avLst/>
          </a:prstGeom>
          <a:solidFill>
            <a:srgbClr val="E9EFF9"/>
          </a:solidFill>
          <a:ln/>
        </p:spPr>
      </p:sp>
      <p:sp>
        <p:nvSpPr>
          <p:cNvPr id="22" name="Text 19"/>
          <p:cNvSpPr txBox="1"/>
          <p:nvPr/>
        </p:nvSpPr>
        <p:spPr>
          <a:xfrm>
            <a:off x="822960" y="3429000"/>
            <a:ext cx="4846320" cy="384048"/>
          </a:xfrm>
          <a:prstGeom prst="rect">
            <a:avLst/>
          </a:prstGeom>
          <a:noFill/>
          <a:ln/>
        </p:spPr>
        <p:txBody>
          <a:bodyPr wrap="square" lIns="0" tIns="0" rIns="0" bIns="0" rtlCol="0" anchor="t"/>
          <a:lstStyle/>
          <a:p>
            <a:pPr indent="0" marL="0">
              <a:buNone/>
            </a:pPr>
            <a:r>
              <a:rPr lang="en-US" sz="1900" dirty="0">
                <a:solidFill>
                  <a:srgbClr val="2354A6"/>
                </a:solidFill>
                <a:latin typeface="Segoe UI Semibold" pitchFamily="34" charset="0"/>
                <a:ea typeface="Segoe UI Semibold" pitchFamily="34" charset="-122"/>
                <a:cs typeface="Segoe UI Semibold" pitchFamily="34" charset="-120"/>
              </a:rPr>
              <a:t>Safeguard</a:t>
            </a:r>
            <a:endParaRPr lang="en-US" sz="1900" dirty="0"/>
          </a:p>
        </p:txBody>
      </p:sp>
      <p:sp>
        <p:nvSpPr>
          <p:cNvPr id="23" name="Text 20"/>
          <p:cNvSpPr txBox="1"/>
          <p:nvPr/>
        </p:nvSpPr>
        <p:spPr>
          <a:xfrm>
            <a:off x="822960" y="3886200"/>
            <a:ext cx="4846320" cy="1143000"/>
          </a:xfrm>
          <a:prstGeom prst="rect">
            <a:avLst/>
          </a:prstGeom>
          <a:noFill/>
          <a:ln/>
        </p:spPr>
        <p:txBody>
          <a:bodyPr wrap="square" lIns="0" tIns="0" rIns="0" bIns="0" rtlCol="0" anchor="t"/>
          <a:lstStyle/>
          <a:p>
            <a:pPr indent="0" marL="0">
              <a:spcAft>
                <a:spcPts val="600"/>
              </a:spcAft>
              <a:buNone/>
            </a:pPr>
            <a:r>
              <a:rPr lang="en-US" sz="1500" b="1" dirty="0">
                <a:solidFill>
                  <a:srgbClr val="364255"/>
                </a:solidFill>
                <a:latin typeface="Segoe UI" pitchFamily="34" charset="0"/>
                <a:ea typeface="Segoe UI" pitchFamily="34" charset="-122"/>
                <a:cs typeface="Segoe UI" pitchFamily="34" charset="-120"/>
              </a:rPr>
              <a:t>Edit › Preferences › Colors › Playmode tint</a:t>
            </a:r>
            <a:pPr indent="0" marL="0">
              <a:buNone/>
            </a:pPr>
            <a:r>
              <a:rPr lang="en-US" sz="1500" dirty="0">
                <a:solidFill>
                  <a:srgbClr val="364255"/>
                </a:solidFill>
                <a:latin typeface="Segoe UI" pitchFamily="34" charset="0"/>
                <a:ea typeface="Segoe UI" pitchFamily="34" charset="-122"/>
                <a:cs typeface="Segoe UI" pitchFamily="34" charset="-120"/>
              </a:rPr>
              <a:t>: pick a loud color.</a:t>
            </a:r>
            <a:endParaRPr lang="en-US" sz="1500" dirty="0"/>
          </a:p>
          <a:p>
            <a:pPr indent="0" marL="0">
              <a:spcAft>
                <a:spcPts val="600"/>
              </a:spcAft>
              <a:buNone/>
            </a:pPr>
            <a:r>
              <a:rPr lang="en-US" sz="1500" dirty="0">
                <a:solidFill>
                  <a:srgbClr val="364255"/>
                </a:solidFill>
                <a:latin typeface="Segoe UI" pitchFamily="34" charset="0"/>
                <a:ea typeface="Segoe UI" pitchFamily="34" charset="-122"/>
                <a:cs typeface="Segoe UI" pitchFamily="34" charset="-120"/>
              </a:rPr>
              <a:t>The whole editor changes color while the game runs.</a:t>
            </a:r>
            <a:endParaRPr lang="en-US" sz="1500" dirty="0"/>
          </a:p>
        </p:txBody>
      </p:sp>
      <p:sp>
        <p:nvSpPr>
          <p:cNvPr id="24" name="Shape 21"/>
          <p:cNvSpPr/>
          <p:nvPr/>
        </p:nvSpPr>
        <p:spPr>
          <a:xfrm>
            <a:off x="6245352" y="3246120"/>
            <a:ext cx="5394960" cy="1874520"/>
          </a:xfrm>
          <a:prstGeom prst="rect">
            <a:avLst/>
          </a:prstGeom>
          <a:solidFill>
            <a:srgbClr val="E9EFF9"/>
          </a:solidFill>
          <a:ln/>
        </p:spPr>
      </p:sp>
      <p:sp>
        <p:nvSpPr>
          <p:cNvPr id="25" name="Text 22"/>
          <p:cNvSpPr txBox="1"/>
          <p:nvPr/>
        </p:nvSpPr>
        <p:spPr>
          <a:xfrm>
            <a:off x="6519672" y="3429000"/>
            <a:ext cx="4846320" cy="384048"/>
          </a:xfrm>
          <a:prstGeom prst="rect">
            <a:avLst/>
          </a:prstGeom>
          <a:noFill/>
          <a:ln/>
        </p:spPr>
        <p:txBody>
          <a:bodyPr wrap="square" lIns="0" tIns="0" rIns="0" bIns="0" rtlCol="0" anchor="t"/>
          <a:lstStyle/>
          <a:p>
            <a:pPr indent="0" marL="0">
              <a:buNone/>
            </a:pPr>
            <a:r>
              <a:rPr lang="en-US" sz="1900" dirty="0">
                <a:solidFill>
                  <a:srgbClr val="2354A6"/>
                </a:solidFill>
                <a:latin typeface="Segoe UI Semibold" pitchFamily="34" charset="0"/>
                <a:ea typeface="Segoe UI Semibold" pitchFamily="34" charset="-122"/>
                <a:cs typeface="Segoe UI Semibold" pitchFamily="34" charset="-120"/>
              </a:rPr>
              <a:t>Escape hatch</a:t>
            </a:r>
            <a:endParaRPr lang="en-US" sz="1900" dirty="0"/>
          </a:p>
        </p:txBody>
      </p:sp>
      <p:sp>
        <p:nvSpPr>
          <p:cNvPr id="26" name="Text 23"/>
          <p:cNvSpPr txBox="1"/>
          <p:nvPr/>
        </p:nvSpPr>
        <p:spPr>
          <a:xfrm>
            <a:off x="6519672" y="3886200"/>
            <a:ext cx="4846320" cy="1143000"/>
          </a:xfrm>
          <a:prstGeom prst="rect">
            <a:avLst/>
          </a:prstGeom>
          <a:noFill/>
          <a:ln/>
        </p:spPr>
        <p:txBody>
          <a:bodyPr wrap="square" lIns="0" tIns="0" rIns="0" bIns="0" rtlCol="0" anchor="t"/>
          <a:lstStyle/>
          <a:p>
            <a:pPr indent="0" marL="0">
              <a:spcAft>
                <a:spcPts val="600"/>
              </a:spcAft>
              <a:buNone/>
            </a:pPr>
            <a:r>
              <a:rPr lang="en-US" sz="1500" dirty="0">
                <a:solidFill>
                  <a:srgbClr val="364255"/>
                </a:solidFill>
                <a:latin typeface="Segoe UI" pitchFamily="34" charset="0"/>
                <a:ea typeface="Segoe UI" pitchFamily="34" charset="-122"/>
                <a:cs typeface="Segoe UI" pitchFamily="34" charset="-120"/>
              </a:rPr>
              <a:t>Before Stop: component </a:t>
            </a:r>
            <a:pPr indent="0" marL="0">
              <a:buNone/>
            </a:pPr>
            <a:r>
              <a:rPr lang="en-US" sz="1500" b="1" dirty="0">
                <a:solidFill>
                  <a:srgbClr val="364255"/>
                </a:solidFill>
                <a:latin typeface="Segoe UI" pitchFamily="34" charset="0"/>
                <a:ea typeface="Segoe UI" pitchFamily="34" charset="-122"/>
                <a:cs typeface="Segoe UI" pitchFamily="34" charset="-120"/>
              </a:rPr>
              <a:t>⋮ › Copy Component</a:t>
            </a:r>
            <a:pPr indent="0" marL="0">
              <a:buNone/>
            </a:pPr>
            <a:r>
              <a:rPr lang="en-US" sz="1500" dirty="0">
                <a:solidFill>
                  <a:srgbClr val="364255"/>
                </a:solidFill>
                <a:latin typeface="Segoe UI" pitchFamily="34" charset="0"/>
                <a:ea typeface="Segoe UI" pitchFamily="34" charset="-122"/>
                <a:cs typeface="Segoe UI" pitchFamily="34" charset="-120"/>
              </a:rPr>
              <a:t>.</a:t>
            </a:r>
            <a:endParaRPr lang="en-US" sz="1500" dirty="0"/>
          </a:p>
          <a:p>
            <a:pPr indent="0" marL="0">
              <a:spcAft>
                <a:spcPts val="600"/>
              </a:spcAft>
              <a:buNone/>
            </a:pPr>
            <a:r>
              <a:rPr lang="en-US" sz="1500" dirty="0">
                <a:solidFill>
                  <a:srgbClr val="364255"/>
                </a:solidFill>
                <a:latin typeface="Segoe UI" pitchFamily="34" charset="0"/>
                <a:ea typeface="Segoe UI" pitchFamily="34" charset="-122"/>
                <a:cs typeface="Segoe UI" pitchFamily="34" charset="-120"/>
              </a:rPr>
              <a:t>After Stop: </a:t>
            </a:r>
            <a:pPr indent="0" marL="0">
              <a:buNone/>
            </a:pPr>
            <a:r>
              <a:rPr lang="en-US" sz="1500" b="1" dirty="0">
                <a:solidFill>
                  <a:srgbClr val="364255"/>
                </a:solidFill>
                <a:latin typeface="Segoe UI" pitchFamily="34" charset="0"/>
                <a:ea typeface="Segoe UI" pitchFamily="34" charset="-122"/>
                <a:cs typeface="Segoe UI" pitchFamily="34" charset="-120"/>
              </a:rPr>
              <a:t>⋮ › Paste Component Values</a:t>
            </a:r>
            <a:pPr indent="0" marL="0">
              <a:buNone/>
            </a:pPr>
            <a:r>
              <a:rPr lang="en-US" sz="1500" dirty="0">
                <a:solidFill>
                  <a:srgbClr val="364255"/>
                </a:solidFill>
                <a:latin typeface="Segoe UI" pitchFamily="34" charset="0"/>
                <a:ea typeface="Segoe UI" pitchFamily="34" charset="-122"/>
                <a:cs typeface="Segoe UI" pitchFamily="34" charset="-120"/>
              </a:rPr>
              <a:t>. Nothing else survives.</a:t>
            </a:r>
            <a:endParaRPr lang="en-US" sz="1500" dirty="0"/>
          </a:p>
        </p:txBody>
      </p:sp>
      <p:sp>
        <p:nvSpPr>
          <p:cNvPr id="27" name="Text 24"/>
          <p:cNvSpPr txBox="1"/>
          <p:nvPr/>
        </p:nvSpPr>
        <p:spPr>
          <a:xfrm>
            <a:off x="548640" y="5440680"/>
            <a:ext cx="11094415" cy="411480"/>
          </a:xfrm>
          <a:prstGeom prst="rect">
            <a:avLst/>
          </a:prstGeom>
          <a:noFill/>
          <a:ln/>
        </p:spPr>
        <p:txBody>
          <a:bodyPr wrap="square" lIns="0" tIns="0" rIns="0" bIns="0" rtlCol="0" anchor="t"/>
          <a:lstStyle/>
          <a:p>
            <a:pPr indent="0" marL="0">
              <a:buNone/>
            </a:pPr>
            <a:r>
              <a:rPr lang="en-US" sz="1600" b="1" dirty="0">
                <a:solidFill>
                  <a:srgbClr val="18202E"/>
                </a:solidFill>
                <a:latin typeface="Segoe UI" pitchFamily="34" charset="0"/>
                <a:ea typeface="Segoe UI" pitchFamily="34" charset="-122"/>
                <a:cs typeface="Segoe UI" pitchFamily="34" charset="-120"/>
              </a:rPr>
              <a:t>Play does nothing? There is a compile error: read the first red message in the Console.</a:t>
            </a:r>
            <a:endParaRPr lang="en-US" sz="16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2 · THE EDITOR</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Keys you will use today</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Text 3"/>
          <p:cNvSpPr txBox="1"/>
          <p:nvPr/>
        </p:nvSpPr>
        <p:spPr>
          <a:xfrm>
            <a:off x="1107415" y="1691640"/>
            <a:ext cx="731520" cy="731520"/>
          </a:xfrm>
          <a:prstGeom prst="roundRect">
            <a:avLst>
              <a:gd name="adj" fmla="val 8750"/>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Q</a:t>
            </a:r>
            <a:endParaRPr lang="en-US" sz="1800" dirty="0"/>
          </a:p>
        </p:txBody>
      </p:sp>
      <p:sp>
        <p:nvSpPr>
          <p:cNvPr id="7" name="Text 4"/>
          <p:cNvSpPr txBox="1"/>
          <p:nvPr/>
        </p:nvSpPr>
        <p:spPr>
          <a:xfrm>
            <a:off x="548640" y="2514600"/>
            <a:ext cx="1849069" cy="320040"/>
          </a:xfrm>
          <a:prstGeom prst="rect">
            <a:avLst/>
          </a:prstGeom>
          <a:noFill/>
          <a:ln/>
        </p:spPr>
        <p:txBody>
          <a:bodyPr wrap="square" lIns="0" tIns="0" rIns="0" bIns="0" rtlCol="0" anchor="t"/>
          <a:lstStyle/>
          <a:p>
            <a:pPr algn="ctr" indent="0" marL="0">
              <a:buNone/>
            </a:pPr>
            <a:r>
              <a:rPr lang="en-US" sz="1500" dirty="0">
                <a:solidFill>
                  <a:srgbClr val="364255"/>
                </a:solidFill>
                <a:latin typeface="Segoe UI" pitchFamily="34" charset="0"/>
                <a:ea typeface="Segoe UI" pitchFamily="34" charset="-122"/>
                <a:cs typeface="Segoe UI" pitchFamily="34" charset="-120"/>
              </a:rPr>
              <a:t>Hand</a:t>
            </a:r>
            <a:endParaRPr lang="en-US" sz="1500" dirty="0"/>
          </a:p>
        </p:txBody>
      </p:sp>
      <p:sp>
        <p:nvSpPr>
          <p:cNvPr id="8" name="Text 5"/>
          <p:cNvSpPr txBox="1"/>
          <p:nvPr/>
        </p:nvSpPr>
        <p:spPr>
          <a:xfrm>
            <a:off x="2956484" y="1691640"/>
            <a:ext cx="731520" cy="731520"/>
          </a:xfrm>
          <a:prstGeom prst="roundRect">
            <a:avLst>
              <a:gd name="adj" fmla="val 8750"/>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W</a:t>
            </a:r>
            <a:endParaRPr lang="en-US" sz="1800" dirty="0"/>
          </a:p>
        </p:txBody>
      </p:sp>
      <p:sp>
        <p:nvSpPr>
          <p:cNvPr id="9" name="Text 6"/>
          <p:cNvSpPr txBox="1"/>
          <p:nvPr/>
        </p:nvSpPr>
        <p:spPr>
          <a:xfrm>
            <a:off x="2397709" y="2514600"/>
            <a:ext cx="1849069" cy="320040"/>
          </a:xfrm>
          <a:prstGeom prst="rect">
            <a:avLst/>
          </a:prstGeom>
          <a:noFill/>
          <a:ln/>
        </p:spPr>
        <p:txBody>
          <a:bodyPr wrap="square" lIns="0" tIns="0" rIns="0" bIns="0" rtlCol="0" anchor="t"/>
          <a:lstStyle/>
          <a:p>
            <a:pPr algn="ctr" indent="0" marL="0">
              <a:buNone/>
            </a:pPr>
            <a:r>
              <a:rPr lang="en-US" sz="1500" b="1" dirty="0">
                <a:solidFill>
                  <a:srgbClr val="2354A6"/>
                </a:solidFill>
                <a:latin typeface="Segoe UI" pitchFamily="34" charset="0"/>
                <a:ea typeface="Segoe UI" pitchFamily="34" charset="-122"/>
                <a:cs typeface="Segoe UI" pitchFamily="34" charset="-120"/>
              </a:rPr>
              <a:t>Move</a:t>
            </a:r>
            <a:endParaRPr lang="en-US" sz="1500" dirty="0"/>
          </a:p>
        </p:txBody>
      </p:sp>
      <p:sp>
        <p:nvSpPr>
          <p:cNvPr id="10" name="Text 7"/>
          <p:cNvSpPr txBox="1"/>
          <p:nvPr/>
        </p:nvSpPr>
        <p:spPr>
          <a:xfrm>
            <a:off x="4805553" y="1691640"/>
            <a:ext cx="731520" cy="731520"/>
          </a:xfrm>
          <a:prstGeom prst="roundRect">
            <a:avLst>
              <a:gd name="adj" fmla="val 8750"/>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E</a:t>
            </a:r>
            <a:endParaRPr lang="en-US" sz="1800" dirty="0"/>
          </a:p>
        </p:txBody>
      </p:sp>
      <p:sp>
        <p:nvSpPr>
          <p:cNvPr id="11" name="Text 8"/>
          <p:cNvSpPr txBox="1"/>
          <p:nvPr/>
        </p:nvSpPr>
        <p:spPr>
          <a:xfrm>
            <a:off x="4246778" y="2514600"/>
            <a:ext cx="1849069" cy="320040"/>
          </a:xfrm>
          <a:prstGeom prst="rect">
            <a:avLst/>
          </a:prstGeom>
          <a:noFill/>
          <a:ln/>
        </p:spPr>
        <p:txBody>
          <a:bodyPr wrap="square" lIns="0" tIns="0" rIns="0" bIns="0" rtlCol="0" anchor="t"/>
          <a:lstStyle/>
          <a:p>
            <a:pPr algn="ctr" indent="0" marL="0">
              <a:buNone/>
            </a:pPr>
            <a:r>
              <a:rPr lang="en-US" sz="1500" dirty="0">
                <a:solidFill>
                  <a:srgbClr val="364255"/>
                </a:solidFill>
                <a:latin typeface="Segoe UI" pitchFamily="34" charset="0"/>
                <a:ea typeface="Segoe UI" pitchFamily="34" charset="-122"/>
                <a:cs typeface="Segoe UI" pitchFamily="34" charset="-120"/>
              </a:rPr>
              <a:t>Rotate</a:t>
            </a:r>
            <a:endParaRPr lang="en-US" sz="1500" dirty="0"/>
          </a:p>
        </p:txBody>
      </p:sp>
      <p:sp>
        <p:nvSpPr>
          <p:cNvPr id="12" name="Text 9"/>
          <p:cNvSpPr txBox="1"/>
          <p:nvPr/>
        </p:nvSpPr>
        <p:spPr>
          <a:xfrm>
            <a:off x="6654622" y="1691640"/>
            <a:ext cx="731520" cy="731520"/>
          </a:xfrm>
          <a:prstGeom prst="roundRect">
            <a:avLst>
              <a:gd name="adj" fmla="val 8750"/>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R</a:t>
            </a:r>
            <a:endParaRPr lang="en-US" sz="1800" dirty="0"/>
          </a:p>
        </p:txBody>
      </p:sp>
      <p:sp>
        <p:nvSpPr>
          <p:cNvPr id="13" name="Text 10"/>
          <p:cNvSpPr txBox="1"/>
          <p:nvPr/>
        </p:nvSpPr>
        <p:spPr>
          <a:xfrm>
            <a:off x="6095848" y="2514600"/>
            <a:ext cx="1849069" cy="320040"/>
          </a:xfrm>
          <a:prstGeom prst="rect">
            <a:avLst/>
          </a:prstGeom>
          <a:noFill/>
          <a:ln/>
        </p:spPr>
        <p:txBody>
          <a:bodyPr wrap="square" lIns="0" tIns="0" rIns="0" bIns="0" rtlCol="0" anchor="t"/>
          <a:lstStyle/>
          <a:p>
            <a:pPr algn="ctr" indent="0" marL="0">
              <a:buNone/>
            </a:pPr>
            <a:r>
              <a:rPr lang="en-US" sz="1500" dirty="0">
                <a:solidFill>
                  <a:srgbClr val="364255"/>
                </a:solidFill>
                <a:latin typeface="Segoe UI" pitchFamily="34" charset="0"/>
                <a:ea typeface="Segoe UI" pitchFamily="34" charset="-122"/>
                <a:cs typeface="Segoe UI" pitchFamily="34" charset="-120"/>
              </a:rPr>
              <a:t>Scale</a:t>
            </a:r>
            <a:endParaRPr lang="en-US" sz="1500" dirty="0"/>
          </a:p>
        </p:txBody>
      </p:sp>
      <p:sp>
        <p:nvSpPr>
          <p:cNvPr id="14" name="Text 11"/>
          <p:cNvSpPr txBox="1"/>
          <p:nvPr/>
        </p:nvSpPr>
        <p:spPr>
          <a:xfrm>
            <a:off x="8503691" y="1691640"/>
            <a:ext cx="731520" cy="731520"/>
          </a:xfrm>
          <a:prstGeom prst="roundRect">
            <a:avLst>
              <a:gd name="adj" fmla="val 8750"/>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T</a:t>
            </a:r>
            <a:endParaRPr lang="en-US" sz="1800" dirty="0"/>
          </a:p>
        </p:txBody>
      </p:sp>
      <p:sp>
        <p:nvSpPr>
          <p:cNvPr id="15" name="Text 12"/>
          <p:cNvSpPr txBox="1"/>
          <p:nvPr/>
        </p:nvSpPr>
        <p:spPr>
          <a:xfrm>
            <a:off x="7944917" y="2514600"/>
            <a:ext cx="1849069" cy="320040"/>
          </a:xfrm>
          <a:prstGeom prst="rect">
            <a:avLst/>
          </a:prstGeom>
          <a:noFill/>
          <a:ln/>
        </p:spPr>
        <p:txBody>
          <a:bodyPr wrap="square" lIns="0" tIns="0" rIns="0" bIns="0" rtlCol="0" anchor="t"/>
          <a:lstStyle/>
          <a:p>
            <a:pPr algn="ctr" indent="0" marL="0">
              <a:buNone/>
            </a:pPr>
            <a:r>
              <a:rPr lang="en-US" sz="1500" dirty="0">
                <a:solidFill>
                  <a:srgbClr val="364255"/>
                </a:solidFill>
                <a:latin typeface="Segoe UI" pitchFamily="34" charset="0"/>
                <a:ea typeface="Segoe UI" pitchFamily="34" charset="-122"/>
                <a:cs typeface="Segoe UI" pitchFamily="34" charset="-120"/>
              </a:rPr>
              <a:t>Rect</a:t>
            </a:r>
            <a:endParaRPr lang="en-US" sz="1500" dirty="0"/>
          </a:p>
        </p:txBody>
      </p:sp>
      <p:sp>
        <p:nvSpPr>
          <p:cNvPr id="16" name="Text 13"/>
          <p:cNvSpPr txBox="1"/>
          <p:nvPr/>
        </p:nvSpPr>
        <p:spPr>
          <a:xfrm>
            <a:off x="10352761" y="1691640"/>
            <a:ext cx="731520" cy="731520"/>
          </a:xfrm>
          <a:prstGeom prst="roundRect">
            <a:avLst>
              <a:gd name="adj" fmla="val 8750"/>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Y</a:t>
            </a:r>
            <a:endParaRPr lang="en-US" sz="1800" dirty="0"/>
          </a:p>
        </p:txBody>
      </p:sp>
      <p:sp>
        <p:nvSpPr>
          <p:cNvPr id="17" name="Text 14"/>
          <p:cNvSpPr txBox="1"/>
          <p:nvPr/>
        </p:nvSpPr>
        <p:spPr>
          <a:xfrm>
            <a:off x="9793986" y="2514600"/>
            <a:ext cx="1849069" cy="320040"/>
          </a:xfrm>
          <a:prstGeom prst="rect">
            <a:avLst/>
          </a:prstGeom>
          <a:noFill/>
          <a:ln/>
        </p:spPr>
        <p:txBody>
          <a:bodyPr wrap="square" lIns="0" tIns="0" rIns="0" bIns="0" rtlCol="0" anchor="t"/>
          <a:lstStyle/>
          <a:p>
            <a:pPr algn="ctr" indent="0" marL="0">
              <a:buNone/>
            </a:pPr>
            <a:r>
              <a:rPr lang="en-US" sz="1500" dirty="0">
                <a:solidFill>
                  <a:srgbClr val="364255"/>
                </a:solidFill>
                <a:latin typeface="Segoe UI" pitchFamily="34" charset="0"/>
                <a:ea typeface="Segoe UI" pitchFamily="34" charset="-122"/>
                <a:cs typeface="Segoe UI" pitchFamily="34" charset="-120"/>
              </a:rPr>
              <a:t>Transform</a:t>
            </a:r>
            <a:endParaRPr lang="en-US" sz="1500" dirty="0"/>
          </a:p>
        </p:txBody>
      </p:sp>
      <p:sp>
        <p:nvSpPr>
          <p:cNvPr id="18" name="Text 15"/>
          <p:cNvSpPr txBox="1"/>
          <p:nvPr/>
        </p:nvSpPr>
        <p:spPr>
          <a:xfrm>
            <a:off x="548640" y="3246120"/>
            <a:ext cx="548640" cy="502920"/>
          </a:xfrm>
          <a:prstGeom prst="roundRect">
            <a:avLst>
              <a:gd name="adj" fmla="val 12727"/>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F</a:t>
            </a:r>
            <a:endParaRPr lang="en-US" sz="1800" dirty="0"/>
          </a:p>
        </p:txBody>
      </p:sp>
      <p:sp>
        <p:nvSpPr>
          <p:cNvPr id="19" name="Text 16"/>
          <p:cNvSpPr txBox="1"/>
          <p:nvPr/>
        </p:nvSpPr>
        <p:spPr>
          <a:xfrm>
            <a:off x="2880360" y="3319272"/>
            <a:ext cx="3063240" cy="365760"/>
          </a:xfrm>
          <a:prstGeom prst="rect">
            <a:avLst/>
          </a:prstGeom>
          <a:noFill/>
          <a:ln/>
        </p:spPr>
        <p:txBody>
          <a:bodyPr wrap="square" lIns="0" tIns="0" rIns="0" bIns="0" rtlCol="0" anchor="t"/>
          <a:lstStyle/>
          <a:p>
            <a:pPr indent="0" marL="0">
              <a:buNone/>
            </a:pPr>
            <a:r>
              <a:rPr lang="en-US" sz="1600" dirty="0">
                <a:solidFill>
                  <a:srgbClr val="18202E"/>
                </a:solidFill>
                <a:latin typeface="Segoe UI" pitchFamily="34" charset="0"/>
                <a:ea typeface="Segoe UI" pitchFamily="34" charset="-122"/>
                <a:cs typeface="Segoe UI" pitchFamily="34" charset="-120"/>
              </a:rPr>
              <a:t>Frame the selected object</a:t>
            </a:r>
            <a:endParaRPr lang="en-US" sz="1600" dirty="0"/>
          </a:p>
        </p:txBody>
      </p:sp>
      <p:sp>
        <p:nvSpPr>
          <p:cNvPr id="20" name="Text 17"/>
          <p:cNvSpPr txBox="1"/>
          <p:nvPr/>
        </p:nvSpPr>
        <p:spPr>
          <a:xfrm>
            <a:off x="548640" y="3959352"/>
            <a:ext cx="640080" cy="502920"/>
          </a:xfrm>
          <a:prstGeom prst="roundRect">
            <a:avLst>
              <a:gd name="adj" fmla="val 12727"/>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F2</a:t>
            </a:r>
            <a:endParaRPr lang="en-US" sz="1800" dirty="0"/>
          </a:p>
        </p:txBody>
      </p:sp>
      <p:sp>
        <p:nvSpPr>
          <p:cNvPr id="21" name="Text 18"/>
          <p:cNvSpPr txBox="1"/>
          <p:nvPr/>
        </p:nvSpPr>
        <p:spPr>
          <a:xfrm>
            <a:off x="2880360" y="4032504"/>
            <a:ext cx="3063240" cy="365760"/>
          </a:xfrm>
          <a:prstGeom prst="rect">
            <a:avLst/>
          </a:prstGeom>
          <a:noFill/>
          <a:ln/>
        </p:spPr>
        <p:txBody>
          <a:bodyPr wrap="square" lIns="0" tIns="0" rIns="0" bIns="0" rtlCol="0" anchor="t"/>
          <a:lstStyle/>
          <a:p>
            <a:pPr indent="0" marL="0">
              <a:buNone/>
            </a:pPr>
            <a:r>
              <a:rPr lang="en-US" sz="1600" dirty="0">
                <a:solidFill>
                  <a:srgbClr val="18202E"/>
                </a:solidFill>
                <a:latin typeface="Segoe UI" pitchFamily="34" charset="0"/>
                <a:ea typeface="Segoe UI" pitchFamily="34" charset="-122"/>
                <a:cs typeface="Segoe UI" pitchFamily="34" charset="-120"/>
              </a:rPr>
              <a:t>Rename</a:t>
            </a:r>
            <a:endParaRPr lang="en-US" sz="1600" dirty="0"/>
          </a:p>
        </p:txBody>
      </p:sp>
      <p:sp>
        <p:nvSpPr>
          <p:cNvPr id="22" name="Text 19"/>
          <p:cNvSpPr txBox="1"/>
          <p:nvPr/>
        </p:nvSpPr>
        <p:spPr>
          <a:xfrm>
            <a:off x="548640" y="4672584"/>
            <a:ext cx="868680" cy="502920"/>
          </a:xfrm>
          <a:prstGeom prst="roundRect">
            <a:avLst>
              <a:gd name="adj" fmla="val 12727"/>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Ctrl</a:t>
            </a:r>
            <a:endParaRPr lang="en-US" sz="1800" dirty="0"/>
          </a:p>
        </p:txBody>
      </p:sp>
      <p:sp>
        <p:nvSpPr>
          <p:cNvPr id="23" name="Text 20"/>
          <p:cNvSpPr txBox="1"/>
          <p:nvPr/>
        </p:nvSpPr>
        <p:spPr>
          <a:xfrm>
            <a:off x="1417320" y="4736592"/>
            <a:ext cx="274320" cy="365760"/>
          </a:xfrm>
          <a:prstGeom prst="rect">
            <a:avLst/>
          </a:prstGeom>
          <a:noFill/>
          <a:ln/>
        </p:spPr>
        <p:txBody>
          <a:bodyPr wrap="square" lIns="0" tIns="0" rIns="0" bIns="0" rtlCol="0" anchor="t"/>
          <a:lstStyle/>
          <a:p>
            <a:pPr algn="ctr" indent="0" marL="0">
              <a:buNone/>
            </a:pPr>
            <a:r>
              <a:rPr lang="en-US" sz="1600" dirty="0">
                <a:solidFill>
                  <a:srgbClr val="5B6678"/>
                </a:solidFill>
                <a:latin typeface="Segoe UI" pitchFamily="34" charset="0"/>
                <a:ea typeface="Segoe UI" pitchFamily="34" charset="-122"/>
                <a:cs typeface="Segoe UI" pitchFamily="34" charset="-120"/>
              </a:rPr>
              <a:t>+</a:t>
            </a:r>
            <a:endParaRPr lang="en-US" sz="1600" dirty="0"/>
          </a:p>
        </p:txBody>
      </p:sp>
      <p:sp>
        <p:nvSpPr>
          <p:cNvPr id="24" name="Text 21"/>
          <p:cNvSpPr txBox="1"/>
          <p:nvPr/>
        </p:nvSpPr>
        <p:spPr>
          <a:xfrm>
            <a:off x="1691640" y="4672584"/>
            <a:ext cx="548640" cy="502920"/>
          </a:xfrm>
          <a:prstGeom prst="roundRect">
            <a:avLst>
              <a:gd name="adj" fmla="val 12727"/>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D</a:t>
            </a:r>
            <a:endParaRPr lang="en-US" sz="1800" dirty="0"/>
          </a:p>
        </p:txBody>
      </p:sp>
      <p:sp>
        <p:nvSpPr>
          <p:cNvPr id="25" name="Text 22"/>
          <p:cNvSpPr txBox="1"/>
          <p:nvPr/>
        </p:nvSpPr>
        <p:spPr>
          <a:xfrm>
            <a:off x="2880360" y="4745736"/>
            <a:ext cx="3063240" cy="365760"/>
          </a:xfrm>
          <a:prstGeom prst="rect">
            <a:avLst/>
          </a:prstGeom>
          <a:noFill/>
          <a:ln/>
        </p:spPr>
        <p:txBody>
          <a:bodyPr wrap="square" lIns="0" tIns="0" rIns="0" bIns="0" rtlCol="0" anchor="t"/>
          <a:lstStyle/>
          <a:p>
            <a:pPr indent="0" marL="0">
              <a:buNone/>
            </a:pPr>
            <a:r>
              <a:rPr lang="en-US" sz="1600" dirty="0">
                <a:solidFill>
                  <a:srgbClr val="18202E"/>
                </a:solidFill>
                <a:latin typeface="Segoe UI" pitchFamily="34" charset="0"/>
                <a:ea typeface="Segoe UI" pitchFamily="34" charset="-122"/>
                <a:cs typeface="Segoe UI" pitchFamily="34" charset="-120"/>
              </a:rPr>
              <a:t>Duplicate</a:t>
            </a:r>
            <a:endParaRPr lang="en-US" sz="1600" dirty="0"/>
          </a:p>
        </p:txBody>
      </p:sp>
      <p:sp>
        <p:nvSpPr>
          <p:cNvPr id="26" name="Text 23"/>
          <p:cNvSpPr txBox="1"/>
          <p:nvPr/>
        </p:nvSpPr>
        <p:spPr>
          <a:xfrm>
            <a:off x="548640" y="5385816"/>
            <a:ext cx="868680" cy="502920"/>
          </a:xfrm>
          <a:prstGeom prst="roundRect">
            <a:avLst>
              <a:gd name="adj" fmla="val 12727"/>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Ctrl</a:t>
            </a:r>
            <a:endParaRPr lang="en-US" sz="1800" dirty="0"/>
          </a:p>
        </p:txBody>
      </p:sp>
      <p:sp>
        <p:nvSpPr>
          <p:cNvPr id="27" name="Text 24"/>
          <p:cNvSpPr txBox="1"/>
          <p:nvPr/>
        </p:nvSpPr>
        <p:spPr>
          <a:xfrm>
            <a:off x="1417320" y="5449824"/>
            <a:ext cx="274320" cy="365760"/>
          </a:xfrm>
          <a:prstGeom prst="rect">
            <a:avLst/>
          </a:prstGeom>
          <a:noFill/>
          <a:ln/>
        </p:spPr>
        <p:txBody>
          <a:bodyPr wrap="square" lIns="0" tIns="0" rIns="0" bIns="0" rtlCol="0" anchor="t"/>
          <a:lstStyle/>
          <a:p>
            <a:pPr algn="ctr" indent="0" marL="0">
              <a:buNone/>
            </a:pPr>
            <a:r>
              <a:rPr lang="en-US" sz="1600" dirty="0">
                <a:solidFill>
                  <a:srgbClr val="5B6678"/>
                </a:solidFill>
                <a:latin typeface="Segoe UI" pitchFamily="34" charset="0"/>
                <a:ea typeface="Segoe UI" pitchFamily="34" charset="-122"/>
                <a:cs typeface="Segoe UI" pitchFamily="34" charset="-120"/>
              </a:rPr>
              <a:t>+</a:t>
            </a:r>
            <a:endParaRPr lang="en-US" sz="1600" dirty="0"/>
          </a:p>
        </p:txBody>
      </p:sp>
      <p:sp>
        <p:nvSpPr>
          <p:cNvPr id="28" name="Text 25"/>
          <p:cNvSpPr txBox="1"/>
          <p:nvPr/>
        </p:nvSpPr>
        <p:spPr>
          <a:xfrm>
            <a:off x="1691640" y="5385816"/>
            <a:ext cx="548640" cy="502920"/>
          </a:xfrm>
          <a:prstGeom prst="roundRect">
            <a:avLst>
              <a:gd name="adj" fmla="val 12727"/>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S</a:t>
            </a:r>
            <a:endParaRPr lang="en-US" sz="1800" dirty="0"/>
          </a:p>
        </p:txBody>
      </p:sp>
      <p:sp>
        <p:nvSpPr>
          <p:cNvPr id="29" name="Text 26"/>
          <p:cNvSpPr txBox="1"/>
          <p:nvPr/>
        </p:nvSpPr>
        <p:spPr>
          <a:xfrm>
            <a:off x="2880360" y="5458968"/>
            <a:ext cx="3063240" cy="365760"/>
          </a:xfrm>
          <a:prstGeom prst="rect">
            <a:avLst/>
          </a:prstGeom>
          <a:noFill/>
          <a:ln/>
        </p:spPr>
        <p:txBody>
          <a:bodyPr wrap="square" lIns="0" tIns="0" rIns="0" bIns="0" rtlCol="0" anchor="t"/>
          <a:lstStyle/>
          <a:p>
            <a:pPr indent="0" marL="0">
              <a:buNone/>
            </a:pPr>
            <a:r>
              <a:rPr lang="en-US" sz="1600" dirty="0">
                <a:solidFill>
                  <a:srgbClr val="18202E"/>
                </a:solidFill>
                <a:latin typeface="Segoe UI" pitchFamily="34" charset="0"/>
                <a:ea typeface="Segoe UI" pitchFamily="34" charset="-122"/>
                <a:cs typeface="Segoe UI" pitchFamily="34" charset="-120"/>
              </a:rPr>
              <a:t>Save the scene</a:t>
            </a:r>
            <a:endParaRPr lang="en-US" sz="1600" dirty="0"/>
          </a:p>
        </p:txBody>
      </p:sp>
      <p:sp>
        <p:nvSpPr>
          <p:cNvPr id="30" name="Text 27"/>
          <p:cNvSpPr txBox="1"/>
          <p:nvPr/>
        </p:nvSpPr>
        <p:spPr>
          <a:xfrm>
            <a:off x="6245352" y="3246120"/>
            <a:ext cx="868680" cy="502920"/>
          </a:xfrm>
          <a:prstGeom prst="roundRect">
            <a:avLst>
              <a:gd name="adj" fmla="val 12727"/>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Ctrl</a:t>
            </a:r>
            <a:endParaRPr lang="en-US" sz="1800" dirty="0"/>
          </a:p>
        </p:txBody>
      </p:sp>
      <p:sp>
        <p:nvSpPr>
          <p:cNvPr id="31" name="Text 28"/>
          <p:cNvSpPr txBox="1"/>
          <p:nvPr/>
        </p:nvSpPr>
        <p:spPr>
          <a:xfrm>
            <a:off x="7114032" y="3310128"/>
            <a:ext cx="274320" cy="365760"/>
          </a:xfrm>
          <a:prstGeom prst="rect">
            <a:avLst/>
          </a:prstGeom>
          <a:noFill/>
          <a:ln/>
        </p:spPr>
        <p:txBody>
          <a:bodyPr wrap="square" lIns="0" tIns="0" rIns="0" bIns="0" rtlCol="0" anchor="t"/>
          <a:lstStyle/>
          <a:p>
            <a:pPr algn="ctr" indent="0" marL="0">
              <a:buNone/>
            </a:pPr>
            <a:r>
              <a:rPr lang="en-US" sz="1600" dirty="0">
                <a:solidFill>
                  <a:srgbClr val="5B6678"/>
                </a:solidFill>
                <a:latin typeface="Segoe UI" pitchFamily="34" charset="0"/>
                <a:ea typeface="Segoe UI" pitchFamily="34" charset="-122"/>
                <a:cs typeface="Segoe UI" pitchFamily="34" charset="-120"/>
              </a:rPr>
              <a:t>+</a:t>
            </a:r>
            <a:endParaRPr lang="en-US" sz="1600" dirty="0"/>
          </a:p>
        </p:txBody>
      </p:sp>
      <p:sp>
        <p:nvSpPr>
          <p:cNvPr id="32" name="Text 29"/>
          <p:cNvSpPr txBox="1"/>
          <p:nvPr/>
        </p:nvSpPr>
        <p:spPr>
          <a:xfrm>
            <a:off x="7388352" y="3246120"/>
            <a:ext cx="960120" cy="502920"/>
          </a:xfrm>
          <a:prstGeom prst="roundRect">
            <a:avLst>
              <a:gd name="adj" fmla="val 12727"/>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drag</a:t>
            </a:r>
            <a:endParaRPr lang="en-US" sz="1800" dirty="0"/>
          </a:p>
        </p:txBody>
      </p:sp>
      <p:sp>
        <p:nvSpPr>
          <p:cNvPr id="33" name="Text 30"/>
          <p:cNvSpPr txBox="1"/>
          <p:nvPr/>
        </p:nvSpPr>
        <p:spPr>
          <a:xfrm>
            <a:off x="8577072" y="3319272"/>
            <a:ext cx="3063240" cy="365760"/>
          </a:xfrm>
          <a:prstGeom prst="rect">
            <a:avLst/>
          </a:prstGeom>
          <a:noFill/>
          <a:ln/>
        </p:spPr>
        <p:txBody>
          <a:bodyPr wrap="square" lIns="0" tIns="0" rIns="0" bIns="0" rtlCol="0" anchor="t"/>
          <a:lstStyle/>
          <a:p>
            <a:pPr indent="0" marL="0">
              <a:buNone/>
            </a:pPr>
            <a:r>
              <a:rPr lang="en-US" sz="1600" dirty="0">
                <a:solidFill>
                  <a:srgbClr val="18202E"/>
                </a:solidFill>
                <a:latin typeface="Segoe UI" pitchFamily="34" charset="0"/>
                <a:ea typeface="Segoe UI" pitchFamily="34" charset="-122"/>
                <a:cs typeface="Segoe UI" pitchFamily="34" charset="-120"/>
              </a:rPr>
              <a:t>Snap while moving</a:t>
            </a:r>
            <a:endParaRPr lang="en-US" sz="1600" dirty="0"/>
          </a:p>
        </p:txBody>
      </p:sp>
      <p:sp>
        <p:nvSpPr>
          <p:cNvPr id="34" name="Text 31"/>
          <p:cNvSpPr txBox="1"/>
          <p:nvPr/>
        </p:nvSpPr>
        <p:spPr>
          <a:xfrm>
            <a:off x="6245352" y="3959352"/>
            <a:ext cx="1691640" cy="502920"/>
          </a:xfrm>
          <a:prstGeom prst="roundRect">
            <a:avLst>
              <a:gd name="adj" fmla="val 12727"/>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Middle-drag</a:t>
            </a:r>
            <a:endParaRPr lang="en-US" sz="1800" dirty="0"/>
          </a:p>
        </p:txBody>
      </p:sp>
      <p:sp>
        <p:nvSpPr>
          <p:cNvPr id="35" name="Text 32"/>
          <p:cNvSpPr txBox="1"/>
          <p:nvPr/>
        </p:nvSpPr>
        <p:spPr>
          <a:xfrm>
            <a:off x="8577072" y="4032504"/>
            <a:ext cx="3063240" cy="365760"/>
          </a:xfrm>
          <a:prstGeom prst="rect">
            <a:avLst/>
          </a:prstGeom>
          <a:noFill/>
          <a:ln/>
        </p:spPr>
        <p:txBody>
          <a:bodyPr wrap="square" lIns="0" tIns="0" rIns="0" bIns="0" rtlCol="0" anchor="t"/>
          <a:lstStyle/>
          <a:p>
            <a:pPr indent="0" marL="0">
              <a:buNone/>
            </a:pPr>
            <a:r>
              <a:rPr lang="en-US" sz="1600" dirty="0">
                <a:solidFill>
                  <a:srgbClr val="18202E"/>
                </a:solidFill>
                <a:latin typeface="Segoe UI" pitchFamily="34" charset="0"/>
                <a:ea typeface="Segoe UI" pitchFamily="34" charset="-122"/>
                <a:cs typeface="Segoe UI" pitchFamily="34" charset="-120"/>
              </a:rPr>
              <a:t>Pan the Scene view</a:t>
            </a:r>
            <a:endParaRPr lang="en-US" sz="1600" dirty="0"/>
          </a:p>
        </p:txBody>
      </p:sp>
      <p:sp>
        <p:nvSpPr>
          <p:cNvPr id="36" name="Text 33"/>
          <p:cNvSpPr txBox="1"/>
          <p:nvPr/>
        </p:nvSpPr>
        <p:spPr>
          <a:xfrm>
            <a:off x="6245352" y="4672584"/>
            <a:ext cx="1097280" cy="502920"/>
          </a:xfrm>
          <a:prstGeom prst="roundRect">
            <a:avLst>
              <a:gd name="adj" fmla="val 12727"/>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Scroll</a:t>
            </a:r>
            <a:endParaRPr lang="en-US" sz="1800" dirty="0"/>
          </a:p>
        </p:txBody>
      </p:sp>
      <p:sp>
        <p:nvSpPr>
          <p:cNvPr id="37" name="Text 34"/>
          <p:cNvSpPr txBox="1"/>
          <p:nvPr/>
        </p:nvSpPr>
        <p:spPr>
          <a:xfrm>
            <a:off x="8577072" y="4745736"/>
            <a:ext cx="3063240" cy="365760"/>
          </a:xfrm>
          <a:prstGeom prst="rect">
            <a:avLst/>
          </a:prstGeom>
          <a:noFill/>
          <a:ln/>
        </p:spPr>
        <p:txBody>
          <a:bodyPr wrap="square" lIns="0" tIns="0" rIns="0" bIns="0" rtlCol="0" anchor="t"/>
          <a:lstStyle/>
          <a:p>
            <a:pPr indent="0" marL="0">
              <a:buNone/>
            </a:pPr>
            <a:r>
              <a:rPr lang="en-US" sz="1600" dirty="0">
                <a:solidFill>
                  <a:srgbClr val="18202E"/>
                </a:solidFill>
                <a:latin typeface="Segoe UI" pitchFamily="34" charset="0"/>
                <a:ea typeface="Segoe UI" pitchFamily="34" charset="-122"/>
                <a:cs typeface="Segoe UI" pitchFamily="34" charset="-120"/>
              </a:rPr>
              <a:t>Zoom</a:t>
            </a:r>
            <a:endParaRPr lang="en-US" sz="1600" dirty="0"/>
          </a:p>
        </p:txBody>
      </p:sp>
      <p:sp>
        <p:nvSpPr>
          <p:cNvPr id="38" name="Text 35"/>
          <p:cNvSpPr txBox="1"/>
          <p:nvPr/>
        </p:nvSpPr>
        <p:spPr>
          <a:xfrm>
            <a:off x="6245352" y="5385816"/>
            <a:ext cx="868680" cy="502920"/>
          </a:xfrm>
          <a:prstGeom prst="roundRect">
            <a:avLst>
              <a:gd name="adj" fmla="val 12727"/>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Ctrl</a:t>
            </a:r>
            <a:endParaRPr lang="en-US" sz="1800" dirty="0"/>
          </a:p>
        </p:txBody>
      </p:sp>
      <p:sp>
        <p:nvSpPr>
          <p:cNvPr id="39" name="Text 36"/>
          <p:cNvSpPr txBox="1"/>
          <p:nvPr/>
        </p:nvSpPr>
        <p:spPr>
          <a:xfrm>
            <a:off x="7114032" y="5449824"/>
            <a:ext cx="274320" cy="365760"/>
          </a:xfrm>
          <a:prstGeom prst="rect">
            <a:avLst/>
          </a:prstGeom>
          <a:noFill/>
          <a:ln/>
        </p:spPr>
        <p:txBody>
          <a:bodyPr wrap="square" lIns="0" tIns="0" rIns="0" bIns="0" rtlCol="0" anchor="t"/>
          <a:lstStyle/>
          <a:p>
            <a:pPr algn="ctr" indent="0" marL="0">
              <a:buNone/>
            </a:pPr>
            <a:r>
              <a:rPr lang="en-US" sz="1600" dirty="0">
                <a:solidFill>
                  <a:srgbClr val="5B6678"/>
                </a:solidFill>
                <a:latin typeface="Segoe UI" pitchFamily="34" charset="0"/>
                <a:ea typeface="Segoe UI" pitchFamily="34" charset="-122"/>
                <a:cs typeface="Segoe UI" pitchFamily="34" charset="-120"/>
              </a:rPr>
              <a:t>+</a:t>
            </a:r>
            <a:endParaRPr lang="en-US" sz="1600" dirty="0"/>
          </a:p>
        </p:txBody>
      </p:sp>
      <p:sp>
        <p:nvSpPr>
          <p:cNvPr id="40" name="Text 37"/>
          <p:cNvSpPr txBox="1"/>
          <p:nvPr/>
        </p:nvSpPr>
        <p:spPr>
          <a:xfrm>
            <a:off x="7388352" y="5385816"/>
            <a:ext cx="548640" cy="502920"/>
          </a:xfrm>
          <a:prstGeom prst="roundRect">
            <a:avLst>
              <a:gd name="adj" fmla="val 12727"/>
            </a:avLst>
          </a:prstGeom>
          <a:solidFill>
            <a:srgbClr val="F8F9FB"/>
          </a:solidFill>
          <a:ln w="15875">
            <a:solidFill>
              <a:srgbClr val="AEB8C6"/>
            </a:solidFill>
          </a:ln>
        </p:spPr>
        <p:txBody>
          <a:bodyPr wrap="square" lIns="0" tIns="0" rIns="0" bIns="0" rtlCol="0" anchor="ctr"/>
          <a:lstStyle/>
          <a:p>
            <a:pPr algn="ctr" indent="0" marL="0">
              <a:buNone/>
            </a:pPr>
            <a:r>
              <a:rPr lang="en-US" sz="1800" b="1" dirty="0">
                <a:solidFill>
                  <a:srgbClr val="18202E"/>
                </a:solidFill>
                <a:latin typeface="Consolas" pitchFamily="34" charset="0"/>
                <a:ea typeface="Consolas" pitchFamily="34" charset="-122"/>
                <a:cs typeface="Consolas" pitchFamily="34" charset="-120"/>
              </a:rPr>
              <a:t>Z</a:t>
            </a:r>
            <a:endParaRPr lang="en-US" sz="1800" dirty="0"/>
          </a:p>
        </p:txBody>
      </p:sp>
      <p:sp>
        <p:nvSpPr>
          <p:cNvPr id="41" name="Text 38"/>
          <p:cNvSpPr txBox="1"/>
          <p:nvPr/>
        </p:nvSpPr>
        <p:spPr>
          <a:xfrm>
            <a:off x="8577072" y="5458968"/>
            <a:ext cx="3063240" cy="365760"/>
          </a:xfrm>
          <a:prstGeom prst="rect">
            <a:avLst/>
          </a:prstGeom>
          <a:noFill/>
          <a:ln/>
        </p:spPr>
        <p:txBody>
          <a:bodyPr wrap="square" lIns="0" tIns="0" rIns="0" bIns="0" rtlCol="0" anchor="t"/>
          <a:lstStyle/>
          <a:p>
            <a:pPr indent="0" marL="0">
              <a:buNone/>
            </a:pPr>
            <a:r>
              <a:rPr lang="en-US" sz="1600" dirty="0">
                <a:solidFill>
                  <a:srgbClr val="18202E"/>
                </a:solidFill>
                <a:latin typeface="Segoe UI" pitchFamily="34" charset="0"/>
                <a:ea typeface="Segoe UI" pitchFamily="34" charset="-122"/>
                <a:cs typeface="Segoe UI" pitchFamily="34" charset="-120"/>
              </a:rPr>
              <a:t>Undo (can't restore Play mode changes)</a:t>
            </a:r>
            <a:endParaRPr lang="en-US" sz="16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3 · GAMEOBJECTS AND COMPONENTS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Why a class tree breaks</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Text 3"/>
          <p:cNvSpPr txBox="1"/>
          <p:nvPr/>
        </p:nvSpPr>
        <p:spPr>
          <a:xfrm>
            <a:off x="1874520" y="1737360"/>
            <a:ext cx="1920240" cy="548640"/>
          </a:xfrm>
          <a:prstGeom prst="roundRect">
            <a:avLst>
              <a:gd name="adj" fmla="val 10000"/>
            </a:avLst>
          </a:prstGeom>
          <a:solidFill>
            <a:srgbClr val="FFFFFF"/>
          </a:solidFill>
          <a:ln w="12700">
            <a:solidFill>
              <a:srgbClr val="B9CBEA"/>
            </a:solidFill>
          </a:ln>
        </p:spPr>
        <p:txBody>
          <a:bodyPr wrap="square" lIns="0" tIns="0" rIns="0" bIns="0" rtlCol="0" anchor="ctr"/>
          <a:lstStyle/>
          <a:p>
            <a:pPr algn="ctr" indent="0" marL="0">
              <a:buNone/>
            </a:pPr>
            <a:r>
              <a:rPr lang="en-US" sz="1500" dirty="0">
                <a:solidFill>
                  <a:srgbClr val="18202E"/>
                </a:solidFill>
                <a:latin typeface="Consolas" pitchFamily="34" charset="0"/>
                <a:ea typeface="Consolas" pitchFamily="34" charset="-122"/>
                <a:cs typeface="Consolas" pitchFamily="34" charset="-120"/>
              </a:rPr>
              <a:t>Entity</a:t>
            </a:r>
            <a:endParaRPr lang="en-US" sz="1500" dirty="0"/>
          </a:p>
        </p:txBody>
      </p:sp>
      <p:sp>
        <p:nvSpPr>
          <p:cNvPr id="7" name="Text 4"/>
          <p:cNvSpPr txBox="1"/>
          <p:nvPr/>
        </p:nvSpPr>
        <p:spPr>
          <a:xfrm>
            <a:off x="1874520" y="2697480"/>
            <a:ext cx="1920240" cy="548640"/>
          </a:xfrm>
          <a:prstGeom prst="roundRect">
            <a:avLst>
              <a:gd name="adj" fmla="val 10000"/>
            </a:avLst>
          </a:prstGeom>
          <a:solidFill>
            <a:srgbClr val="FFFFFF"/>
          </a:solidFill>
          <a:ln w="12700">
            <a:solidFill>
              <a:srgbClr val="B9CBEA"/>
            </a:solidFill>
          </a:ln>
        </p:spPr>
        <p:txBody>
          <a:bodyPr wrap="square" lIns="0" tIns="0" rIns="0" bIns="0" rtlCol="0" anchor="ctr"/>
          <a:lstStyle/>
          <a:p>
            <a:pPr algn="ctr" indent="0" marL="0">
              <a:buNone/>
            </a:pPr>
            <a:r>
              <a:rPr lang="en-US" sz="1500" dirty="0">
                <a:solidFill>
                  <a:srgbClr val="18202E"/>
                </a:solidFill>
                <a:latin typeface="Consolas" pitchFamily="34" charset="0"/>
                <a:ea typeface="Consolas" pitchFamily="34" charset="-122"/>
                <a:cs typeface="Consolas" pitchFamily="34" charset="-120"/>
              </a:rPr>
              <a:t>Character</a:t>
            </a:r>
            <a:endParaRPr lang="en-US" sz="1500" dirty="0"/>
          </a:p>
        </p:txBody>
      </p:sp>
      <p:sp>
        <p:nvSpPr>
          <p:cNvPr id="8" name="Text 5"/>
          <p:cNvSpPr txBox="1"/>
          <p:nvPr/>
        </p:nvSpPr>
        <p:spPr>
          <a:xfrm>
            <a:off x="777240" y="3703320"/>
            <a:ext cx="1737360" cy="548640"/>
          </a:xfrm>
          <a:prstGeom prst="roundRect">
            <a:avLst>
              <a:gd name="adj" fmla="val 10000"/>
            </a:avLst>
          </a:prstGeom>
          <a:solidFill>
            <a:srgbClr val="FFFFFF"/>
          </a:solidFill>
          <a:ln w="12700">
            <a:solidFill>
              <a:srgbClr val="B9CBEA"/>
            </a:solidFill>
          </a:ln>
        </p:spPr>
        <p:txBody>
          <a:bodyPr wrap="square" lIns="0" tIns="0" rIns="0" bIns="0" rtlCol="0" anchor="ctr"/>
          <a:lstStyle/>
          <a:p>
            <a:pPr algn="ctr" indent="0" marL="0">
              <a:buNone/>
            </a:pPr>
            <a:r>
              <a:rPr lang="en-US" sz="1500" dirty="0">
                <a:solidFill>
                  <a:srgbClr val="18202E"/>
                </a:solidFill>
                <a:latin typeface="Consolas" pitchFamily="34" charset="0"/>
                <a:ea typeface="Consolas" pitchFamily="34" charset="-122"/>
                <a:cs typeface="Consolas" pitchFamily="34" charset="-120"/>
              </a:rPr>
              <a:t>Player</a:t>
            </a:r>
            <a:endParaRPr lang="en-US" sz="1500" dirty="0"/>
          </a:p>
        </p:txBody>
      </p:sp>
      <p:sp>
        <p:nvSpPr>
          <p:cNvPr id="9" name="Text 6"/>
          <p:cNvSpPr txBox="1"/>
          <p:nvPr/>
        </p:nvSpPr>
        <p:spPr>
          <a:xfrm>
            <a:off x="3154680" y="3703320"/>
            <a:ext cx="1737360" cy="548640"/>
          </a:xfrm>
          <a:prstGeom prst="roundRect">
            <a:avLst>
              <a:gd name="adj" fmla="val 10000"/>
            </a:avLst>
          </a:prstGeom>
          <a:solidFill>
            <a:srgbClr val="FFFFFF"/>
          </a:solidFill>
          <a:ln w="12700">
            <a:solidFill>
              <a:srgbClr val="B9CBEA"/>
            </a:solidFill>
          </a:ln>
        </p:spPr>
        <p:txBody>
          <a:bodyPr wrap="square" lIns="0" tIns="0" rIns="0" bIns="0" rtlCol="0" anchor="ctr"/>
          <a:lstStyle/>
          <a:p>
            <a:pPr algn="ctr" indent="0" marL="0">
              <a:buNone/>
            </a:pPr>
            <a:r>
              <a:rPr lang="en-US" sz="1500" dirty="0">
                <a:solidFill>
                  <a:srgbClr val="18202E"/>
                </a:solidFill>
                <a:latin typeface="Consolas" pitchFamily="34" charset="0"/>
                <a:ea typeface="Consolas" pitchFamily="34" charset="-122"/>
                <a:cs typeface="Consolas" pitchFamily="34" charset="-120"/>
              </a:rPr>
              <a:t>Enemy</a:t>
            </a:r>
            <a:endParaRPr lang="en-US" sz="1500" dirty="0"/>
          </a:p>
        </p:txBody>
      </p:sp>
      <p:sp>
        <p:nvSpPr>
          <p:cNvPr id="10" name="Text 7"/>
          <p:cNvSpPr txBox="1"/>
          <p:nvPr/>
        </p:nvSpPr>
        <p:spPr>
          <a:xfrm>
            <a:off x="3017520" y="4709160"/>
            <a:ext cx="2011680" cy="548640"/>
          </a:xfrm>
          <a:prstGeom prst="roundRect">
            <a:avLst>
              <a:gd name="adj" fmla="val 10000"/>
            </a:avLst>
          </a:prstGeom>
          <a:solidFill>
            <a:srgbClr val="FBE4E1"/>
          </a:solidFill>
          <a:ln w="12700">
            <a:solidFill>
              <a:srgbClr val="EBB4AD"/>
            </a:solidFill>
          </a:ln>
        </p:spPr>
        <p:txBody>
          <a:bodyPr wrap="square" lIns="0" tIns="0" rIns="0" bIns="0" rtlCol="0" anchor="ctr"/>
          <a:lstStyle/>
          <a:p>
            <a:pPr algn="ctr" indent="0" marL="0">
              <a:buNone/>
            </a:pPr>
            <a:r>
              <a:rPr lang="en-US" sz="1500" dirty="0">
                <a:solidFill>
                  <a:srgbClr val="A3261D"/>
                </a:solidFill>
                <a:latin typeface="Consolas" pitchFamily="34" charset="0"/>
                <a:ea typeface="Consolas" pitchFamily="34" charset="-122"/>
                <a:cs typeface="Consolas" pitchFamily="34" charset="-120"/>
              </a:rPr>
              <a:t>FlyingEnemy</a:t>
            </a:r>
            <a:endParaRPr lang="en-US" sz="1500" dirty="0"/>
          </a:p>
        </p:txBody>
      </p:sp>
      <p:sp>
        <p:nvSpPr>
          <p:cNvPr id="11" name="Shape 8"/>
          <p:cNvSpPr/>
          <p:nvPr/>
        </p:nvSpPr>
        <p:spPr>
          <a:xfrm>
            <a:off x="2834640" y="2286000"/>
            <a:ext cx="0" cy="411480"/>
          </a:xfrm>
          <a:prstGeom prst="line">
            <a:avLst/>
          </a:prstGeom>
          <a:noFill/>
          <a:ln w="15875">
            <a:solidFill>
              <a:srgbClr val="5B6678"/>
            </a:solidFill>
            <a:prstDash val="solid"/>
          </a:ln>
        </p:spPr>
      </p:sp>
      <p:sp>
        <p:nvSpPr>
          <p:cNvPr id="12" name="Shape 9"/>
          <p:cNvSpPr/>
          <p:nvPr/>
        </p:nvSpPr>
        <p:spPr>
          <a:xfrm>
            <a:off x="2834640" y="3246120"/>
            <a:ext cx="0" cy="228600"/>
          </a:xfrm>
          <a:prstGeom prst="line">
            <a:avLst/>
          </a:prstGeom>
          <a:noFill/>
          <a:ln w="15875">
            <a:solidFill>
              <a:srgbClr val="5B6678"/>
            </a:solidFill>
            <a:prstDash val="solid"/>
          </a:ln>
        </p:spPr>
      </p:sp>
      <p:sp>
        <p:nvSpPr>
          <p:cNvPr id="13" name="Shape 10"/>
          <p:cNvSpPr/>
          <p:nvPr/>
        </p:nvSpPr>
        <p:spPr>
          <a:xfrm>
            <a:off x="1645920" y="3474720"/>
            <a:ext cx="2377440" cy="0"/>
          </a:xfrm>
          <a:prstGeom prst="line">
            <a:avLst/>
          </a:prstGeom>
          <a:noFill/>
          <a:ln w="15875">
            <a:solidFill>
              <a:srgbClr val="5B6678"/>
            </a:solidFill>
            <a:prstDash val="solid"/>
          </a:ln>
        </p:spPr>
      </p:sp>
      <p:sp>
        <p:nvSpPr>
          <p:cNvPr id="14" name="Shape 11"/>
          <p:cNvSpPr/>
          <p:nvPr/>
        </p:nvSpPr>
        <p:spPr>
          <a:xfrm>
            <a:off x="1645920" y="3474720"/>
            <a:ext cx="0" cy="228600"/>
          </a:xfrm>
          <a:prstGeom prst="line">
            <a:avLst/>
          </a:prstGeom>
          <a:noFill/>
          <a:ln w="15875">
            <a:solidFill>
              <a:srgbClr val="5B6678"/>
            </a:solidFill>
            <a:prstDash val="solid"/>
          </a:ln>
        </p:spPr>
      </p:sp>
      <p:sp>
        <p:nvSpPr>
          <p:cNvPr id="15" name="Shape 12"/>
          <p:cNvSpPr/>
          <p:nvPr/>
        </p:nvSpPr>
        <p:spPr>
          <a:xfrm>
            <a:off x="4023360" y="3474720"/>
            <a:ext cx="0" cy="228600"/>
          </a:xfrm>
          <a:prstGeom prst="line">
            <a:avLst/>
          </a:prstGeom>
          <a:noFill/>
          <a:ln w="15875">
            <a:solidFill>
              <a:srgbClr val="5B6678"/>
            </a:solidFill>
            <a:prstDash val="solid"/>
          </a:ln>
        </p:spPr>
      </p:sp>
      <p:sp>
        <p:nvSpPr>
          <p:cNvPr id="16" name="Shape 13"/>
          <p:cNvSpPr/>
          <p:nvPr/>
        </p:nvSpPr>
        <p:spPr>
          <a:xfrm>
            <a:off x="4023360" y="4251960"/>
            <a:ext cx="0" cy="457200"/>
          </a:xfrm>
          <a:prstGeom prst="line">
            <a:avLst/>
          </a:prstGeom>
          <a:noFill/>
          <a:ln w="15875">
            <a:solidFill>
              <a:srgbClr val="5B6678"/>
            </a:solidFill>
            <a:prstDash val="solid"/>
          </a:ln>
        </p:spPr>
      </p:sp>
      <p:sp>
        <p:nvSpPr>
          <p:cNvPr id="17" name="Text 14"/>
          <p:cNvSpPr txBox="1"/>
          <p:nvPr/>
        </p:nvSpPr>
        <p:spPr>
          <a:xfrm>
            <a:off x="548640" y="4846320"/>
            <a:ext cx="2377440" cy="320040"/>
          </a:xfrm>
          <a:prstGeom prst="rect">
            <a:avLst/>
          </a:prstGeom>
          <a:noFill/>
          <a:ln/>
        </p:spPr>
        <p:txBody>
          <a:bodyPr wrap="square" lIns="0" tIns="0" rIns="0" bIns="0" rtlCol="0" anchor="t"/>
          <a:lstStyle/>
          <a:p>
            <a:pPr algn="r" indent="0" marL="0">
              <a:buNone/>
            </a:pPr>
            <a:r>
              <a:rPr lang="en-US" sz="1200" dirty="0">
                <a:solidFill>
                  <a:srgbClr val="A3261D"/>
                </a:solidFill>
                <a:latin typeface="Segoe UI" pitchFamily="34" charset="0"/>
                <a:ea typeface="Segoe UI" pitchFamily="34" charset="-122"/>
                <a:cs typeface="Segoe UI" pitchFamily="34" charset="-120"/>
              </a:rPr>
              <a:t>flight code copied from Player</a:t>
            </a:r>
            <a:endParaRPr lang="en-US" sz="1200" dirty="0"/>
          </a:p>
        </p:txBody>
      </p:sp>
      <p:sp>
        <p:nvSpPr>
          <p:cNvPr id="18" name="Text 15"/>
          <p:cNvSpPr txBox="1"/>
          <p:nvPr/>
        </p:nvSpPr>
        <p:spPr>
          <a:xfrm>
            <a:off x="5852160" y="1691640"/>
            <a:ext cx="5760720" cy="411480"/>
          </a:xfrm>
          <a:prstGeom prst="rect">
            <a:avLst/>
          </a:prstGeom>
          <a:noFill/>
          <a:ln/>
        </p:spPr>
        <p:txBody>
          <a:bodyPr wrap="square" lIns="0" tIns="0" rIns="0" bIns="0" rtlCol="0" anchor="t"/>
          <a:lstStyle/>
          <a:p>
            <a:pPr indent="0" marL="0">
              <a:buNone/>
            </a:pPr>
            <a:r>
              <a:rPr lang="en-US" sz="2000" dirty="0">
                <a:solidFill>
                  <a:srgbClr val="18202E"/>
                </a:solidFill>
                <a:latin typeface="Segoe UI Semibold" pitchFamily="34" charset="0"/>
                <a:ea typeface="Segoe UI Semibold" pitchFamily="34" charset="-122"/>
                <a:cs typeface="Segoe UI Semibold" pitchFamily="34" charset="-120"/>
              </a:rPr>
              <a:t>Then the designer asks for…</a:t>
            </a:r>
            <a:endParaRPr lang="en-US" sz="2000" dirty="0"/>
          </a:p>
        </p:txBody>
      </p:sp>
      <p:sp>
        <p:nvSpPr>
          <p:cNvPr id="19" name="Text 16"/>
          <p:cNvSpPr txBox="1"/>
          <p:nvPr/>
        </p:nvSpPr>
        <p:spPr>
          <a:xfrm>
            <a:off x="5852160" y="2240280"/>
            <a:ext cx="5760720" cy="3017520"/>
          </a:xfrm>
          <a:prstGeom prst="rect">
            <a:avLst/>
          </a:prstGeom>
          <a:noFill/>
          <a:ln/>
        </p:spPr>
        <p:txBody>
          <a:bodyPr wrap="square" lIns="0" tIns="0" rIns="0" bIns="0" rtlCol="0" anchor="t"/>
          <a:lstStyle/>
          <a:p>
            <a:pPr marL="203200" indent="-203200">
              <a:spcAft>
                <a:spcPts val="1000"/>
              </a:spcAft>
              <a:buSzPct val="100000"/>
              <a:buChar char="•"/>
            </a:pPr>
            <a:r>
              <a:rPr lang="en-US" sz="1600" b="1" dirty="0">
                <a:solidFill>
                  <a:srgbClr val="364255"/>
                </a:solidFill>
                <a:latin typeface="Segoe UI" pitchFamily="34" charset="0"/>
                <a:ea typeface="Segoe UI" pitchFamily="34" charset="-122"/>
                <a:cs typeface="Segoe UI" pitchFamily="34" charset="-120"/>
              </a:rPr>
              <a:t>A destructible crate: </a:t>
            </a:r>
            <a:pPr indent="0" marL="0">
              <a:buNone/>
            </a:pPr>
            <a:r>
              <a:rPr lang="en-US" sz="1600" dirty="0">
                <a:solidFill>
                  <a:srgbClr val="364255"/>
                </a:solidFill>
                <a:latin typeface="Segoe UI" pitchFamily="34" charset="0"/>
                <a:ea typeface="Segoe UI" pitchFamily="34" charset="-122"/>
                <a:cs typeface="Segoe UI" pitchFamily="34" charset="-120"/>
              </a:rPr>
              <a:t>health, but not a character</a:t>
            </a:r>
            <a:endParaRPr lang="en-US" sz="1600" dirty="0"/>
          </a:p>
          <a:p>
            <a:pPr marL="203200" indent="-203200">
              <a:spcAft>
                <a:spcPts val="1000"/>
              </a:spcAft>
              <a:buSzPct val="100000"/>
              <a:buChar char="•"/>
            </a:pPr>
            <a:r>
              <a:rPr lang="en-US" sz="1600" b="1" dirty="0">
                <a:solidFill>
                  <a:srgbClr val="364255"/>
                </a:solidFill>
                <a:latin typeface="Segoe UI" pitchFamily="34" charset="0"/>
                <a:ea typeface="Segoe UI" pitchFamily="34" charset="-122"/>
                <a:cs typeface="Segoe UI" pitchFamily="34" charset="-120"/>
              </a:rPr>
              <a:t>A flying enemy: </a:t>
            </a:r>
            <a:pPr indent="0" marL="0">
              <a:buNone/>
            </a:pPr>
            <a:r>
              <a:rPr lang="en-US" sz="1600" dirty="0">
                <a:solidFill>
                  <a:srgbClr val="364255"/>
                </a:solidFill>
                <a:latin typeface="Segoe UI" pitchFamily="34" charset="0"/>
                <a:ea typeface="Segoe UI" pitchFamily="34" charset="-122"/>
                <a:cs typeface="Segoe UI" pitchFamily="34" charset="-120"/>
              </a:rPr>
              <a:t>the player's jetpack code, copied</a:t>
            </a:r>
            <a:endParaRPr lang="en-US" sz="1600" dirty="0"/>
          </a:p>
          <a:p>
            <a:pPr marL="203200" indent="-203200">
              <a:spcAft>
                <a:spcPts val="1000"/>
              </a:spcAft>
              <a:buSzPct val="100000"/>
              <a:buChar char="•"/>
            </a:pPr>
            <a:r>
              <a:rPr lang="en-US" sz="1600" b="1" dirty="0">
                <a:solidFill>
                  <a:srgbClr val="364255"/>
                </a:solidFill>
                <a:latin typeface="Segoe UI" pitchFamily="34" charset="0"/>
                <a:ea typeface="Segoe UI" pitchFamily="34" charset="-122"/>
                <a:cs typeface="Segoe UI" pitchFamily="34" charset="-120"/>
              </a:rPr>
              <a:t>A turret: </a:t>
            </a:r>
            <a:pPr indent="0" marL="0">
              <a:buNone/>
            </a:pPr>
            <a:r>
              <a:rPr lang="en-US" sz="1600" dirty="0">
                <a:solidFill>
                  <a:srgbClr val="364255"/>
                </a:solidFill>
                <a:latin typeface="Segoe UI" pitchFamily="34" charset="0"/>
                <a:ea typeface="Segoe UI" pitchFamily="34" charset="-122"/>
                <a:cs typeface="Segoe UI" pitchFamily="34" charset="-120"/>
              </a:rPr>
              <a:t>shoots like an enemy, never moves</a:t>
            </a:r>
            <a:endParaRPr lang="en-US" sz="1600" dirty="0"/>
          </a:p>
          <a:p>
            <a:pPr marL="203200" indent="-203200">
              <a:spcAft>
                <a:spcPts val="1000"/>
              </a:spcAft>
              <a:buSzPct val="100000"/>
              <a:buChar char="•"/>
            </a:pPr>
            <a:r>
              <a:rPr lang="en-US" sz="1600" b="1" dirty="0">
                <a:solidFill>
                  <a:srgbClr val="364255"/>
                </a:solidFill>
                <a:latin typeface="Segoe UI" pitchFamily="34" charset="0"/>
                <a:ea typeface="Segoe UI" pitchFamily="34" charset="-122"/>
                <a:cs typeface="Segoe UI" pitchFamily="34" charset="-120"/>
              </a:rPr>
              <a:t>A moving platform: </a:t>
            </a:r>
            <a:pPr indent="0" marL="0">
              <a:buNone/>
            </a:pPr>
            <a:r>
              <a:rPr lang="en-US" sz="1600" dirty="0">
                <a:solidFill>
                  <a:srgbClr val="364255"/>
                </a:solidFill>
                <a:latin typeface="Segoe UI" pitchFamily="34" charset="0"/>
                <a:ea typeface="Segoe UI" pitchFamily="34" charset="-122"/>
                <a:cs typeface="Segoe UI" pitchFamily="34" charset="-120"/>
              </a:rPr>
              <a:t>physics, but not a character</a:t>
            </a:r>
            <a:endParaRPr lang="en-US" sz="1600" dirty="0"/>
          </a:p>
          <a:p>
            <a:pPr marL="203200" indent="-203200">
              <a:spcAft>
                <a:spcPts val="1000"/>
              </a:spcAft>
              <a:buSzPct val="100000"/>
              <a:buChar char="•"/>
            </a:pPr>
            <a:r>
              <a:rPr lang="en-US" sz="1600" b="1" dirty="0">
                <a:solidFill>
                  <a:srgbClr val="364255"/>
                </a:solidFill>
                <a:latin typeface="Segoe UI" pitchFamily="34" charset="0"/>
                <a:ea typeface="Segoe UI" pitchFamily="34" charset="-122"/>
                <a:cs typeface="Segoe UI" pitchFamily="34" charset="-120"/>
              </a:rPr>
              <a:t>A boss that turns into scenery: </a:t>
            </a:r>
            <a:pPr indent="0" marL="0">
              <a:buNone/>
            </a:pPr>
            <a:r>
              <a:rPr lang="en-US" sz="1600" dirty="0">
                <a:solidFill>
                  <a:srgbClr val="364255"/>
                </a:solidFill>
                <a:latin typeface="Segoe UI" pitchFamily="34" charset="0"/>
                <a:ea typeface="Segoe UI" pitchFamily="34" charset="-122"/>
                <a:cs typeface="Segoe UI" pitchFamily="34" charset="-120"/>
              </a:rPr>
              <a:t>its kind changes at runtime</a:t>
            </a:r>
            <a:endParaRPr lang="en-US" sz="1600" dirty="0"/>
          </a:p>
        </p:txBody>
      </p:sp>
      <p:sp>
        <p:nvSpPr>
          <p:cNvPr id="20" name="Text 17"/>
          <p:cNvSpPr txBox="1"/>
          <p:nvPr/>
        </p:nvSpPr>
        <p:spPr>
          <a:xfrm>
            <a:off x="548640" y="5532120"/>
            <a:ext cx="11094415" cy="411480"/>
          </a:xfrm>
          <a:prstGeom prst="rect">
            <a:avLst/>
          </a:prstGeom>
          <a:noFill/>
          <a:ln/>
        </p:spPr>
        <p:txBody>
          <a:bodyPr wrap="square" lIns="0" tIns="0" rIns="0" bIns="0" rtlCol="0" anchor="t"/>
          <a:lstStyle/>
          <a:p>
            <a:pPr indent="0" marL="0">
              <a:buNone/>
            </a:pPr>
            <a:r>
              <a:rPr lang="en-US" sz="1900" b="1" dirty="0">
                <a:solidFill>
                  <a:srgbClr val="18202E"/>
                </a:solidFill>
                <a:latin typeface="Segoe UI" pitchFamily="34" charset="0"/>
                <a:ea typeface="Segoe UI" pitchFamily="34" charset="-122"/>
                <a:cs typeface="Segoe UI" pitchFamily="34" charset="-120"/>
              </a:rPr>
              <a:t>Capabilities combine freely: that is a checklist, not a tree.</a:t>
            </a:r>
            <a:endParaRPr lang="en-US" sz="19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3 · GAMEOBJECTS AND COMPONENTS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Composition: ask what an object does</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00200"/>
            <a:ext cx="3557930" cy="3429000"/>
          </a:xfrm>
          <a:prstGeom prst="roundRect">
            <a:avLst>
              <a:gd name="adj" fmla="val 1600"/>
            </a:avLst>
          </a:prstGeom>
          <a:solidFill>
            <a:srgbClr val="FFFFFF"/>
          </a:solidFill>
          <a:ln w="15875">
            <a:solidFill>
              <a:srgbClr val="D5DBE3"/>
            </a:solidFill>
            <a:prstDash val="solid"/>
          </a:ln>
        </p:spPr>
      </p:sp>
      <p:sp>
        <p:nvSpPr>
          <p:cNvPr id="7" name="Text 4"/>
          <p:cNvSpPr txBox="1"/>
          <p:nvPr/>
        </p:nvSpPr>
        <p:spPr>
          <a:xfrm>
            <a:off x="822960" y="1755648"/>
            <a:ext cx="3009290" cy="384048"/>
          </a:xfrm>
          <a:prstGeom prst="rect">
            <a:avLst/>
          </a:prstGeom>
          <a:noFill/>
          <a:ln/>
        </p:spPr>
        <p:txBody>
          <a:bodyPr wrap="square" lIns="0" tIns="0" rIns="0" bIns="0" rtlCol="0" anchor="t"/>
          <a:lstStyle/>
          <a:p>
            <a:pPr indent="0" marL="0">
              <a:buNone/>
            </a:pPr>
            <a:r>
              <a:rPr lang="en-US" sz="2100" dirty="0">
                <a:solidFill>
                  <a:srgbClr val="18202E"/>
                </a:solidFill>
                <a:latin typeface="Segoe UI Semibold" pitchFamily="34" charset="0"/>
                <a:ea typeface="Segoe UI Semibold" pitchFamily="34" charset="-122"/>
                <a:cs typeface="Segoe UI Semibold" pitchFamily="34" charset="-120"/>
              </a:rPr>
              <a:t>Player</a:t>
            </a:r>
            <a:endParaRPr lang="en-US" sz="2100" dirty="0"/>
          </a:p>
        </p:txBody>
      </p:sp>
      <p:sp>
        <p:nvSpPr>
          <p:cNvPr id="8" name="Text 5"/>
          <p:cNvSpPr txBox="1"/>
          <p:nvPr/>
        </p:nvSpPr>
        <p:spPr>
          <a:xfrm>
            <a:off x="822960" y="2130552"/>
            <a:ext cx="3009290" cy="274320"/>
          </a:xfrm>
          <a:prstGeom prst="rect">
            <a:avLst/>
          </a:prstGeom>
          <a:noFill/>
          <a:ln/>
        </p:spPr>
        <p:txBody>
          <a:bodyPr wrap="square" lIns="0" tIns="0" rIns="0" bIns="0" rtlCol="0" anchor="t"/>
          <a:lstStyle/>
          <a:p>
            <a:pPr indent="0" marL="0">
              <a:buNone/>
            </a:pPr>
            <a:r>
              <a:rPr lang="en-US" sz="1200" dirty="0">
                <a:solidFill>
                  <a:srgbClr val="5B6678"/>
                </a:solidFill>
                <a:latin typeface="Segoe UI" pitchFamily="34" charset="0"/>
                <a:ea typeface="Segoe UI" pitchFamily="34" charset="-122"/>
                <a:cs typeface="Segoe UI" pitchFamily="34" charset="-120"/>
              </a:rPr>
              <a:t>GameObject</a:t>
            </a:r>
            <a:endParaRPr lang="en-US" sz="1200" dirty="0"/>
          </a:p>
        </p:txBody>
      </p:sp>
      <p:sp>
        <p:nvSpPr>
          <p:cNvPr id="9" name="Text 6"/>
          <p:cNvSpPr txBox="1"/>
          <p:nvPr/>
        </p:nvSpPr>
        <p:spPr>
          <a:xfrm>
            <a:off x="822960" y="2560320"/>
            <a:ext cx="3009290" cy="438912"/>
          </a:xfrm>
          <a:prstGeom prst="roundRect">
            <a:avLst>
              <a:gd name="adj" fmla="val 12500"/>
            </a:avLst>
          </a:prstGeom>
          <a:solidFill>
            <a:srgbClr val="E9EFF9"/>
          </a:solidFill>
          <a:ln/>
        </p:spPr>
        <p:txBody>
          <a:bodyPr wrap="square" lIns="0" tIns="0" rIns="0" bIns="0" rtlCol="0" anchor="ctr"/>
          <a:lstStyle/>
          <a:p>
            <a:pPr algn="ctr" indent="0" marL="0">
              <a:buNone/>
            </a:pPr>
            <a:r>
              <a:rPr lang="en-US" sz="1400" dirty="0">
                <a:solidFill>
                  <a:srgbClr val="2354A6"/>
                </a:solidFill>
                <a:latin typeface="Consolas" pitchFamily="34" charset="0"/>
                <a:ea typeface="Consolas" pitchFamily="34" charset="-122"/>
                <a:cs typeface="Consolas" pitchFamily="34" charset="-120"/>
              </a:rPr>
              <a:t>SpriteRenderer</a:t>
            </a:r>
            <a:endParaRPr lang="en-US" sz="1400" dirty="0"/>
          </a:p>
        </p:txBody>
      </p:sp>
      <p:sp>
        <p:nvSpPr>
          <p:cNvPr id="10" name="Text 7"/>
          <p:cNvSpPr txBox="1"/>
          <p:nvPr/>
        </p:nvSpPr>
        <p:spPr>
          <a:xfrm>
            <a:off x="822960" y="3108960"/>
            <a:ext cx="3009290" cy="438912"/>
          </a:xfrm>
          <a:prstGeom prst="roundRect">
            <a:avLst>
              <a:gd name="adj" fmla="val 12500"/>
            </a:avLst>
          </a:prstGeom>
          <a:solidFill>
            <a:srgbClr val="E9EFF9"/>
          </a:solidFill>
          <a:ln/>
        </p:spPr>
        <p:txBody>
          <a:bodyPr wrap="square" lIns="0" tIns="0" rIns="0" bIns="0" rtlCol="0" anchor="ctr"/>
          <a:lstStyle/>
          <a:p>
            <a:pPr algn="ctr" indent="0" marL="0">
              <a:buNone/>
            </a:pPr>
            <a:r>
              <a:rPr lang="en-US" sz="1400" dirty="0">
                <a:solidFill>
                  <a:srgbClr val="2354A6"/>
                </a:solidFill>
                <a:latin typeface="Consolas" pitchFamily="34" charset="0"/>
                <a:ea typeface="Consolas" pitchFamily="34" charset="-122"/>
                <a:cs typeface="Consolas" pitchFamily="34" charset="-120"/>
              </a:rPr>
              <a:t>Rigidbody2D</a:t>
            </a:r>
            <a:endParaRPr lang="en-US" sz="1400" dirty="0"/>
          </a:p>
        </p:txBody>
      </p:sp>
      <p:sp>
        <p:nvSpPr>
          <p:cNvPr id="11" name="Text 8"/>
          <p:cNvSpPr txBox="1"/>
          <p:nvPr/>
        </p:nvSpPr>
        <p:spPr>
          <a:xfrm>
            <a:off x="822960" y="3657600"/>
            <a:ext cx="3009290" cy="438912"/>
          </a:xfrm>
          <a:prstGeom prst="roundRect">
            <a:avLst>
              <a:gd name="adj" fmla="val 12500"/>
            </a:avLst>
          </a:prstGeom>
          <a:solidFill>
            <a:srgbClr val="E9EFF9"/>
          </a:solidFill>
          <a:ln/>
        </p:spPr>
        <p:txBody>
          <a:bodyPr wrap="square" lIns="0" tIns="0" rIns="0" bIns="0" rtlCol="0" anchor="ctr"/>
          <a:lstStyle/>
          <a:p>
            <a:pPr algn="ctr" indent="0" marL="0">
              <a:buNone/>
            </a:pPr>
            <a:r>
              <a:rPr lang="en-US" sz="1400" dirty="0">
                <a:solidFill>
                  <a:srgbClr val="2354A6"/>
                </a:solidFill>
                <a:latin typeface="Consolas" pitchFamily="34" charset="0"/>
                <a:ea typeface="Consolas" pitchFamily="34" charset="-122"/>
                <a:cs typeface="Consolas" pitchFamily="34" charset="-120"/>
              </a:rPr>
              <a:t>BoxCollider2D</a:t>
            </a:r>
            <a:endParaRPr lang="en-US" sz="1400" dirty="0"/>
          </a:p>
        </p:txBody>
      </p:sp>
      <p:sp>
        <p:nvSpPr>
          <p:cNvPr id="12" name="Text 9"/>
          <p:cNvSpPr txBox="1"/>
          <p:nvPr/>
        </p:nvSpPr>
        <p:spPr>
          <a:xfrm>
            <a:off x="822960" y="4206240"/>
            <a:ext cx="3009290" cy="438912"/>
          </a:xfrm>
          <a:prstGeom prst="roundRect">
            <a:avLst>
              <a:gd name="adj" fmla="val 12500"/>
            </a:avLst>
          </a:prstGeom>
          <a:solidFill>
            <a:srgbClr val="E7F3EC"/>
          </a:solidFill>
          <a:ln/>
        </p:spPr>
        <p:txBody>
          <a:bodyPr wrap="square" lIns="0" tIns="0" rIns="0" bIns="0" rtlCol="0" anchor="ctr"/>
          <a:lstStyle/>
          <a:p>
            <a:pPr algn="ctr" indent="0" marL="0">
              <a:buNone/>
            </a:pPr>
            <a:r>
              <a:rPr lang="en-US" sz="1400" dirty="0">
                <a:solidFill>
                  <a:srgbClr val="1D6F43"/>
                </a:solidFill>
                <a:latin typeface="Consolas" pitchFamily="34" charset="0"/>
                <a:ea typeface="Consolas" pitchFamily="34" charset="-122"/>
                <a:cs typeface="Consolas" pitchFamily="34" charset="-120"/>
              </a:rPr>
              <a:t>PlayerController</a:t>
            </a:r>
            <a:endParaRPr lang="en-US" sz="1400" dirty="0"/>
          </a:p>
        </p:txBody>
      </p:sp>
      <p:sp>
        <p:nvSpPr>
          <p:cNvPr id="13" name="Shape 10"/>
          <p:cNvSpPr/>
          <p:nvPr/>
        </p:nvSpPr>
        <p:spPr>
          <a:xfrm>
            <a:off x="4316882" y="1600200"/>
            <a:ext cx="3557930" cy="3429000"/>
          </a:xfrm>
          <a:prstGeom prst="roundRect">
            <a:avLst>
              <a:gd name="adj" fmla="val 1600"/>
            </a:avLst>
          </a:prstGeom>
          <a:solidFill>
            <a:srgbClr val="FFFFFF"/>
          </a:solidFill>
          <a:ln w="15875">
            <a:solidFill>
              <a:srgbClr val="D5DBE3"/>
            </a:solidFill>
            <a:prstDash val="solid"/>
          </a:ln>
        </p:spPr>
      </p:sp>
      <p:sp>
        <p:nvSpPr>
          <p:cNvPr id="14" name="Text 11"/>
          <p:cNvSpPr txBox="1"/>
          <p:nvPr/>
        </p:nvSpPr>
        <p:spPr>
          <a:xfrm>
            <a:off x="4591202" y="1755648"/>
            <a:ext cx="3009290" cy="384048"/>
          </a:xfrm>
          <a:prstGeom prst="rect">
            <a:avLst/>
          </a:prstGeom>
          <a:noFill/>
          <a:ln/>
        </p:spPr>
        <p:txBody>
          <a:bodyPr wrap="square" lIns="0" tIns="0" rIns="0" bIns="0" rtlCol="0" anchor="t"/>
          <a:lstStyle/>
          <a:p>
            <a:pPr indent="0" marL="0">
              <a:buNone/>
            </a:pPr>
            <a:r>
              <a:rPr lang="en-US" sz="2100" dirty="0">
                <a:solidFill>
                  <a:srgbClr val="18202E"/>
                </a:solidFill>
                <a:latin typeface="Segoe UI Semibold" pitchFamily="34" charset="0"/>
                <a:ea typeface="Segoe UI Semibold" pitchFamily="34" charset="-122"/>
                <a:cs typeface="Segoe UI Semibold" pitchFamily="34" charset="-120"/>
              </a:rPr>
              <a:t>Enemy</a:t>
            </a:r>
            <a:endParaRPr lang="en-US" sz="2100" dirty="0"/>
          </a:p>
        </p:txBody>
      </p:sp>
      <p:sp>
        <p:nvSpPr>
          <p:cNvPr id="15" name="Text 12"/>
          <p:cNvSpPr txBox="1"/>
          <p:nvPr/>
        </p:nvSpPr>
        <p:spPr>
          <a:xfrm>
            <a:off x="4591202" y="2130552"/>
            <a:ext cx="3009290" cy="274320"/>
          </a:xfrm>
          <a:prstGeom prst="rect">
            <a:avLst/>
          </a:prstGeom>
          <a:noFill/>
          <a:ln/>
        </p:spPr>
        <p:txBody>
          <a:bodyPr wrap="square" lIns="0" tIns="0" rIns="0" bIns="0" rtlCol="0" anchor="t"/>
          <a:lstStyle/>
          <a:p>
            <a:pPr indent="0" marL="0">
              <a:buNone/>
            </a:pPr>
            <a:r>
              <a:rPr lang="en-US" sz="1200" dirty="0">
                <a:solidFill>
                  <a:srgbClr val="5B6678"/>
                </a:solidFill>
                <a:latin typeface="Segoe UI" pitchFamily="34" charset="0"/>
                <a:ea typeface="Segoe UI" pitchFamily="34" charset="-122"/>
                <a:cs typeface="Segoe UI" pitchFamily="34" charset="-120"/>
              </a:rPr>
              <a:t>GameObject</a:t>
            </a:r>
            <a:endParaRPr lang="en-US" sz="1200" dirty="0"/>
          </a:p>
        </p:txBody>
      </p:sp>
      <p:sp>
        <p:nvSpPr>
          <p:cNvPr id="16" name="Text 13"/>
          <p:cNvSpPr txBox="1"/>
          <p:nvPr/>
        </p:nvSpPr>
        <p:spPr>
          <a:xfrm>
            <a:off x="4591202" y="2560320"/>
            <a:ext cx="3009290" cy="438912"/>
          </a:xfrm>
          <a:prstGeom prst="roundRect">
            <a:avLst>
              <a:gd name="adj" fmla="val 12500"/>
            </a:avLst>
          </a:prstGeom>
          <a:solidFill>
            <a:srgbClr val="E9EFF9"/>
          </a:solidFill>
          <a:ln/>
        </p:spPr>
        <p:txBody>
          <a:bodyPr wrap="square" lIns="0" tIns="0" rIns="0" bIns="0" rtlCol="0" anchor="ctr"/>
          <a:lstStyle/>
          <a:p>
            <a:pPr algn="ctr" indent="0" marL="0">
              <a:buNone/>
            </a:pPr>
            <a:r>
              <a:rPr lang="en-US" sz="1400" dirty="0">
                <a:solidFill>
                  <a:srgbClr val="2354A6"/>
                </a:solidFill>
                <a:latin typeface="Consolas" pitchFamily="34" charset="0"/>
                <a:ea typeface="Consolas" pitchFamily="34" charset="-122"/>
                <a:cs typeface="Consolas" pitchFamily="34" charset="-120"/>
              </a:rPr>
              <a:t>SpriteRenderer</a:t>
            </a:r>
            <a:endParaRPr lang="en-US" sz="1400" dirty="0"/>
          </a:p>
        </p:txBody>
      </p:sp>
      <p:sp>
        <p:nvSpPr>
          <p:cNvPr id="17" name="Text 14"/>
          <p:cNvSpPr txBox="1"/>
          <p:nvPr/>
        </p:nvSpPr>
        <p:spPr>
          <a:xfrm>
            <a:off x="4591202" y="3108960"/>
            <a:ext cx="3009290" cy="438912"/>
          </a:xfrm>
          <a:prstGeom prst="roundRect">
            <a:avLst>
              <a:gd name="adj" fmla="val 12500"/>
            </a:avLst>
          </a:prstGeom>
          <a:solidFill>
            <a:srgbClr val="E9EFF9"/>
          </a:solidFill>
          <a:ln/>
        </p:spPr>
        <p:txBody>
          <a:bodyPr wrap="square" lIns="0" tIns="0" rIns="0" bIns="0" rtlCol="0" anchor="ctr"/>
          <a:lstStyle/>
          <a:p>
            <a:pPr algn="ctr" indent="0" marL="0">
              <a:buNone/>
            </a:pPr>
            <a:r>
              <a:rPr lang="en-US" sz="1400" dirty="0">
                <a:solidFill>
                  <a:srgbClr val="2354A6"/>
                </a:solidFill>
                <a:latin typeface="Consolas" pitchFamily="34" charset="0"/>
                <a:ea typeface="Consolas" pitchFamily="34" charset="-122"/>
                <a:cs typeface="Consolas" pitchFamily="34" charset="-120"/>
              </a:rPr>
              <a:t>Rigidbody2D</a:t>
            </a:r>
            <a:endParaRPr lang="en-US" sz="1400" dirty="0"/>
          </a:p>
        </p:txBody>
      </p:sp>
      <p:sp>
        <p:nvSpPr>
          <p:cNvPr id="18" name="Text 15"/>
          <p:cNvSpPr txBox="1"/>
          <p:nvPr/>
        </p:nvSpPr>
        <p:spPr>
          <a:xfrm>
            <a:off x="4591202" y="3657600"/>
            <a:ext cx="3009290" cy="438912"/>
          </a:xfrm>
          <a:prstGeom prst="roundRect">
            <a:avLst>
              <a:gd name="adj" fmla="val 12500"/>
            </a:avLst>
          </a:prstGeom>
          <a:solidFill>
            <a:srgbClr val="E9EFF9"/>
          </a:solidFill>
          <a:ln/>
        </p:spPr>
        <p:txBody>
          <a:bodyPr wrap="square" lIns="0" tIns="0" rIns="0" bIns="0" rtlCol="0" anchor="ctr"/>
          <a:lstStyle/>
          <a:p>
            <a:pPr algn="ctr" indent="0" marL="0">
              <a:buNone/>
            </a:pPr>
            <a:r>
              <a:rPr lang="en-US" sz="1400" dirty="0">
                <a:solidFill>
                  <a:srgbClr val="2354A6"/>
                </a:solidFill>
                <a:latin typeface="Consolas" pitchFamily="34" charset="0"/>
                <a:ea typeface="Consolas" pitchFamily="34" charset="-122"/>
                <a:cs typeface="Consolas" pitchFamily="34" charset="-120"/>
              </a:rPr>
              <a:t>BoxCollider2D</a:t>
            </a:r>
            <a:endParaRPr lang="en-US" sz="1400" dirty="0"/>
          </a:p>
        </p:txBody>
      </p:sp>
      <p:sp>
        <p:nvSpPr>
          <p:cNvPr id="19" name="Text 16"/>
          <p:cNvSpPr txBox="1"/>
          <p:nvPr/>
        </p:nvSpPr>
        <p:spPr>
          <a:xfrm>
            <a:off x="4591202" y="4206240"/>
            <a:ext cx="3009290" cy="438912"/>
          </a:xfrm>
          <a:prstGeom prst="roundRect">
            <a:avLst>
              <a:gd name="adj" fmla="val 12500"/>
            </a:avLst>
          </a:prstGeom>
          <a:solidFill>
            <a:srgbClr val="E7F3EC"/>
          </a:solidFill>
          <a:ln/>
        </p:spPr>
        <p:txBody>
          <a:bodyPr wrap="square" lIns="0" tIns="0" rIns="0" bIns="0" rtlCol="0" anchor="ctr"/>
          <a:lstStyle/>
          <a:p>
            <a:pPr algn="ctr" indent="0" marL="0">
              <a:buNone/>
            </a:pPr>
            <a:r>
              <a:rPr lang="en-US" sz="1400" dirty="0">
                <a:solidFill>
                  <a:srgbClr val="1D6F43"/>
                </a:solidFill>
                <a:latin typeface="Consolas" pitchFamily="34" charset="0"/>
                <a:ea typeface="Consolas" pitchFamily="34" charset="-122"/>
                <a:cs typeface="Consolas" pitchFamily="34" charset="-120"/>
              </a:rPr>
              <a:t>Patrol</a:t>
            </a:r>
            <a:endParaRPr lang="en-US" sz="1400" dirty="0"/>
          </a:p>
        </p:txBody>
      </p:sp>
      <p:sp>
        <p:nvSpPr>
          <p:cNvPr id="20" name="Shape 17"/>
          <p:cNvSpPr/>
          <p:nvPr/>
        </p:nvSpPr>
        <p:spPr>
          <a:xfrm>
            <a:off x="8085125" y="1600200"/>
            <a:ext cx="3557930" cy="3429000"/>
          </a:xfrm>
          <a:prstGeom prst="roundRect">
            <a:avLst>
              <a:gd name="adj" fmla="val 1600"/>
            </a:avLst>
          </a:prstGeom>
          <a:solidFill>
            <a:srgbClr val="FFFFFF"/>
          </a:solidFill>
          <a:ln w="15875">
            <a:solidFill>
              <a:srgbClr val="D5DBE3"/>
            </a:solidFill>
            <a:prstDash val="solid"/>
          </a:ln>
        </p:spPr>
      </p:sp>
      <p:sp>
        <p:nvSpPr>
          <p:cNvPr id="21" name="Text 18"/>
          <p:cNvSpPr txBox="1"/>
          <p:nvPr/>
        </p:nvSpPr>
        <p:spPr>
          <a:xfrm>
            <a:off x="8359445" y="1755648"/>
            <a:ext cx="3009290" cy="384048"/>
          </a:xfrm>
          <a:prstGeom prst="rect">
            <a:avLst/>
          </a:prstGeom>
          <a:noFill/>
          <a:ln/>
        </p:spPr>
        <p:txBody>
          <a:bodyPr wrap="square" lIns="0" tIns="0" rIns="0" bIns="0" rtlCol="0" anchor="t"/>
          <a:lstStyle/>
          <a:p>
            <a:pPr indent="0" marL="0">
              <a:buNone/>
            </a:pPr>
            <a:r>
              <a:rPr lang="en-US" sz="2100" dirty="0">
                <a:solidFill>
                  <a:srgbClr val="18202E"/>
                </a:solidFill>
                <a:latin typeface="Segoe UI Semibold" pitchFamily="34" charset="0"/>
                <a:ea typeface="Segoe UI Semibold" pitchFamily="34" charset="-122"/>
                <a:cs typeface="Segoe UI Semibold" pitchFamily="34" charset="-120"/>
              </a:rPr>
              <a:t>Crate</a:t>
            </a:r>
            <a:endParaRPr lang="en-US" sz="2100" dirty="0"/>
          </a:p>
        </p:txBody>
      </p:sp>
      <p:sp>
        <p:nvSpPr>
          <p:cNvPr id="22" name="Text 19"/>
          <p:cNvSpPr txBox="1"/>
          <p:nvPr/>
        </p:nvSpPr>
        <p:spPr>
          <a:xfrm>
            <a:off x="8359445" y="2130552"/>
            <a:ext cx="3009290" cy="274320"/>
          </a:xfrm>
          <a:prstGeom prst="rect">
            <a:avLst/>
          </a:prstGeom>
          <a:noFill/>
          <a:ln/>
        </p:spPr>
        <p:txBody>
          <a:bodyPr wrap="square" lIns="0" tIns="0" rIns="0" bIns="0" rtlCol="0" anchor="t"/>
          <a:lstStyle/>
          <a:p>
            <a:pPr indent="0" marL="0">
              <a:buNone/>
            </a:pPr>
            <a:r>
              <a:rPr lang="en-US" sz="1200" dirty="0">
                <a:solidFill>
                  <a:srgbClr val="5B6678"/>
                </a:solidFill>
                <a:latin typeface="Segoe UI" pitchFamily="34" charset="0"/>
                <a:ea typeface="Segoe UI" pitchFamily="34" charset="-122"/>
                <a:cs typeface="Segoe UI" pitchFamily="34" charset="-120"/>
              </a:rPr>
              <a:t>GameObject</a:t>
            </a:r>
            <a:endParaRPr lang="en-US" sz="1200" dirty="0"/>
          </a:p>
        </p:txBody>
      </p:sp>
      <p:sp>
        <p:nvSpPr>
          <p:cNvPr id="23" name="Text 20"/>
          <p:cNvSpPr txBox="1"/>
          <p:nvPr/>
        </p:nvSpPr>
        <p:spPr>
          <a:xfrm>
            <a:off x="8359445" y="2560320"/>
            <a:ext cx="3009290" cy="438912"/>
          </a:xfrm>
          <a:prstGeom prst="roundRect">
            <a:avLst>
              <a:gd name="adj" fmla="val 12500"/>
            </a:avLst>
          </a:prstGeom>
          <a:solidFill>
            <a:srgbClr val="E9EFF9"/>
          </a:solidFill>
          <a:ln/>
        </p:spPr>
        <p:txBody>
          <a:bodyPr wrap="square" lIns="0" tIns="0" rIns="0" bIns="0" rtlCol="0" anchor="ctr"/>
          <a:lstStyle/>
          <a:p>
            <a:pPr algn="ctr" indent="0" marL="0">
              <a:buNone/>
            </a:pPr>
            <a:r>
              <a:rPr lang="en-US" sz="1400" dirty="0">
                <a:solidFill>
                  <a:srgbClr val="2354A6"/>
                </a:solidFill>
                <a:latin typeface="Consolas" pitchFamily="34" charset="0"/>
                <a:ea typeface="Consolas" pitchFamily="34" charset="-122"/>
                <a:cs typeface="Consolas" pitchFamily="34" charset="-120"/>
              </a:rPr>
              <a:t>SpriteRenderer</a:t>
            </a:r>
            <a:endParaRPr lang="en-US" sz="1400" dirty="0"/>
          </a:p>
        </p:txBody>
      </p:sp>
      <p:sp>
        <p:nvSpPr>
          <p:cNvPr id="24" name="Text 21"/>
          <p:cNvSpPr txBox="1"/>
          <p:nvPr/>
        </p:nvSpPr>
        <p:spPr>
          <a:xfrm>
            <a:off x="8359445" y="3108960"/>
            <a:ext cx="3009290" cy="438912"/>
          </a:xfrm>
          <a:prstGeom prst="roundRect">
            <a:avLst>
              <a:gd name="adj" fmla="val 12500"/>
            </a:avLst>
          </a:prstGeom>
          <a:solidFill>
            <a:srgbClr val="E9EFF9"/>
          </a:solidFill>
          <a:ln/>
        </p:spPr>
        <p:txBody>
          <a:bodyPr wrap="square" lIns="0" tIns="0" rIns="0" bIns="0" rtlCol="0" anchor="ctr"/>
          <a:lstStyle/>
          <a:p>
            <a:pPr algn="ctr" indent="0" marL="0">
              <a:buNone/>
            </a:pPr>
            <a:r>
              <a:rPr lang="en-US" sz="1400" dirty="0">
                <a:solidFill>
                  <a:srgbClr val="2354A6"/>
                </a:solidFill>
                <a:latin typeface="Consolas" pitchFamily="34" charset="0"/>
                <a:ea typeface="Consolas" pitchFamily="34" charset="-122"/>
                <a:cs typeface="Consolas" pitchFamily="34" charset="-120"/>
              </a:rPr>
              <a:t>BoxCollider2D</a:t>
            </a:r>
            <a:endParaRPr lang="en-US" sz="1400" dirty="0"/>
          </a:p>
        </p:txBody>
      </p:sp>
      <p:sp>
        <p:nvSpPr>
          <p:cNvPr id="25" name="Text 22"/>
          <p:cNvSpPr txBox="1"/>
          <p:nvPr/>
        </p:nvSpPr>
        <p:spPr>
          <a:xfrm>
            <a:off x="8359445" y="3657600"/>
            <a:ext cx="3009290" cy="438912"/>
          </a:xfrm>
          <a:prstGeom prst="roundRect">
            <a:avLst>
              <a:gd name="adj" fmla="val 12500"/>
            </a:avLst>
          </a:prstGeom>
          <a:solidFill>
            <a:srgbClr val="E7F3EC"/>
          </a:solidFill>
          <a:ln/>
        </p:spPr>
        <p:txBody>
          <a:bodyPr wrap="square" lIns="0" tIns="0" rIns="0" bIns="0" rtlCol="0" anchor="ctr"/>
          <a:lstStyle/>
          <a:p>
            <a:pPr algn="ctr" indent="0" marL="0">
              <a:buNone/>
            </a:pPr>
            <a:r>
              <a:rPr lang="en-US" sz="1400" dirty="0">
                <a:solidFill>
                  <a:srgbClr val="1D6F43"/>
                </a:solidFill>
                <a:latin typeface="Consolas" pitchFamily="34" charset="0"/>
                <a:ea typeface="Consolas" pitchFamily="34" charset="-122"/>
                <a:cs typeface="Consolas" pitchFamily="34" charset="-120"/>
              </a:rPr>
              <a:t>Breakable</a:t>
            </a:r>
            <a:endParaRPr lang="en-US" sz="1400" dirty="0"/>
          </a:p>
        </p:txBody>
      </p:sp>
      <p:sp>
        <p:nvSpPr>
          <p:cNvPr id="26" name="Text 23"/>
          <p:cNvSpPr txBox="1"/>
          <p:nvPr/>
        </p:nvSpPr>
        <p:spPr>
          <a:xfrm>
            <a:off x="548640" y="5230368"/>
            <a:ext cx="2194560" cy="365760"/>
          </a:xfrm>
          <a:prstGeom prst="roundRect">
            <a:avLst>
              <a:gd name="adj" fmla="val 15000"/>
            </a:avLst>
          </a:prstGeom>
          <a:solidFill>
            <a:srgbClr val="E9EFF9"/>
          </a:solidFill>
          <a:ln/>
        </p:spPr>
        <p:txBody>
          <a:bodyPr wrap="square" lIns="0" tIns="0" rIns="0" bIns="0" rtlCol="0" anchor="ctr"/>
          <a:lstStyle/>
          <a:p>
            <a:pPr algn="ctr" indent="0" marL="0">
              <a:buNone/>
            </a:pPr>
            <a:r>
              <a:rPr lang="en-US" sz="1200" dirty="0">
                <a:solidFill>
                  <a:srgbClr val="2354A6"/>
                </a:solidFill>
                <a:latin typeface="Segoe UI" pitchFamily="34" charset="0"/>
                <a:ea typeface="Segoe UI" pitchFamily="34" charset="-122"/>
                <a:cs typeface="Segoe UI" pitchFamily="34" charset="-120"/>
              </a:rPr>
              <a:t>built-in component</a:t>
            </a:r>
            <a:endParaRPr lang="en-US" sz="1200" dirty="0"/>
          </a:p>
        </p:txBody>
      </p:sp>
      <p:sp>
        <p:nvSpPr>
          <p:cNvPr id="27" name="Text 24"/>
          <p:cNvSpPr txBox="1"/>
          <p:nvPr/>
        </p:nvSpPr>
        <p:spPr>
          <a:xfrm>
            <a:off x="2926080" y="5230368"/>
            <a:ext cx="2743200" cy="365760"/>
          </a:xfrm>
          <a:prstGeom prst="roundRect">
            <a:avLst>
              <a:gd name="adj" fmla="val 15000"/>
            </a:avLst>
          </a:prstGeom>
          <a:solidFill>
            <a:srgbClr val="E7F3EC"/>
          </a:solidFill>
          <a:ln/>
        </p:spPr>
        <p:txBody>
          <a:bodyPr wrap="square" lIns="0" tIns="0" rIns="0" bIns="0" rtlCol="0" anchor="ctr"/>
          <a:lstStyle/>
          <a:p>
            <a:pPr algn="ctr" indent="0" marL="0">
              <a:buNone/>
            </a:pPr>
            <a:r>
              <a:rPr lang="en-US" sz="1200" dirty="0">
                <a:solidFill>
                  <a:srgbClr val="1D6F43"/>
                </a:solidFill>
                <a:latin typeface="Segoe UI" pitchFamily="34" charset="0"/>
                <a:ea typeface="Segoe UI" pitchFamily="34" charset="-122"/>
                <a:cs typeface="Segoe UI" pitchFamily="34" charset="-120"/>
              </a:rPr>
              <a:t>your component (a C# class)</a:t>
            </a:r>
            <a:endParaRPr lang="en-US" sz="1200" dirty="0"/>
          </a:p>
        </p:txBody>
      </p:sp>
      <p:sp>
        <p:nvSpPr>
          <p:cNvPr id="28" name="Text 25"/>
          <p:cNvSpPr txBox="1"/>
          <p:nvPr/>
        </p:nvSpPr>
        <p:spPr>
          <a:xfrm>
            <a:off x="548640" y="5760720"/>
            <a:ext cx="11094415" cy="411480"/>
          </a:xfrm>
          <a:prstGeom prst="rect">
            <a:avLst/>
          </a:prstGeom>
          <a:noFill/>
          <a:ln/>
        </p:spPr>
        <p:txBody>
          <a:bodyPr wrap="square" lIns="0" tIns="0" rIns="0" bIns="0" rtlCol="0" anchor="t"/>
          <a:lstStyle/>
          <a:p>
            <a:pPr indent="0" marL="0">
              <a:buNone/>
            </a:pPr>
            <a:r>
              <a:rPr lang="en-US" sz="1800" b="1" dirty="0">
                <a:solidFill>
                  <a:srgbClr val="18202E"/>
                </a:solidFill>
                <a:latin typeface="Segoe UI" pitchFamily="34" charset="0"/>
                <a:ea typeface="Segoe UI" pitchFamily="34" charset="-122"/>
                <a:cs typeface="Segoe UI" pitchFamily="34" charset="-120"/>
              </a:rPr>
              <a:t>One component, one responsibility, no assumptions about its neighbors.</a:t>
            </a:r>
            <a:endParaRPr lang="en-US" sz="18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3 · GAMEOBJECTS AND COMPONENTS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A GameObject is almost nothing</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00200"/>
            <a:ext cx="4480560" cy="4526280"/>
          </a:xfrm>
          <a:prstGeom prst="rect">
            <a:avLst/>
          </a:prstGeom>
          <a:solidFill>
            <a:srgbClr val="F0F3F7"/>
          </a:solidFill>
          <a:ln/>
        </p:spPr>
      </p:sp>
      <p:sp>
        <p:nvSpPr>
          <p:cNvPr id="7" name="Text 4"/>
          <p:cNvSpPr txBox="1"/>
          <p:nvPr/>
        </p:nvSpPr>
        <p:spPr>
          <a:xfrm>
            <a:off x="777240" y="1719072"/>
            <a:ext cx="2743200" cy="228600"/>
          </a:xfrm>
          <a:prstGeom prst="rect">
            <a:avLst/>
          </a:prstGeom>
          <a:noFill/>
          <a:ln/>
        </p:spPr>
        <p:txBody>
          <a:bodyPr wrap="square" lIns="0" tIns="0" rIns="0" bIns="0" rtlCol="0" anchor="t"/>
          <a:lstStyle/>
          <a:p>
            <a:pPr indent="0" marL="0">
              <a:buNone/>
            </a:pPr>
            <a:r>
              <a:rPr lang="en-US" sz="1000" b="1" spc="120" kern="0" dirty="0">
                <a:solidFill>
                  <a:srgbClr val="5B6678"/>
                </a:solidFill>
                <a:latin typeface="Segoe UI" pitchFamily="34" charset="0"/>
                <a:ea typeface="Segoe UI" pitchFamily="34" charset="-122"/>
                <a:cs typeface="Segoe UI" pitchFamily="34" charset="-120"/>
              </a:rPr>
              <a:t>INSPECTOR</a:t>
            </a:r>
            <a:endParaRPr lang="en-US" sz="1000" dirty="0"/>
          </a:p>
        </p:txBody>
      </p:sp>
      <p:sp>
        <p:nvSpPr>
          <p:cNvPr id="8" name="Shape 5"/>
          <p:cNvSpPr/>
          <p:nvPr/>
        </p:nvSpPr>
        <p:spPr>
          <a:xfrm>
            <a:off x="731520" y="2011680"/>
            <a:ext cx="4114800" cy="960120"/>
          </a:xfrm>
          <a:prstGeom prst="rect">
            <a:avLst/>
          </a:prstGeom>
          <a:solidFill>
            <a:srgbClr val="FFFFFF"/>
          </a:solidFill>
          <a:ln/>
        </p:spPr>
      </p:sp>
      <p:sp>
        <p:nvSpPr>
          <p:cNvPr id="9" name="Shape 6"/>
          <p:cNvSpPr/>
          <p:nvPr/>
        </p:nvSpPr>
        <p:spPr>
          <a:xfrm>
            <a:off x="914400" y="2176272"/>
            <a:ext cx="201168" cy="201168"/>
          </a:xfrm>
          <a:prstGeom prst="rect">
            <a:avLst/>
          </a:prstGeom>
          <a:solidFill>
            <a:srgbClr val="2354A6"/>
          </a:solidFill>
          <a:ln/>
        </p:spPr>
      </p:sp>
      <p:sp>
        <p:nvSpPr>
          <p:cNvPr id="10" name="Text 7"/>
          <p:cNvSpPr txBox="1"/>
          <p:nvPr/>
        </p:nvSpPr>
        <p:spPr>
          <a:xfrm>
            <a:off x="1234440" y="2103120"/>
            <a:ext cx="3200400" cy="347472"/>
          </a:xfrm>
          <a:prstGeom prst="rect">
            <a:avLst/>
          </a:prstGeom>
          <a:noFill/>
          <a:ln/>
        </p:spPr>
        <p:txBody>
          <a:bodyPr wrap="square" lIns="0" tIns="0" rIns="0" bIns="0" rtlCol="0" anchor="t"/>
          <a:lstStyle/>
          <a:p>
            <a:pPr indent="0" marL="0">
              <a:buNone/>
            </a:pPr>
            <a:r>
              <a:rPr lang="en-US" sz="1700" dirty="0">
                <a:solidFill>
                  <a:srgbClr val="18202E"/>
                </a:solidFill>
                <a:latin typeface="Segoe UI Semibold" pitchFamily="34" charset="0"/>
                <a:ea typeface="Segoe UI Semibold" pitchFamily="34" charset="-122"/>
                <a:cs typeface="Segoe UI Semibold" pitchFamily="34" charset="-120"/>
              </a:rPr>
              <a:t>Player</a:t>
            </a:r>
            <a:endParaRPr lang="en-US" sz="1700" dirty="0"/>
          </a:p>
        </p:txBody>
      </p:sp>
      <p:sp>
        <p:nvSpPr>
          <p:cNvPr id="11" name="Text 8"/>
          <p:cNvSpPr txBox="1"/>
          <p:nvPr/>
        </p:nvSpPr>
        <p:spPr>
          <a:xfrm>
            <a:off x="914400" y="2542032"/>
            <a:ext cx="3749040" cy="292608"/>
          </a:xfrm>
          <a:prstGeom prst="rect">
            <a:avLst/>
          </a:prstGeom>
          <a:noFill/>
          <a:ln/>
        </p:spPr>
        <p:txBody>
          <a:bodyPr wrap="square" lIns="0" tIns="0" rIns="0" bIns="0" rtlCol="0" anchor="t"/>
          <a:lstStyle/>
          <a:p>
            <a:pPr indent="0" marL="0">
              <a:buNone/>
            </a:pPr>
            <a:r>
              <a:rPr lang="en-US" sz="1300" dirty="0">
                <a:solidFill>
                  <a:srgbClr val="364255"/>
                </a:solidFill>
                <a:latin typeface="Segoe UI" pitchFamily="34" charset="0"/>
                <a:ea typeface="Segoe UI" pitchFamily="34" charset="-122"/>
                <a:cs typeface="Segoe UI" pitchFamily="34" charset="-120"/>
              </a:rPr>
              <a:t>Tag  Player      Layer  Default</a:t>
            </a:r>
            <a:endParaRPr lang="en-US" sz="1300" dirty="0"/>
          </a:p>
        </p:txBody>
      </p:sp>
      <p:sp>
        <p:nvSpPr>
          <p:cNvPr id="12" name="Shape 9"/>
          <p:cNvSpPr/>
          <p:nvPr/>
        </p:nvSpPr>
        <p:spPr>
          <a:xfrm>
            <a:off x="731520" y="3127248"/>
            <a:ext cx="4114800" cy="457200"/>
          </a:xfrm>
          <a:prstGeom prst="rect">
            <a:avLst/>
          </a:prstGeom>
          <a:solidFill>
            <a:srgbClr val="FFFFFF"/>
          </a:solidFill>
          <a:ln/>
        </p:spPr>
      </p:sp>
      <p:sp>
        <p:nvSpPr>
          <p:cNvPr id="13" name="Text 10"/>
          <p:cNvSpPr txBox="1"/>
          <p:nvPr/>
        </p:nvSpPr>
        <p:spPr>
          <a:xfrm>
            <a:off x="914400" y="3127248"/>
            <a:ext cx="3749040" cy="457200"/>
          </a:xfrm>
          <a:prstGeom prst="rect">
            <a:avLst/>
          </a:prstGeom>
          <a:noFill/>
          <a:ln/>
        </p:spPr>
        <p:txBody>
          <a:bodyPr wrap="square" lIns="0" tIns="0" rIns="0" bIns="0" rtlCol="0" anchor="ctr"/>
          <a:lstStyle/>
          <a:p>
            <a:pPr indent="0" marL="0">
              <a:buNone/>
            </a:pPr>
            <a:r>
              <a:rPr lang="en-US" sz="1500" b="1" dirty="0">
                <a:solidFill>
                  <a:srgbClr val="18202E"/>
                </a:solidFill>
                <a:latin typeface="Segoe UI" pitchFamily="34" charset="0"/>
                <a:ea typeface="Segoe UI" pitchFamily="34" charset="-122"/>
                <a:cs typeface="Segoe UI" pitchFamily="34" charset="-120"/>
              </a:rPr>
              <a:t>Transform</a:t>
            </a:r>
            <a:endParaRPr lang="en-US" sz="1500" dirty="0"/>
          </a:p>
        </p:txBody>
      </p:sp>
      <p:sp>
        <p:nvSpPr>
          <p:cNvPr id="14" name="Shape 11"/>
          <p:cNvSpPr/>
          <p:nvPr/>
        </p:nvSpPr>
        <p:spPr>
          <a:xfrm>
            <a:off x="731520" y="3675888"/>
            <a:ext cx="4114800" cy="457200"/>
          </a:xfrm>
          <a:prstGeom prst="rect">
            <a:avLst/>
          </a:prstGeom>
          <a:solidFill>
            <a:srgbClr val="FFFFFF"/>
          </a:solidFill>
          <a:ln/>
        </p:spPr>
      </p:sp>
      <p:sp>
        <p:nvSpPr>
          <p:cNvPr id="15" name="Text 12"/>
          <p:cNvSpPr txBox="1"/>
          <p:nvPr/>
        </p:nvSpPr>
        <p:spPr>
          <a:xfrm>
            <a:off x="914400" y="3675888"/>
            <a:ext cx="3749040" cy="457200"/>
          </a:xfrm>
          <a:prstGeom prst="rect">
            <a:avLst/>
          </a:prstGeom>
          <a:noFill/>
          <a:ln/>
        </p:spPr>
        <p:txBody>
          <a:bodyPr wrap="square" lIns="0" tIns="0" rIns="0" bIns="0" rtlCol="0" anchor="ctr"/>
          <a:lstStyle/>
          <a:p>
            <a:pPr indent="0" marL="0">
              <a:buNone/>
            </a:pPr>
            <a:r>
              <a:rPr lang="en-US" sz="1500" b="1" dirty="0">
                <a:solidFill>
                  <a:srgbClr val="18202E"/>
                </a:solidFill>
                <a:latin typeface="Segoe UI" pitchFamily="34" charset="0"/>
                <a:ea typeface="Segoe UI" pitchFamily="34" charset="-122"/>
                <a:cs typeface="Segoe UI" pitchFamily="34" charset="-120"/>
              </a:rPr>
              <a:t>Sprite Renderer</a:t>
            </a:r>
            <a:endParaRPr lang="en-US" sz="1500" dirty="0"/>
          </a:p>
        </p:txBody>
      </p:sp>
      <p:sp>
        <p:nvSpPr>
          <p:cNvPr id="16" name="Shape 13"/>
          <p:cNvSpPr/>
          <p:nvPr/>
        </p:nvSpPr>
        <p:spPr>
          <a:xfrm>
            <a:off x="731520" y="4224528"/>
            <a:ext cx="4114800" cy="457200"/>
          </a:xfrm>
          <a:prstGeom prst="rect">
            <a:avLst/>
          </a:prstGeom>
          <a:solidFill>
            <a:srgbClr val="FFFFFF"/>
          </a:solidFill>
          <a:ln/>
        </p:spPr>
      </p:sp>
      <p:sp>
        <p:nvSpPr>
          <p:cNvPr id="17" name="Text 14"/>
          <p:cNvSpPr txBox="1"/>
          <p:nvPr/>
        </p:nvSpPr>
        <p:spPr>
          <a:xfrm>
            <a:off x="914400" y="4224528"/>
            <a:ext cx="3749040" cy="457200"/>
          </a:xfrm>
          <a:prstGeom prst="rect">
            <a:avLst/>
          </a:prstGeom>
          <a:noFill/>
          <a:ln/>
        </p:spPr>
        <p:txBody>
          <a:bodyPr wrap="square" lIns="0" tIns="0" rIns="0" bIns="0" rtlCol="0" anchor="ctr"/>
          <a:lstStyle/>
          <a:p>
            <a:pPr indent="0" marL="0">
              <a:buNone/>
            </a:pPr>
            <a:r>
              <a:rPr lang="en-US" sz="1500" b="1" dirty="0">
                <a:solidFill>
                  <a:srgbClr val="18202E"/>
                </a:solidFill>
                <a:latin typeface="Segoe UI" pitchFamily="34" charset="0"/>
                <a:ea typeface="Segoe UI" pitchFamily="34" charset="-122"/>
                <a:cs typeface="Segoe UI" pitchFamily="34" charset="-120"/>
              </a:rPr>
              <a:t>Rigidbody 2D</a:t>
            </a:r>
            <a:endParaRPr lang="en-US" sz="1500" dirty="0"/>
          </a:p>
        </p:txBody>
      </p:sp>
      <p:sp>
        <p:nvSpPr>
          <p:cNvPr id="18" name="Shape 15"/>
          <p:cNvSpPr/>
          <p:nvPr/>
        </p:nvSpPr>
        <p:spPr>
          <a:xfrm>
            <a:off x="731520" y="4773168"/>
            <a:ext cx="4114800" cy="457200"/>
          </a:xfrm>
          <a:prstGeom prst="rect">
            <a:avLst/>
          </a:prstGeom>
          <a:solidFill>
            <a:srgbClr val="FFFFFF"/>
          </a:solidFill>
          <a:ln/>
        </p:spPr>
      </p:sp>
      <p:sp>
        <p:nvSpPr>
          <p:cNvPr id="19" name="Text 16"/>
          <p:cNvSpPr txBox="1"/>
          <p:nvPr/>
        </p:nvSpPr>
        <p:spPr>
          <a:xfrm>
            <a:off x="914400" y="4773168"/>
            <a:ext cx="3749040" cy="457200"/>
          </a:xfrm>
          <a:prstGeom prst="rect">
            <a:avLst/>
          </a:prstGeom>
          <a:noFill/>
          <a:ln/>
        </p:spPr>
        <p:txBody>
          <a:bodyPr wrap="square" lIns="0" tIns="0" rIns="0" bIns="0" rtlCol="0" anchor="ctr"/>
          <a:lstStyle/>
          <a:p>
            <a:pPr indent="0" marL="0">
              <a:buNone/>
            </a:pPr>
            <a:r>
              <a:rPr lang="en-US" sz="1500" b="1" dirty="0">
                <a:solidFill>
                  <a:srgbClr val="1D6F43"/>
                </a:solidFill>
                <a:latin typeface="Segoe UI" pitchFamily="34" charset="0"/>
                <a:ea typeface="Segoe UI" pitchFamily="34" charset="-122"/>
                <a:cs typeface="Segoe UI" pitchFamily="34" charset="-120"/>
              </a:rPr>
              <a:t>Player Controller (Script)</a:t>
            </a:r>
            <a:endParaRPr lang="en-US" sz="1500" dirty="0"/>
          </a:p>
        </p:txBody>
      </p:sp>
      <p:sp>
        <p:nvSpPr>
          <p:cNvPr id="20" name="Text 17"/>
          <p:cNvSpPr txBox="1"/>
          <p:nvPr/>
        </p:nvSpPr>
        <p:spPr>
          <a:xfrm>
            <a:off x="1645920" y="5440680"/>
            <a:ext cx="2286000" cy="438912"/>
          </a:xfrm>
          <a:prstGeom prst="roundRect">
            <a:avLst>
              <a:gd name="adj" fmla="val 12500"/>
            </a:avLst>
          </a:prstGeom>
          <a:solidFill>
            <a:srgbClr val="FFFFFF"/>
          </a:solidFill>
          <a:ln w="12700">
            <a:solidFill>
              <a:srgbClr val="2354A6"/>
            </a:solidFill>
          </a:ln>
        </p:spPr>
        <p:txBody>
          <a:bodyPr wrap="square" lIns="0" tIns="0" rIns="0" bIns="0" rtlCol="0" anchor="ctr"/>
          <a:lstStyle/>
          <a:p>
            <a:pPr algn="ctr" indent="0" marL="0">
              <a:buNone/>
            </a:pPr>
            <a:r>
              <a:rPr lang="en-US" sz="1400" dirty="0">
                <a:solidFill>
                  <a:srgbClr val="2354A6"/>
                </a:solidFill>
                <a:latin typeface="Segoe UI" pitchFamily="34" charset="0"/>
                <a:ea typeface="Segoe UI" pitchFamily="34" charset="-122"/>
                <a:cs typeface="Segoe UI" pitchFamily="34" charset="-120"/>
              </a:rPr>
              <a:t>Add Component</a:t>
            </a:r>
            <a:endParaRPr lang="en-US" sz="1400" dirty="0"/>
          </a:p>
        </p:txBody>
      </p:sp>
      <p:sp>
        <p:nvSpPr>
          <p:cNvPr id="21" name="Text 18"/>
          <p:cNvSpPr txBox="1"/>
          <p:nvPr/>
        </p:nvSpPr>
        <p:spPr>
          <a:xfrm>
            <a:off x="5394960" y="1645920"/>
            <a:ext cx="6245352" cy="2651760"/>
          </a:xfrm>
          <a:prstGeom prst="rect">
            <a:avLst/>
          </a:prstGeom>
          <a:noFill/>
          <a:ln/>
        </p:spPr>
        <p:txBody>
          <a:bodyPr wrap="square" lIns="0" tIns="0" rIns="0" bIns="0" rtlCol="0" anchor="t"/>
          <a:lstStyle/>
          <a:p>
            <a:pPr marL="203200" indent="-203200">
              <a:spcAft>
                <a:spcPts val="1000"/>
              </a:spcAft>
              <a:buSzPct val="100000"/>
              <a:buChar char="•"/>
            </a:pPr>
            <a:r>
              <a:rPr lang="en-US" sz="1600" b="1" dirty="0">
                <a:solidFill>
                  <a:srgbClr val="364255"/>
                </a:solidFill>
                <a:latin typeface="Segoe UI" pitchFamily="34" charset="0"/>
                <a:ea typeface="Segoe UI" pitchFamily="34" charset="-122"/>
                <a:cs typeface="Segoe UI" pitchFamily="34" charset="-120"/>
              </a:rPr>
              <a:t>A container: </a:t>
            </a:r>
            <a:pPr indent="0" marL="0">
              <a:buNone/>
            </a:pPr>
            <a:r>
              <a:rPr lang="en-US" sz="1600" dirty="0">
                <a:solidFill>
                  <a:srgbClr val="364255"/>
                </a:solidFill>
                <a:latin typeface="Segoe UI" pitchFamily="34" charset="0"/>
                <a:ea typeface="Segoe UI" pitchFamily="34" charset="-122"/>
                <a:cs typeface="Segoe UI" pitchFamily="34" charset="-120"/>
              </a:rPr>
              <a:t>a name, a tag, a layer, an active flag and a list of components. No behavior of its own.</a:t>
            </a:r>
            <a:endParaRPr lang="en-US" sz="1600" dirty="0"/>
          </a:p>
          <a:p>
            <a:pPr marL="203200" indent="-203200">
              <a:spcAft>
                <a:spcPts val="1000"/>
              </a:spcAft>
              <a:buSzPct val="100000"/>
              <a:buChar char="•"/>
            </a:pPr>
            <a:r>
              <a:rPr lang="en-US" sz="1600" b="1" dirty="0">
                <a:solidFill>
                  <a:srgbClr val="364255"/>
                </a:solidFill>
                <a:latin typeface="Segoe UI" pitchFamily="34" charset="0"/>
                <a:ea typeface="Segoe UI" pitchFamily="34" charset="-122"/>
                <a:cs typeface="Segoe UI" pitchFamily="34" charset="-120"/>
              </a:rPr>
              <a:t>Components hold all behavior and data: </a:t>
            </a:r>
            <a:pPr indent="0" marL="0">
              <a:buNone/>
            </a:pPr>
            <a:r>
              <a:rPr lang="en-US" sz="1600" dirty="0">
                <a:solidFill>
                  <a:srgbClr val="364255"/>
                </a:solidFill>
                <a:latin typeface="Segoe UI" pitchFamily="34" charset="0"/>
                <a:ea typeface="Segoe UI" pitchFamily="34" charset="-122"/>
                <a:cs typeface="Segoe UI" pitchFamily="34" charset="-120"/>
              </a:rPr>
              <a:t>Transform, SpriteRenderer, Camera, Rigidbody2D, BoxCollider2D, AudioSource, Animator.</a:t>
            </a:r>
            <a:endParaRPr lang="en-US" sz="1600" dirty="0"/>
          </a:p>
          <a:p>
            <a:pPr marL="203200" indent="-203200">
              <a:spcAft>
                <a:spcPts val="1000"/>
              </a:spcAft>
              <a:buSzPct val="100000"/>
              <a:buChar char="•"/>
            </a:pPr>
            <a:r>
              <a:rPr lang="en-US" sz="1600" b="1" dirty="0">
                <a:solidFill>
                  <a:srgbClr val="364255"/>
                </a:solidFill>
                <a:latin typeface="Segoe UI" pitchFamily="34" charset="0"/>
                <a:ea typeface="Segoe UI" pitchFamily="34" charset="-122"/>
                <a:cs typeface="Segoe UI" pitchFamily="34" charset="-120"/>
              </a:rPr>
              <a:t>Your scripts are components too: </a:t>
            </a:r>
            <a:pPr indent="0" marL="0">
              <a:buNone/>
            </a:pPr>
            <a:r>
              <a:rPr lang="en-US" sz="1600" dirty="0">
                <a:solidFill>
                  <a:srgbClr val="364255"/>
                </a:solidFill>
                <a:latin typeface="Segoe UI" pitchFamily="34" charset="0"/>
                <a:ea typeface="Segoe UI" pitchFamily="34" charset="-122"/>
                <a:cs typeface="Segoe UI" pitchFamily="34" charset="-120"/>
              </a:rPr>
              <a:t>C# classes derived from MonoBehaviour. Never </a:t>
            </a:r>
            <a:pPr indent="0" marL="0">
              <a:buNone/>
            </a:pPr>
            <a:r>
              <a:rPr lang="en-US" sz="1600" dirty="0">
                <a:solidFill>
                  <a:srgbClr val="364255"/>
                </a:solidFill>
                <a:latin typeface="Consolas" pitchFamily="34" charset="0"/>
                <a:ea typeface="Consolas" pitchFamily="34" charset="-122"/>
                <a:cs typeface="Consolas" pitchFamily="34" charset="-120"/>
              </a:rPr>
              <a:t>class Player : GameObject</a:t>
            </a:r>
            <a:pPr indent="0" marL="0">
              <a:buNone/>
            </a:pPr>
            <a:r>
              <a:rPr lang="en-US" sz="1600" dirty="0">
                <a:solidFill>
                  <a:srgbClr val="364255"/>
                </a:solidFill>
                <a:latin typeface="Segoe UI" pitchFamily="34" charset="0"/>
                <a:ea typeface="Segoe UI" pitchFamily="34" charset="-122"/>
                <a:cs typeface="Segoe UI" pitchFamily="34" charset="-120"/>
              </a:rPr>
              <a:t>.</a:t>
            </a:r>
            <a:endParaRPr lang="en-US" sz="1600" dirty="0"/>
          </a:p>
        </p:txBody>
      </p:sp>
      <p:sp>
        <p:nvSpPr>
          <p:cNvPr id="22" name="Shape 19"/>
          <p:cNvSpPr/>
          <p:nvPr/>
        </p:nvSpPr>
        <p:spPr>
          <a:xfrm>
            <a:off x="5394960" y="4023360"/>
            <a:ext cx="6245352" cy="868680"/>
          </a:xfrm>
          <a:prstGeom prst="rect">
            <a:avLst/>
          </a:prstGeom>
          <a:solidFill>
            <a:srgbClr val="F0F3F7"/>
          </a:solidFill>
          <a:ln/>
        </p:spPr>
      </p:sp>
      <p:sp>
        <p:nvSpPr>
          <p:cNvPr id="23" name="Text 20"/>
          <p:cNvSpPr txBox="1"/>
          <p:nvPr/>
        </p:nvSpPr>
        <p:spPr>
          <a:xfrm>
            <a:off x="5596128" y="4169664"/>
            <a:ext cx="5879592" cy="612648"/>
          </a:xfrm>
          <a:prstGeom prst="rect">
            <a:avLst/>
          </a:prstGeom>
          <a:noFill/>
          <a:ln/>
        </p:spPr>
        <p:txBody>
          <a:bodyPr wrap="square" lIns="0" tIns="0" rIns="0" bIns="0" rtlCol="0" anchor="t"/>
          <a:lstStyle/>
          <a:p>
            <a:pPr indent="0" marL="0">
              <a:buNone/>
            </a:pPr>
            <a:r>
              <a:rPr lang="en-US" sz="1400" dirty="0">
                <a:solidFill>
                  <a:srgbClr val="18202E"/>
                </a:solidFill>
                <a:latin typeface="Consolas" pitchFamily="34" charset="0"/>
                <a:ea typeface="Consolas" pitchFamily="34" charset="-122"/>
                <a:cs typeface="Consolas" pitchFamily="34" charset="-120"/>
              </a:rPr>
              <a:t>gameObject.SetActive(false);    // whole object stops</a:t>
            </a:r>
            <a:endParaRPr lang="en-US" sz="1400" dirty="0"/>
          </a:p>
          <a:p>
            <a:pPr indent="0" marL="0">
              <a:buNone/>
            </a:pPr>
            <a:r>
              <a:rPr lang="en-US" sz="1400" dirty="0">
                <a:solidFill>
                  <a:srgbClr val="18202E"/>
                </a:solidFill>
                <a:latin typeface="Consolas" pitchFamily="34" charset="0"/>
                <a:ea typeface="Consolas" pitchFamily="34" charset="-122"/>
                <a:cs typeface="Consolas" pitchFamily="34" charset="-120"/>
              </a:rPr>
              <a:t>spriteRenderer.enabled = false; // only drawing stops</a:t>
            </a:r>
            <a:endParaRPr lang="en-US" sz="1400" dirty="0"/>
          </a:p>
        </p:txBody>
      </p:sp>
      <p:sp>
        <p:nvSpPr>
          <p:cNvPr id="24" name="Text 21"/>
          <p:cNvSpPr txBox="1"/>
          <p:nvPr/>
        </p:nvSpPr>
        <p:spPr>
          <a:xfrm>
            <a:off x="5394960" y="5074920"/>
            <a:ext cx="6245352" cy="548640"/>
          </a:xfrm>
          <a:prstGeom prst="rect">
            <a:avLst/>
          </a:prstGeom>
          <a:noFill/>
          <a:ln/>
        </p:spPr>
        <p:txBody>
          <a:bodyPr wrap="square" lIns="0" tIns="0" rIns="0" bIns="0" rtlCol="0" anchor="t"/>
          <a:lstStyle/>
          <a:p>
            <a:pPr indent="0" marL="0">
              <a:buNone/>
            </a:pPr>
            <a:r>
              <a:rPr lang="en-US" sz="1300" dirty="0">
                <a:solidFill>
                  <a:srgbClr val="5B6678"/>
                </a:solidFill>
                <a:latin typeface="Segoe UI" pitchFamily="34" charset="0"/>
                <a:ea typeface="Segoe UI" pitchFamily="34" charset="-122"/>
                <a:cs typeface="Segoe UI" pitchFamily="34" charset="-120"/>
              </a:rPr>
              <a:t>Tag: identify ("is this the Player?")   ·   Layer: filter physics   ·   Sorting layer: draw order</a:t>
            </a:r>
            <a:endParaRPr lang="en-US" sz="13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3 · GAMEOBJECTS AND COMPONENTS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Transform and parenting</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00200"/>
            <a:ext cx="5486400" cy="4526280"/>
          </a:xfrm>
          <a:prstGeom prst="rect">
            <a:avLst/>
          </a:prstGeom>
          <a:solidFill>
            <a:srgbClr val="F0F3F7"/>
          </a:solidFill>
          <a:ln/>
        </p:spPr>
      </p:sp>
      <p:sp>
        <p:nvSpPr>
          <p:cNvPr id="7" name="Shape 4"/>
          <p:cNvSpPr/>
          <p:nvPr/>
        </p:nvSpPr>
        <p:spPr>
          <a:xfrm>
            <a:off x="777240" y="2743200"/>
            <a:ext cx="5029200" cy="0"/>
          </a:xfrm>
          <a:prstGeom prst="line">
            <a:avLst/>
          </a:prstGeom>
          <a:noFill/>
          <a:ln w="15875">
            <a:solidFill>
              <a:srgbClr val="D2453A"/>
            </a:solidFill>
            <a:prstDash val="solid"/>
            <a:tailEnd type="triangle"/>
          </a:ln>
        </p:spPr>
      </p:sp>
      <p:sp>
        <p:nvSpPr>
          <p:cNvPr id="8" name="Shape 5"/>
          <p:cNvSpPr/>
          <p:nvPr/>
        </p:nvSpPr>
        <p:spPr>
          <a:xfrm flipV="1">
            <a:off x="1188720" y="1783080"/>
            <a:ext cx="0" cy="3474720"/>
          </a:xfrm>
          <a:prstGeom prst="line">
            <a:avLst/>
          </a:prstGeom>
          <a:noFill/>
          <a:ln w="15875">
            <a:solidFill>
              <a:srgbClr val="4C9A2A"/>
            </a:solidFill>
            <a:prstDash val="solid"/>
            <a:tailEnd type="triangle"/>
          </a:ln>
        </p:spPr>
      </p:sp>
      <p:sp>
        <p:nvSpPr>
          <p:cNvPr id="9" name="Text 6"/>
          <p:cNvSpPr txBox="1"/>
          <p:nvPr/>
        </p:nvSpPr>
        <p:spPr>
          <a:xfrm>
            <a:off x="5760720" y="2761488"/>
            <a:ext cx="228600" cy="274320"/>
          </a:xfrm>
          <a:prstGeom prst="rect">
            <a:avLst/>
          </a:prstGeom>
          <a:noFill/>
          <a:ln/>
        </p:spPr>
        <p:txBody>
          <a:bodyPr wrap="square" lIns="0" tIns="0" rIns="0" bIns="0" rtlCol="0" anchor="t"/>
          <a:lstStyle/>
          <a:p>
            <a:pPr indent="0" marL="0">
              <a:buNone/>
            </a:pPr>
            <a:r>
              <a:rPr lang="en-US" sz="1300" b="1" dirty="0">
                <a:solidFill>
                  <a:srgbClr val="D2453A"/>
                </a:solidFill>
                <a:latin typeface="Segoe UI" pitchFamily="34" charset="0"/>
                <a:ea typeface="Segoe UI" pitchFamily="34" charset="-122"/>
                <a:cs typeface="Segoe UI" pitchFamily="34" charset="-120"/>
              </a:rPr>
              <a:t>x</a:t>
            </a:r>
            <a:endParaRPr lang="en-US" sz="1300" dirty="0"/>
          </a:p>
        </p:txBody>
      </p:sp>
      <p:sp>
        <p:nvSpPr>
          <p:cNvPr id="10" name="Text 7"/>
          <p:cNvSpPr txBox="1"/>
          <p:nvPr/>
        </p:nvSpPr>
        <p:spPr>
          <a:xfrm>
            <a:off x="1261872" y="1737360"/>
            <a:ext cx="228600" cy="274320"/>
          </a:xfrm>
          <a:prstGeom prst="rect">
            <a:avLst/>
          </a:prstGeom>
          <a:noFill/>
          <a:ln/>
        </p:spPr>
        <p:txBody>
          <a:bodyPr wrap="square" lIns="0" tIns="0" rIns="0" bIns="0" rtlCol="0" anchor="t"/>
          <a:lstStyle/>
          <a:p>
            <a:pPr indent="0" marL="0">
              <a:buNone/>
            </a:pPr>
            <a:r>
              <a:rPr lang="en-US" sz="1300" b="1" dirty="0">
                <a:solidFill>
                  <a:srgbClr val="4C9A2A"/>
                </a:solidFill>
                <a:latin typeface="Segoe UI" pitchFamily="34" charset="0"/>
                <a:ea typeface="Segoe UI" pitchFamily="34" charset="-122"/>
                <a:cs typeface="Segoe UI" pitchFamily="34" charset="-120"/>
              </a:rPr>
              <a:t>y</a:t>
            </a:r>
            <a:endParaRPr lang="en-US" sz="1300" dirty="0"/>
          </a:p>
        </p:txBody>
      </p:sp>
      <p:sp>
        <p:nvSpPr>
          <p:cNvPr id="11" name="Shape 8"/>
          <p:cNvSpPr/>
          <p:nvPr/>
        </p:nvSpPr>
        <p:spPr>
          <a:xfrm>
            <a:off x="1143000" y="2697480"/>
            <a:ext cx="91440" cy="91440"/>
          </a:xfrm>
          <a:prstGeom prst="ellipse">
            <a:avLst/>
          </a:prstGeom>
          <a:solidFill>
            <a:srgbClr val="5B6678"/>
          </a:solidFill>
          <a:ln/>
        </p:spPr>
      </p:sp>
      <p:sp>
        <p:nvSpPr>
          <p:cNvPr id="12" name="Text 9"/>
          <p:cNvSpPr txBox="1"/>
          <p:nvPr/>
        </p:nvSpPr>
        <p:spPr>
          <a:xfrm>
            <a:off x="548640" y="2798064"/>
            <a:ext cx="548640" cy="256032"/>
          </a:xfrm>
          <a:prstGeom prst="rect">
            <a:avLst/>
          </a:prstGeom>
          <a:noFill/>
          <a:ln/>
        </p:spPr>
        <p:txBody>
          <a:bodyPr wrap="square" lIns="0" tIns="0" rIns="0" bIns="0" rtlCol="0" anchor="t"/>
          <a:lstStyle/>
          <a:p>
            <a:pPr algn="r" indent="0" marL="0">
              <a:buNone/>
            </a:pPr>
            <a:r>
              <a:rPr lang="en-US" sz="1100" dirty="0">
                <a:solidFill>
                  <a:srgbClr val="5B6678"/>
                </a:solidFill>
                <a:latin typeface="Segoe UI" pitchFamily="34" charset="0"/>
                <a:ea typeface="Segoe UI" pitchFamily="34" charset="-122"/>
                <a:cs typeface="Segoe UI" pitchFamily="34" charset="-120"/>
              </a:rPr>
              <a:t>(0, 0)</a:t>
            </a:r>
            <a:endParaRPr lang="en-US" sz="1100" dirty="0"/>
          </a:p>
        </p:txBody>
      </p:sp>
      <p:sp>
        <p:nvSpPr>
          <p:cNvPr id="13" name="Shape 10"/>
          <p:cNvSpPr/>
          <p:nvPr/>
        </p:nvSpPr>
        <p:spPr>
          <a:xfrm>
            <a:off x="2697480" y="2743200"/>
            <a:ext cx="1005840" cy="1380744"/>
          </a:xfrm>
          <a:prstGeom prst="line">
            <a:avLst/>
          </a:prstGeom>
          <a:noFill/>
          <a:ln w="25400">
            <a:solidFill>
              <a:srgbClr val="2354A6"/>
            </a:solidFill>
            <a:prstDash val="dash"/>
            <a:tailEnd type="triangle"/>
          </a:ln>
        </p:spPr>
      </p:sp>
      <p:sp>
        <p:nvSpPr>
          <p:cNvPr id="14" name="Shape 11"/>
          <p:cNvSpPr/>
          <p:nvPr/>
        </p:nvSpPr>
        <p:spPr>
          <a:xfrm>
            <a:off x="3200400" y="4142232"/>
            <a:ext cx="1005840" cy="219456"/>
          </a:xfrm>
          <a:prstGeom prst="rect">
            <a:avLst/>
          </a:prstGeom>
          <a:solidFill>
            <a:srgbClr val="364255"/>
          </a:solidFill>
          <a:ln/>
        </p:spPr>
      </p:sp>
      <p:sp>
        <p:nvSpPr>
          <p:cNvPr id="15" name="Shape 12"/>
          <p:cNvSpPr/>
          <p:nvPr/>
        </p:nvSpPr>
        <p:spPr>
          <a:xfrm>
            <a:off x="2624328" y="2670048"/>
            <a:ext cx="146304" cy="146304"/>
          </a:xfrm>
          <a:prstGeom prst="ellipse">
            <a:avLst/>
          </a:prstGeom>
          <a:solidFill>
            <a:srgbClr val="18202E"/>
          </a:solidFill>
          <a:ln/>
        </p:spPr>
      </p:sp>
      <p:sp>
        <p:nvSpPr>
          <p:cNvPr id="16" name="Text 13"/>
          <p:cNvSpPr txBox="1"/>
          <p:nvPr/>
        </p:nvSpPr>
        <p:spPr>
          <a:xfrm>
            <a:off x="2194560" y="1920240"/>
            <a:ext cx="1371600" cy="640080"/>
          </a:xfrm>
          <a:prstGeom prst="rect">
            <a:avLst/>
          </a:prstGeom>
          <a:noFill/>
          <a:ln/>
        </p:spPr>
        <p:txBody>
          <a:bodyPr wrap="square" lIns="0" tIns="0" rIns="0" bIns="0" rtlCol="0" anchor="t"/>
          <a:lstStyle/>
          <a:p>
            <a:pPr indent="0" marL="0">
              <a:buNone/>
            </a:pPr>
            <a:r>
              <a:rPr lang="en-US" sz="1300" b="1" dirty="0">
                <a:solidFill>
                  <a:srgbClr val="18202E"/>
                </a:solidFill>
                <a:latin typeface="Segoe UI" pitchFamily="34" charset="0"/>
                <a:ea typeface="Segoe UI" pitchFamily="34" charset="-122"/>
                <a:cs typeface="Segoe UI" pitchFamily="34" charset="-120"/>
              </a:rPr>
              <a:t>Level</a:t>
            </a:r>
            <a:endParaRPr lang="en-US" sz="1300" dirty="0"/>
          </a:p>
          <a:p>
            <a:pPr indent="0" marL="0">
              <a:buNone/>
            </a:pPr>
            <a:r>
              <a:rPr lang="en-US" sz="1300" dirty="0">
                <a:solidFill>
                  <a:srgbClr val="18202E"/>
                </a:solidFill>
                <a:latin typeface="Segoe UI" pitchFamily="34" charset="0"/>
                <a:ea typeface="Segoe UI" pitchFamily="34" charset="-122"/>
                <a:cs typeface="Segoe UI" pitchFamily="34" charset="-120"/>
              </a:rPr>
              <a:t>world (3, 0)</a:t>
            </a:r>
            <a:endParaRPr lang="en-US" sz="1300" dirty="0"/>
          </a:p>
        </p:txBody>
      </p:sp>
      <p:sp>
        <p:nvSpPr>
          <p:cNvPr id="17" name="Text 14"/>
          <p:cNvSpPr txBox="1"/>
          <p:nvPr/>
        </p:nvSpPr>
        <p:spPr>
          <a:xfrm>
            <a:off x="3611880" y="3246120"/>
            <a:ext cx="1325880" cy="274320"/>
          </a:xfrm>
          <a:prstGeom prst="rect">
            <a:avLst/>
          </a:prstGeom>
          <a:noFill/>
          <a:ln/>
        </p:spPr>
        <p:txBody>
          <a:bodyPr wrap="square" lIns="0" tIns="0" rIns="0" bIns="0" rtlCol="0" anchor="t"/>
          <a:lstStyle/>
          <a:p>
            <a:pPr indent="0" marL="0">
              <a:buNone/>
            </a:pPr>
            <a:r>
              <a:rPr lang="en-US" sz="1300" b="1" dirty="0">
                <a:solidFill>
                  <a:srgbClr val="2354A6"/>
                </a:solidFill>
                <a:latin typeface="Segoe UI" pitchFamily="34" charset="0"/>
                <a:ea typeface="Segoe UI" pitchFamily="34" charset="-122"/>
                <a:cs typeface="Segoe UI" pitchFamily="34" charset="-120"/>
              </a:rPr>
              <a:t>local (2, -3)</a:t>
            </a:r>
            <a:endParaRPr lang="en-US" sz="1300" dirty="0"/>
          </a:p>
        </p:txBody>
      </p:sp>
      <p:sp>
        <p:nvSpPr>
          <p:cNvPr id="18" name="Text 15"/>
          <p:cNvSpPr txBox="1"/>
          <p:nvPr/>
        </p:nvSpPr>
        <p:spPr>
          <a:xfrm>
            <a:off x="3154680" y="4434840"/>
            <a:ext cx="1463040" cy="640080"/>
          </a:xfrm>
          <a:prstGeom prst="rect">
            <a:avLst/>
          </a:prstGeom>
          <a:noFill/>
          <a:ln/>
        </p:spPr>
        <p:txBody>
          <a:bodyPr wrap="square" lIns="0" tIns="0" rIns="0" bIns="0" rtlCol="0" anchor="t"/>
          <a:lstStyle/>
          <a:p>
            <a:pPr indent="0" marL="0">
              <a:buNone/>
            </a:pPr>
            <a:r>
              <a:rPr lang="en-US" sz="1300" b="1" dirty="0">
                <a:solidFill>
                  <a:srgbClr val="18202E"/>
                </a:solidFill>
                <a:latin typeface="Segoe UI" pitchFamily="34" charset="0"/>
                <a:ea typeface="Segoe UI" pitchFamily="34" charset="-122"/>
                <a:cs typeface="Segoe UI" pitchFamily="34" charset="-120"/>
              </a:rPr>
              <a:t>Ground</a:t>
            </a:r>
            <a:endParaRPr lang="en-US" sz="1300" dirty="0"/>
          </a:p>
          <a:p>
            <a:pPr indent="0" marL="0">
              <a:buNone/>
            </a:pPr>
            <a:r>
              <a:rPr lang="en-US" sz="1300" dirty="0">
                <a:solidFill>
                  <a:srgbClr val="18202E"/>
                </a:solidFill>
                <a:latin typeface="Segoe UI" pitchFamily="34" charset="0"/>
                <a:ea typeface="Segoe UI" pitchFamily="34" charset="-122"/>
                <a:cs typeface="Segoe UI" pitchFamily="34" charset="-120"/>
              </a:rPr>
              <a:t>world (5, -3)</a:t>
            </a:r>
            <a:endParaRPr lang="en-US" sz="1300" dirty="0"/>
          </a:p>
        </p:txBody>
      </p:sp>
      <p:sp>
        <p:nvSpPr>
          <p:cNvPr id="19" name="Text 16"/>
          <p:cNvSpPr txBox="1"/>
          <p:nvPr/>
        </p:nvSpPr>
        <p:spPr>
          <a:xfrm>
            <a:off x="777240" y="5532120"/>
            <a:ext cx="5120640" cy="457200"/>
          </a:xfrm>
          <a:prstGeom prst="rect">
            <a:avLst/>
          </a:prstGeom>
          <a:noFill/>
          <a:ln/>
        </p:spPr>
        <p:txBody>
          <a:bodyPr wrap="square" lIns="0" tIns="0" rIns="0" bIns="0" rtlCol="0" anchor="t"/>
          <a:lstStyle/>
          <a:p>
            <a:pPr indent="0" marL="0">
              <a:buNone/>
            </a:pPr>
            <a:r>
              <a:rPr lang="en-US" sz="1300" dirty="0">
                <a:solidFill>
                  <a:srgbClr val="5B6678"/>
                </a:solidFill>
                <a:latin typeface="Segoe UI" pitchFamily="34" charset="0"/>
                <a:ea typeface="Segoe UI" pitchFamily="34" charset="-122"/>
                <a:cs typeface="Segoe UI" pitchFamily="34" charset="-120"/>
              </a:rPr>
              <a:t>The Inspector shows Ground at (2, -3, 0): its local position.</a:t>
            </a:r>
            <a:endParaRPr lang="en-US" sz="1300" dirty="0"/>
          </a:p>
        </p:txBody>
      </p:sp>
      <p:sp>
        <p:nvSpPr>
          <p:cNvPr id="20" name="Text 17"/>
          <p:cNvSpPr txBox="1"/>
          <p:nvPr/>
        </p:nvSpPr>
        <p:spPr>
          <a:xfrm>
            <a:off x="6400800" y="1645920"/>
            <a:ext cx="5239512" cy="438912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364255"/>
                </a:solidFill>
                <a:latin typeface="Segoe UI" pitchFamily="34" charset="0"/>
                <a:ea typeface="Segoe UI" pitchFamily="34" charset="-122"/>
                <a:cs typeface="Segoe UI" pitchFamily="34" charset="-120"/>
              </a:rPr>
              <a:t>Every GameObject has a Transform: position, rotation, scale.</a:t>
            </a:r>
            <a:endParaRPr lang="en-US" sz="1600" dirty="0"/>
          </a:p>
          <a:p>
            <a:pPr marL="203200" indent="-203200">
              <a:spcAft>
                <a:spcPts val="1200"/>
              </a:spcAft>
              <a:buSzPct val="100000"/>
              <a:buChar char="•"/>
            </a:pPr>
            <a:r>
              <a:rPr lang="en-US" sz="1600" dirty="0">
                <a:solidFill>
                  <a:srgbClr val="364255"/>
                </a:solidFill>
                <a:latin typeface="Segoe UI" pitchFamily="34" charset="0"/>
                <a:ea typeface="Segoe UI" pitchFamily="34" charset="-122"/>
                <a:cs typeface="Segoe UI" pitchFamily="34" charset="-120"/>
              </a:rPr>
              <a:t>A child is placed relative to its parent: move the parent and the children follow.</a:t>
            </a:r>
            <a:endParaRPr lang="en-US" sz="1600" dirty="0"/>
          </a:p>
          <a:p>
            <a:pPr marL="203200" indent="-203200">
              <a:spcAft>
                <a:spcPts val="1200"/>
              </a:spcAft>
              <a:buSzPct val="100000"/>
              <a:buChar char="•"/>
            </a:pPr>
            <a:r>
              <a:rPr lang="en-US" sz="1600" dirty="0">
                <a:solidFill>
                  <a:srgbClr val="364255"/>
                </a:solidFill>
                <a:latin typeface="Segoe UI" pitchFamily="34" charset="0"/>
                <a:ea typeface="Segoe UI" pitchFamily="34" charset="-122"/>
                <a:cs typeface="Segoe UI" pitchFamily="34" charset="-120"/>
              </a:rPr>
              <a:t>For a child, the Inspector shows the local position (</a:t>
            </a:r>
            <a:pPr indent="0" marL="0">
              <a:buNone/>
            </a:pPr>
            <a:r>
              <a:rPr lang="en-US" sz="1600" dirty="0">
                <a:solidFill>
                  <a:srgbClr val="364255"/>
                </a:solidFill>
                <a:latin typeface="Consolas" pitchFamily="34" charset="0"/>
                <a:ea typeface="Consolas" pitchFamily="34" charset="-122"/>
                <a:cs typeface="Consolas" pitchFamily="34" charset="-120"/>
              </a:rPr>
              <a:t>localPosition</a:t>
            </a:r>
            <a:pPr indent="0" marL="0">
              <a:buNone/>
            </a:pPr>
            <a:r>
              <a:rPr lang="en-US" sz="1600" dirty="0">
                <a:solidFill>
                  <a:srgbClr val="364255"/>
                </a:solidFill>
                <a:latin typeface="Segoe UI" pitchFamily="34" charset="0"/>
                <a:ea typeface="Segoe UI" pitchFamily="34" charset="-122"/>
                <a:cs typeface="Segoe UI" pitchFamily="34" charset="-120"/>
              </a:rPr>
              <a:t>); </a:t>
            </a:r>
            <a:pPr indent="0" marL="0">
              <a:buNone/>
            </a:pPr>
            <a:r>
              <a:rPr lang="en-US" sz="1600" dirty="0">
                <a:solidFill>
                  <a:srgbClr val="364255"/>
                </a:solidFill>
                <a:latin typeface="Consolas" pitchFamily="34" charset="0"/>
                <a:ea typeface="Consolas" pitchFamily="34" charset="-122"/>
                <a:cs typeface="Consolas" pitchFamily="34" charset="-120"/>
              </a:rPr>
              <a:t>position</a:t>
            </a:r>
            <a:pPr indent="0" marL="0">
              <a:buNone/>
            </a:pPr>
            <a:r>
              <a:rPr lang="en-US" sz="1600" dirty="0">
                <a:solidFill>
                  <a:srgbClr val="364255"/>
                </a:solidFill>
                <a:latin typeface="Segoe UI" pitchFamily="34" charset="0"/>
                <a:ea typeface="Segoe UI" pitchFamily="34" charset="-122"/>
                <a:cs typeface="Segoe UI" pitchFamily="34" charset="-120"/>
              </a:rPr>
              <a:t> is the world value.</a:t>
            </a:r>
            <a:endParaRPr lang="en-US" sz="1600" dirty="0"/>
          </a:p>
          <a:p>
            <a:pPr marL="203200" indent="-203200">
              <a:spcAft>
                <a:spcPts val="1200"/>
              </a:spcAft>
              <a:buSzPct val="100000"/>
              <a:buChar char="•"/>
            </a:pPr>
            <a:r>
              <a:rPr lang="en-US" sz="1600" dirty="0">
                <a:solidFill>
                  <a:srgbClr val="364255"/>
                </a:solidFill>
                <a:latin typeface="Segoe UI" pitchFamily="34" charset="0"/>
                <a:ea typeface="Segoe UI" pitchFamily="34" charset="-122"/>
                <a:cs typeface="Segoe UI" pitchFamily="34" charset="-120"/>
              </a:rPr>
              <a:t>Organizing parents stay at position 0, rotation 0, scale 1.</a:t>
            </a:r>
            <a:endParaRPr lang="en-US" sz="1600" dirty="0"/>
          </a:p>
          <a:p>
            <a:pPr marL="203200" indent="-203200">
              <a:spcAft>
                <a:spcPts val="1200"/>
              </a:spcAft>
              <a:buSzPct val="100000"/>
              <a:buChar char="•"/>
            </a:pPr>
            <a:r>
              <a:rPr lang="en-US" sz="1600" dirty="0">
                <a:solidFill>
                  <a:srgbClr val="364255"/>
                </a:solidFill>
                <a:latin typeface="Segoe UI" pitchFamily="34" charset="0"/>
                <a:ea typeface="Segoe UI" pitchFamily="34" charset="-122"/>
                <a:cs typeface="Segoe UI" pitchFamily="34" charset="-120"/>
              </a:rPr>
              <a:t>Flip a character with Flip X, not with scale (-1, 1, 1).</a:t>
            </a:r>
            <a:endParaRPr lang="en-US" sz="16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3 · GAMEOBJECTS AND COMPONENTS</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How it fits together</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00200"/>
            <a:ext cx="3017520" cy="3246120"/>
          </a:xfrm>
          <a:prstGeom prst="rect">
            <a:avLst/>
          </a:prstGeom>
          <a:solidFill>
            <a:srgbClr val="F0F3F7"/>
          </a:solidFill>
          <a:ln/>
        </p:spPr>
      </p:sp>
      <p:sp>
        <p:nvSpPr>
          <p:cNvPr id="7" name="Text 4"/>
          <p:cNvSpPr txBox="1"/>
          <p:nvPr/>
        </p:nvSpPr>
        <p:spPr>
          <a:xfrm>
            <a:off x="777240" y="1737360"/>
            <a:ext cx="2651760" cy="365760"/>
          </a:xfrm>
          <a:prstGeom prst="rect">
            <a:avLst/>
          </a:prstGeom>
          <a:noFill/>
          <a:ln/>
        </p:spPr>
        <p:txBody>
          <a:bodyPr wrap="square" lIns="0" tIns="0" rIns="0" bIns="0" rtlCol="0" anchor="t"/>
          <a:lstStyle/>
          <a:p>
            <a:pPr indent="0" marL="0">
              <a:buNone/>
            </a:pPr>
            <a:r>
              <a:rPr lang="en-US" sz="1600" dirty="0">
                <a:solidFill>
                  <a:srgbClr val="18202E"/>
                </a:solidFill>
                <a:latin typeface="Segoe UI Semibold" pitchFamily="34" charset="0"/>
                <a:ea typeface="Segoe UI Semibold" pitchFamily="34" charset="-122"/>
                <a:cs typeface="Segoe UI Semibold" pitchFamily="34" charset="-120"/>
              </a:rPr>
              <a:t>Project: files on disk</a:t>
            </a:r>
            <a:endParaRPr lang="en-US" sz="1600" dirty="0"/>
          </a:p>
        </p:txBody>
      </p:sp>
      <p:sp>
        <p:nvSpPr>
          <p:cNvPr id="8" name="Text 5"/>
          <p:cNvSpPr txBox="1"/>
          <p:nvPr/>
        </p:nvSpPr>
        <p:spPr>
          <a:xfrm>
            <a:off x="777240" y="2286000"/>
            <a:ext cx="2560320" cy="438912"/>
          </a:xfrm>
          <a:prstGeom prst="roundRect">
            <a:avLst>
              <a:gd name="adj" fmla="val 12500"/>
            </a:avLst>
          </a:prstGeom>
          <a:solidFill>
            <a:srgbClr val="FFFFFF"/>
          </a:solidFill>
          <a:ln w="12700">
            <a:solidFill>
              <a:srgbClr val="D5DBE3"/>
            </a:solidFill>
          </a:ln>
        </p:spPr>
        <p:txBody>
          <a:bodyPr wrap="square" lIns="0" tIns="0" rIns="0" bIns="0" rtlCol="0" anchor="ctr"/>
          <a:lstStyle/>
          <a:p>
            <a:pPr algn="ctr" indent="0" marL="0">
              <a:buNone/>
            </a:pPr>
            <a:r>
              <a:rPr lang="en-US" sz="1400" dirty="0">
                <a:solidFill>
                  <a:srgbClr val="18202E"/>
                </a:solidFill>
                <a:latin typeface="Consolas" pitchFamily="34" charset="0"/>
                <a:ea typeface="Consolas" pitchFamily="34" charset="-122"/>
                <a:cs typeface="Consolas" pitchFamily="34" charset="-120"/>
              </a:rPr>
              <a:t>Level01.unity</a:t>
            </a:r>
            <a:endParaRPr lang="en-US" sz="1400" dirty="0"/>
          </a:p>
        </p:txBody>
      </p:sp>
      <p:sp>
        <p:nvSpPr>
          <p:cNvPr id="9" name="Text 6"/>
          <p:cNvSpPr txBox="1"/>
          <p:nvPr/>
        </p:nvSpPr>
        <p:spPr>
          <a:xfrm>
            <a:off x="777240" y="3154680"/>
            <a:ext cx="2560320" cy="438912"/>
          </a:xfrm>
          <a:prstGeom prst="roundRect">
            <a:avLst>
              <a:gd name="adj" fmla="val 12500"/>
            </a:avLst>
          </a:prstGeom>
          <a:solidFill>
            <a:srgbClr val="FFFFFF"/>
          </a:solidFill>
          <a:ln w="12700">
            <a:solidFill>
              <a:srgbClr val="D5DBE3"/>
            </a:solidFill>
          </a:ln>
        </p:spPr>
        <p:txBody>
          <a:bodyPr wrap="square" lIns="0" tIns="0" rIns="0" bIns="0" rtlCol="0" anchor="ctr"/>
          <a:lstStyle/>
          <a:p>
            <a:pPr algn="ctr" indent="0" marL="0">
              <a:buNone/>
            </a:pPr>
            <a:r>
              <a:rPr lang="en-US" sz="1400" dirty="0">
                <a:solidFill>
                  <a:srgbClr val="18202E"/>
                </a:solidFill>
                <a:latin typeface="Consolas" pitchFamily="34" charset="0"/>
                <a:ea typeface="Consolas" pitchFamily="34" charset="-122"/>
                <a:cs typeface="Consolas" pitchFamily="34" charset="-120"/>
              </a:rPr>
              <a:t>player.png</a:t>
            </a:r>
            <a:endParaRPr lang="en-US" sz="1400" dirty="0"/>
          </a:p>
        </p:txBody>
      </p:sp>
      <p:sp>
        <p:nvSpPr>
          <p:cNvPr id="10" name="Shape 7"/>
          <p:cNvSpPr/>
          <p:nvPr/>
        </p:nvSpPr>
        <p:spPr>
          <a:xfrm>
            <a:off x="1005840" y="3593592"/>
            <a:ext cx="0" cy="393192"/>
          </a:xfrm>
          <a:prstGeom prst="line">
            <a:avLst/>
          </a:prstGeom>
          <a:noFill/>
          <a:ln w="15875">
            <a:solidFill>
              <a:srgbClr val="5B6678"/>
            </a:solidFill>
            <a:prstDash val="solid"/>
          </a:ln>
        </p:spPr>
      </p:sp>
      <p:sp>
        <p:nvSpPr>
          <p:cNvPr id="11" name="Shape 8"/>
          <p:cNvSpPr/>
          <p:nvPr/>
        </p:nvSpPr>
        <p:spPr>
          <a:xfrm>
            <a:off x="1005840" y="3986784"/>
            <a:ext cx="182880" cy="0"/>
          </a:xfrm>
          <a:prstGeom prst="line">
            <a:avLst/>
          </a:prstGeom>
          <a:noFill/>
          <a:ln w="15875">
            <a:solidFill>
              <a:srgbClr val="5B6678"/>
            </a:solidFill>
            <a:prstDash val="solid"/>
          </a:ln>
        </p:spPr>
      </p:sp>
      <p:sp>
        <p:nvSpPr>
          <p:cNvPr id="12" name="Text 9"/>
          <p:cNvSpPr txBox="1"/>
          <p:nvPr/>
        </p:nvSpPr>
        <p:spPr>
          <a:xfrm>
            <a:off x="1188720" y="3767328"/>
            <a:ext cx="2148840" cy="438912"/>
          </a:xfrm>
          <a:prstGeom prst="roundRect">
            <a:avLst>
              <a:gd name="adj" fmla="val 12500"/>
            </a:avLst>
          </a:prstGeom>
          <a:solidFill>
            <a:srgbClr val="E9EFF9"/>
          </a:solidFill>
          <a:ln/>
        </p:spPr>
        <p:txBody>
          <a:bodyPr wrap="square" lIns="0" tIns="0" rIns="0" bIns="0" rtlCol="0" anchor="ctr"/>
          <a:lstStyle/>
          <a:p>
            <a:pPr algn="ctr" indent="0" marL="0">
              <a:buNone/>
            </a:pPr>
            <a:r>
              <a:rPr lang="en-US" sz="1400" dirty="0">
                <a:solidFill>
                  <a:srgbClr val="2354A6"/>
                </a:solidFill>
                <a:latin typeface="Consolas" pitchFamily="34" charset="0"/>
                <a:ea typeface="Consolas" pitchFamily="34" charset="-122"/>
                <a:cs typeface="Consolas" pitchFamily="34" charset="-120"/>
              </a:rPr>
              <a:t>Sprite</a:t>
            </a:r>
            <a:endParaRPr lang="en-US" sz="1400" dirty="0"/>
          </a:p>
        </p:txBody>
      </p:sp>
      <p:sp>
        <p:nvSpPr>
          <p:cNvPr id="13" name="Shape 10"/>
          <p:cNvSpPr/>
          <p:nvPr/>
        </p:nvSpPr>
        <p:spPr>
          <a:xfrm>
            <a:off x="4846320" y="1600200"/>
            <a:ext cx="6796735" cy="3246120"/>
          </a:xfrm>
          <a:prstGeom prst="rect">
            <a:avLst/>
          </a:prstGeom>
          <a:solidFill>
            <a:srgbClr val="F0F3F7"/>
          </a:solidFill>
          <a:ln/>
        </p:spPr>
      </p:sp>
      <p:sp>
        <p:nvSpPr>
          <p:cNvPr id="14" name="Text 11"/>
          <p:cNvSpPr txBox="1"/>
          <p:nvPr/>
        </p:nvSpPr>
        <p:spPr>
          <a:xfrm>
            <a:off x="5074920" y="1737360"/>
            <a:ext cx="6400800" cy="365760"/>
          </a:xfrm>
          <a:prstGeom prst="rect">
            <a:avLst/>
          </a:prstGeom>
          <a:noFill/>
          <a:ln/>
        </p:spPr>
        <p:txBody>
          <a:bodyPr wrap="square" lIns="0" tIns="0" rIns="0" bIns="0" rtlCol="0" anchor="t"/>
          <a:lstStyle/>
          <a:p>
            <a:pPr indent="0" marL="0">
              <a:buNone/>
            </a:pPr>
            <a:r>
              <a:rPr lang="en-US" sz="1600" dirty="0">
                <a:solidFill>
                  <a:srgbClr val="18202E"/>
                </a:solidFill>
                <a:latin typeface="Segoe UI Semibold" pitchFamily="34" charset="0"/>
                <a:ea typeface="Segoe UI Semibold" pitchFamily="34" charset="-122"/>
                <a:cs typeface="Segoe UI Semibold" pitchFamily="34" charset="-120"/>
              </a:rPr>
              <a:t>Scene: objects in memory (the Hierarchy)</a:t>
            </a:r>
            <a:endParaRPr lang="en-US" sz="1600" dirty="0"/>
          </a:p>
        </p:txBody>
      </p:sp>
      <p:sp>
        <p:nvSpPr>
          <p:cNvPr id="15" name="Text 12"/>
          <p:cNvSpPr txBox="1"/>
          <p:nvPr/>
        </p:nvSpPr>
        <p:spPr>
          <a:xfrm>
            <a:off x="5120640" y="2304288"/>
            <a:ext cx="2651760" cy="365760"/>
          </a:xfrm>
          <a:prstGeom prst="rect">
            <a:avLst/>
          </a:prstGeom>
          <a:noFill/>
          <a:ln/>
        </p:spPr>
        <p:txBody>
          <a:bodyPr wrap="square" lIns="0" tIns="0" rIns="0" bIns="0" rtlCol="0" anchor="t"/>
          <a:lstStyle/>
          <a:p>
            <a:pPr indent="0" marL="0">
              <a:buNone/>
            </a:pPr>
            <a:r>
              <a:rPr lang="en-US" sz="1500" b="1" dirty="0">
                <a:solidFill>
                  <a:srgbClr val="18202E"/>
                </a:solidFill>
                <a:latin typeface="Consolas" pitchFamily="34" charset="0"/>
                <a:ea typeface="Consolas" pitchFamily="34" charset="-122"/>
                <a:cs typeface="Consolas" pitchFamily="34" charset="-120"/>
              </a:rPr>
              <a:t>Level01</a:t>
            </a:r>
            <a:endParaRPr lang="en-US" sz="1500" dirty="0"/>
          </a:p>
        </p:txBody>
      </p:sp>
      <p:sp>
        <p:nvSpPr>
          <p:cNvPr id="16" name="Text 13"/>
          <p:cNvSpPr txBox="1"/>
          <p:nvPr/>
        </p:nvSpPr>
        <p:spPr>
          <a:xfrm>
            <a:off x="7772400" y="2304288"/>
            <a:ext cx="3749040" cy="365760"/>
          </a:xfrm>
          <a:prstGeom prst="rect">
            <a:avLst/>
          </a:prstGeom>
          <a:noFill/>
          <a:ln/>
        </p:spPr>
        <p:txBody>
          <a:bodyPr wrap="square" lIns="0" tIns="0" rIns="0" bIns="0" rtlCol="0" anchor="t"/>
          <a:lstStyle/>
          <a:p>
            <a:pPr indent="0" marL="0">
              <a:buNone/>
            </a:pPr>
            <a:endParaRPr lang="en-US" sz="1400" dirty="0"/>
          </a:p>
        </p:txBody>
      </p:sp>
      <p:sp>
        <p:nvSpPr>
          <p:cNvPr id="17" name="Text 14"/>
          <p:cNvSpPr txBox="1"/>
          <p:nvPr/>
        </p:nvSpPr>
        <p:spPr>
          <a:xfrm>
            <a:off x="5120640" y="2779776"/>
            <a:ext cx="2651760" cy="365760"/>
          </a:xfrm>
          <a:prstGeom prst="rect">
            <a:avLst/>
          </a:prstGeom>
          <a:noFill/>
          <a:ln/>
        </p:spPr>
        <p:txBody>
          <a:bodyPr wrap="square" lIns="0" tIns="0" rIns="0" bIns="0" rtlCol="0" anchor="t"/>
          <a:lstStyle/>
          <a:p>
            <a:pPr indent="0" marL="0">
              <a:buNone/>
            </a:pPr>
            <a:r>
              <a:rPr lang="en-US" sz="1500" dirty="0">
                <a:solidFill>
                  <a:srgbClr val="18202E"/>
                </a:solidFill>
                <a:latin typeface="Consolas" pitchFamily="34" charset="0"/>
                <a:ea typeface="Consolas" pitchFamily="34" charset="-122"/>
                <a:cs typeface="Consolas" pitchFamily="34" charset="-120"/>
              </a:rPr>
              <a:t>├─ Main Camera</a:t>
            </a:r>
            <a:endParaRPr lang="en-US" sz="1500" dirty="0"/>
          </a:p>
        </p:txBody>
      </p:sp>
      <p:sp>
        <p:nvSpPr>
          <p:cNvPr id="18" name="Text 15"/>
          <p:cNvSpPr txBox="1"/>
          <p:nvPr/>
        </p:nvSpPr>
        <p:spPr>
          <a:xfrm>
            <a:off x="7772400" y="2779776"/>
            <a:ext cx="3749040" cy="365760"/>
          </a:xfrm>
          <a:prstGeom prst="rect">
            <a:avLst/>
          </a:prstGeom>
          <a:noFill/>
          <a:ln/>
        </p:spPr>
        <p:txBody>
          <a:bodyPr wrap="square" lIns="0" tIns="0" rIns="0" bIns="0" rtlCol="0" anchor="t"/>
          <a:lstStyle/>
          <a:p>
            <a:pPr indent="0" marL="0">
              <a:buNone/>
            </a:pPr>
            <a:r>
              <a:rPr lang="en-US" sz="1400" dirty="0">
                <a:solidFill>
                  <a:srgbClr val="2354A6"/>
                </a:solidFill>
                <a:latin typeface="Consolas" pitchFamily="34" charset="0"/>
                <a:ea typeface="Consolas" pitchFamily="34" charset="-122"/>
                <a:cs typeface="Consolas" pitchFamily="34" charset="-120"/>
              </a:rPr>
              <a:t>Transform · Camera</a:t>
            </a:r>
            <a:endParaRPr lang="en-US" sz="1400" dirty="0"/>
          </a:p>
        </p:txBody>
      </p:sp>
      <p:sp>
        <p:nvSpPr>
          <p:cNvPr id="19" name="Text 16"/>
          <p:cNvSpPr txBox="1"/>
          <p:nvPr/>
        </p:nvSpPr>
        <p:spPr>
          <a:xfrm>
            <a:off x="5120640" y="3255264"/>
            <a:ext cx="2651760" cy="365760"/>
          </a:xfrm>
          <a:prstGeom prst="rect">
            <a:avLst/>
          </a:prstGeom>
          <a:noFill/>
          <a:ln/>
        </p:spPr>
        <p:txBody>
          <a:bodyPr wrap="square" lIns="0" tIns="0" rIns="0" bIns="0" rtlCol="0" anchor="t"/>
          <a:lstStyle/>
          <a:p>
            <a:pPr indent="0" marL="0">
              <a:buNone/>
            </a:pPr>
            <a:r>
              <a:rPr lang="en-US" sz="1500" dirty="0">
                <a:solidFill>
                  <a:srgbClr val="18202E"/>
                </a:solidFill>
                <a:latin typeface="Consolas" pitchFamily="34" charset="0"/>
                <a:ea typeface="Consolas" pitchFamily="34" charset="-122"/>
                <a:cs typeface="Consolas" pitchFamily="34" charset="-120"/>
              </a:rPr>
              <a:t>├─ Player</a:t>
            </a:r>
            <a:endParaRPr lang="en-US" sz="1500" dirty="0"/>
          </a:p>
        </p:txBody>
      </p:sp>
      <p:sp>
        <p:nvSpPr>
          <p:cNvPr id="20" name="Text 17"/>
          <p:cNvSpPr txBox="1"/>
          <p:nvPr/>
        </p:nvSpPr>
        <p:spPr>
          <a:xfrm>
            <a:off x="7772400" y="3255264"/>
            <a:ext cx="3749040" cy="365760"/>
          </a:xfrm>
          <a:prstGeom prst="rect">
            <a:avLst/>
          </a:prstGeom>
          <a:noFill/>
          <a:ln/>
        </p:spPr>
        <p:txBody>
          <a:bodyPr wrap="square" lIns="0" tIns="0" rIns="0" bIns="0" rtlCol="0" anchor="t"/>
          <a:lstStyle/>
          <a:p>
            <a:pPr indent="0" marL="0">
              <a:buNone/>
            </a:pPr>
            <a:r>
              <a:rPr lang="en-US" sz="1400" dirty="0">
                <a:solidFill>
                  <a:srgbClr val="2354A6"/>
                </a:solidFill>
                <a:latin typeface="Consolas" pitchFamily="34" charset="0"/>
                <a:ea typeface="Consolas" pitchFamily="34" charset="-122"/>
                <a:cs typeface="Consolas" pitchFamily="34" charset="-120"/>
              </a:rPr>
              <a:t>Transform · SpriteRenderer</a:t>
            </a:r>
            <a:endParaRPr lang="en-US" sz="1400" dirty="0"/>
          </a:p>
        </p:txBody>
      </p:sp>
      <p:sp>
        <p:nvSpPr>
          <p:cNvPr id="21" name="Text 18"/>
          <p:cNvSpPr txBox="1"/>
          <p:nvPr/>
        </p:nvSpPr>
        <p:spPr>
          <a:xfrm>
            <a:off x="5120640" y="3730752"/>
            <a:ext cx="2651760" cy="365760"/>
          </a:xfrm>
          <a:prstGeom prst="rect">
            <a:avLst/>
          </a:prstGeom>
          <a:noFill/>
          <a:ln/>
        </p:spPr>
        <p:txBody>
          <a:bodyPr wrap="square" lIns="0" tIns="0" rIns="0" bIns="0" rtlCol="0" anchor="t"/>
          <a:lstStyle/>
          <a:p>
            <a:pPr indent="0" marL="0">
              <a:buNone/>
            </a:pPr>
            <a:r>
              <a:rPr lang="en-US" sz="1500" dirty="0">
                <a:solidFill>
                  <a:srgbClr val="18202E"/>
                </a:solidFill>
                <a:latin typeface="Consolas" pitchFamily="34" charset="0"/>
                <a:ea typeface="Consolas" pitchFamily="34" charset="-122"/>
                <a:cs typeface="Consolas" pitchFamily="34" charset="-120"/>
              </a:rPr>
              <a:t>└─ Level</a:t>
            </a:r>
            <a:endParaRPr lang="en-US" sz="1500" dirty="0"/>
          </a:p>
        </p:txBody>
      </p:sp>
      <p:sp>
        <p:nvSpPr>
          <p:cNvPr id="22" name="Text 19"/>
          <p:cNvSpPr txBox="1"/>
          <p:nvPr/>
        </p:nvSpPr>
        <p:spPr>
          <a:xfrm>
            <a:off x="7772400" y="3730752"/>
            <a:ext cx="3749040" cy="365760"/>
          </a:xfrm>
          <a:prstGeom prst="rect">
            <a:avLst/>
          </a:prstGeom>
          <a:noFill/>
          <a:ln/>
        </p:spPr>
        <p:txBody>
          <a:bodyPr wrap="square" lIns="0" tIns="0" rIns="0" bIns="0" rtlCol="0" anchor="t"/>
          <a:lstStyle/>
          <a:p>
            <a:pPr indent="0" marL="0">
              <a:buNone/>
            </a:pPr>
            <a:r>
              <a:rPr lang="en-US" sz="1400" dirty="0">
                <a:solidFill>
                  <a:srgbClr val="2354A6"/>
                </a:solidFill>
                <a:latin typeface="Consolas" pitchFamily="34" charset="0"/>
                <a:ea typeface="Consolas" pitchFamily="34" charset="-122"/>
                <a:cs typeface="Consolas" pitchFamily="34" charset="-120"/>
              </a:rPr>
              <a:t>Transform</a:t>
            </a:r>
            <a:endParaRPr lang="en-US" sz="1400" dirty="0"/>
          </a:p>
        </p:txBody>
      </p:sp>
      <p:sp>
        <p:nvSpPr>
          <p:cNvPr id="23" name="Text 20"/>
          <p:cNvSpPr txBox="1"/>
          <p:nvPr/>
        </p:nvSpPr>
        <p:spPr>
          <a:xfrm>
            <a:off x="5120640" y="4206240"/>
            <a:ext cx="2651760" cy="365760"/>
          </a:xfrm>
          <a:prstGeom prst="rect">
            <a:avLst/>
          </a:prstGeom>
          <a:noFill/>
          <a:ln/>
        </p:spPr>
        <p:txBody>
          <a:bodyPr wrap="square" lIns="0" tIns="0" rIns="0" bIns="0" rtlCol="0" anchor="t"/>
          <a:lstStyle/>
          <a:p>
            <a:pPr indent="0" marL="0">
              <a:buNone/>
            </a:pPr>
            <a:r>
              <a:rPr lang="en-US" sz="1500" dirty="0">
                <a:solidFill>
                  <a:srgbClr val="18202E"/>
                </a:solidFill>
                <a:latin typeface="Consolas" pitchFamily="34" charset="0"/>
                <a:ea typeface="Consolas" pitchFamily="34" charset="-122"/>
                <a:cs typeface="Consolas" pitchFamily="34" charset="-120"/>
              </a:rPr>
              <a:t>   └─ Ground</a:t>
            </a:r>
            <a:endParaRPr lang="en-US" sz="1500" dirty="0"/>
          </a:p>
        </p:txBody>
      </p:sp>
      <p:sp>
        <p:nvSpPr>
          <p:cNvPr id="24" name="Text 21"/>
          <p:cNvSpPr txBox="1"/>
          <p:nvPr/>
        </p:nvSpPr>
        <p:spPr>
          <a:xfrm>
            <a:off x="7772400" y="4206240"/>
            <a:ext cx="3749040" cy="365760"/>
          </a:xfrm>
          <a:prstGeom prst="rect">
            <a:avLst/>
          </a:prstGeom>
          <a:noFill/>
          <a:ln/>
        </p:spPr>
        <p:txBody>
          <a:bodyPr wrap="square" lIns="0" tIns="0" rIns="0" bIns="0" rtlCol="0" anchor="t"/>
          <a:lstStyle/>
          <a:p>
            <a:pPr indent="0" marL="0">
              <a:buNone/>
            </a:pPr>
            <a:r>
              <a:rPr lang="en-US" sz="1400" dirty="0">
                <a:solidFill>
                  <a:srgbClr val="2354A6"/>
                </a:solidFill>
                <a:latin typeface="Consolas" pitchFamily="34" charset="0"/>
                <a:ea typeface="Consolas" pitchFamily="34" charset="-122"/>
                <a:cs typeface="Consolas" pitchFamily="34" charset="-120"/>
              </a:rPr>
              <a:t>Transform · SpriteRenderer</a:t>
            </a:r>
            <a:endParaRPr lang="en-US" sz="1400" dirty="0"/>
          </a:p>
        </p:txBody>
      </p:sp>
      <p:sp>
        <p:nvSpPr>
          <p:cNvPr id="25" name="Shape 22"/>
          <p:cNvSpPr/>
          <p:nvPr/>
        </p:nvSpPr>
        <p:spPr>
          <a:xfrm>
            <a:off x="3337560" y="2505456"/>
            <a:ext cx="1737360" cy="0"/>
          </a:xfrm>
          <a:prstGeom prst="line">
            <a:avLst/>
          </a:prstGeom>
          <a:noFill/>
          <a:ln w="19050">
            <a:solidFill>
              <a:srgbClr val="5B6678"/>
            </a:solidFill>
            <a:prstDash val="solid"/>
            <a:tailEnd type="triangle"/>
          </a:ln>
        </p:spPr>
      </p:sp>
      <p:sp>
        <p:nvSpPr>
          <p:cNvPr id="26" name="Text 23"/>
          <p:cNvSpPr txBox="1"/>
          <p:nvPr/>
        </p:nvSpPr>
        <p:spPr>
          <a:xfrm>
            <a:off x="3566160" y="2194560"/>
            <a:ext cx="1097280" cy="274320"/>
          </a:xfrm>
          <a:prstGeom prst="rect">
            <a:avLst/>
          </a:prstGeom>
          <a:noFill/>
          <a:ln/>
        </p:spPr>
        <p:txBody>
          <a:bodyPr wrap="square" lIns="0" tIns="0" rIns="0" bIns="0" rtlCol="0" anchor="t"/>
          <a:lstStyle/>
          <a:p>
            <a:pPr algn="ctr" indent="0" marL="0">
              <a:buNone/>
            </a:pPr>
            <a:r>
              <a:rPr lang="en-US" sz="1200" dirty="0">
                <a:solidFill>
                  <a:srgbClr val="5B6678"/>
                </a:solidFill>
                <a:latin typeface="Segoe UI" pitchFamily="34" charset="0"/>
                <a:ea typeface="Segoe UI" pitchFamily="34" charset="-122"/>
                <a:cs typeface="Segoe UI" pitchFamily="34" charset="-120"/>
              </a:rPr>
              <a:t>opened as</a:t>
            </a:r>
            <a:endParaRPr lang="en-US" sz="1200" dirty="0"/>
          </a:p>
        </p:txBody>
      </p:sp>
      <p:sp>
        <p:nvSpPr>
          <p:cNvPr id="27" name="Shape 24"/>
          <p:cNvSpPr/>
          <p:nvPr/>
        </p:nvSpPr>
        <p:spPr>
          <a:xfrm flipH="1">
            <a:off x="4160520" y="3438144"/>
            <a:ext cx="685800" cy="0"/>
          </a:xfrm>
          <a:prstGeom prst="line">
            <a:avLst/>
          </a:prstGeom>
          <a:noFill/>
          <a:ln w="19050">
            <a:solidFill>
              <a:srgbClr val="2354A6"/>
            </a:solidFill>
            <a:prstDash val="solid"/>
          </a:ln>
        </p:spPr>
      </p:sp>
      <p:sp>
        <p:nvSpPr>
          <p:cNvPr id="28" name="Shape 25"/>
          <p:cNvSpPr/>
          <p:nvPr/>
        </p:nvSpPr>
        <p:spPr>
          <a:xfrm>
            <a:off x="4160520" y="3438144"/>
            <a:ext cx="0" cy="548640"/>
          </a:xfrm>
          <a:prstGeom prst="line">
            <a:avLst/>
          </a:prstGeom>
          <a:noFill/>
          <a:ln w="19050">
            <a:solidFill>
              <a:srgbClr val="2354A6"/>
            </a:solidFill>
            <a:prstDash val="solid"/>
          </a:ln>
        </p:spPr>
      </p:sp>
      <p:sp>
        <p:nvSpPr>
          <p:cNvPr id="29" name="Shape 26"/>
          <p:cNvSpPr/>
          <p:nvPr/>
        </p:nvSpPr>
        <p:spPr>
          <a:xfrm flipH="1">
            <a:off x="3383280" y="3986784"/>
            <a:ext cx="777240" cy="0"/>
          </a:xfrm>
          <a:prstGeom prst="line">
            <a:avLst/>
          </a:prstGeom>
          <a:noFill/>
          <a:ln w="19050">
            <a:solidFill>
              <a:srgbClr val="2354A6"/>
            </a:solidFill>
            <a:prstDash val="solid"/>
            <a:tailEnd type="triangle"/>
          </a:ln>
        </p:spPr>
      </p:sp>
      <p:sp>
        <p:nvSpPr>
          <p:cNvPr id="30" name="Text 27"/>
          <p:cNvSpPr txBox="1"/>
          <p:nvPr/>
        </p:nvSpPr>
        <p:spPr>
          <a:xfrm>
            <a:off x="4206240" y="3657600"/>
            <a:ext cx="685800" cy="274320"/>
          </a:xfrm>
          <a:prstGeom prst="rect">
            <a:avLst/>
          </a:prstGeom>
          <a:noFill/>
          <a:ln/>
        </p:spPr>
        <p:txBody>
          <a:bodyPr wrap="square" lIns="0" tIns="0" rIns="0" bIns="0" rtlCol="0" anchor="t"/>
          <a:lstStyle/>
          <a:p>
            <a:pPr indent="0" marL="0">
              <a:buNone/>
            </a:pPr>
            <a:r>
              <a:rPr lang="en-US" sz="1100" dirty="0">
                <a:solidFill>
                  <a:srgbClr val="2354A6"/>
                </a:solidFill>
                <a:latin typeface="Segoe UI" pitchFamily="34" charset="0"/>
                <a:ea typeface="Segoe UI" pitchFamily="34" charset="-122"/>
                <a:cs typeface="Segoe UI" pitchFamily="34" charset="-120"/>
              </a:rPr>
              <a:t>references</a:t>
            </a:r>
            <a:endParaRPr lang="en-US" sz="1100" dirty="0"/>
          </a:p>
        </p:txBody>
      </p:sp>
      <p:sp>
        <p:nvSpPr>
          <p:cNvPr id="31" name="Text 28"/>
          <p:cNvSpPr txBox="1"/>
          <p:nvPr/>
        </p:nvSpPr>
        <p:spPr>
          <a:xfrm>
            <a:off x="548640" y="5074920"/>
            <a:ext cx="5394960" cy="118872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364255"/>
                </a:solidFill>
                <a:latin typeface="Segoe UI" pitchFamily="34" charset="0"/>
                <a:ea typeface="Segoe UI" pitchFamily="34" charset="-122"/>
                <a:cs typeface="Segoe UI" pitchFamily="34" charset="-120"/>
              </a:rPr>
              <a:t>Assets live on disk and are referenced by identity (GUID).</a:t>
            </a:r>
            <a:endParaRPr lang="en-US" sz="1500" dirty="0"/>
          </a:p>
          <a:p>
            <a:pPr marL="203200" indent="-203200">
              <a:spcAft>
                <a:spcPts val="400"/>
              </a:spcAft>
              <a:buSzPct val="100000"/>
              <a:buChar char="•"/>
            </a:pPr>
            <a:r>
              <a:rPr lang="en-US" sz="1500" dirty="0">
                <a:solidFill>
                  <a:srgbClr val="364255"/>
                </a:solidFill>
                <a:latin typeface="Segoe UI" pitchFamily="34" charset="0"/>
                <a:ea typeface="Segoe UI" pitchFamily="34" charset="-122"/>
                <a:cs typeface="Segoe UI" pitchFamily="34" charset="-120"/>
              </a:rPr>
              <a:t>A scene describes an arrangement of GameObjects.</a:t>
            </a:r>
            <a:endParaRPr lang="en-US" sz="1500" dirty="0"/>
          </a:p>
          <a:p>
            <a:pPr marL="203200" indent="-203200">
              <a:spcAft>
                <a:spcPts val="400"/>
              </a:spcAft>
              <a:buSzPct val="100000"/>
              <a:buChar char="•"/>
            </a:pPr>
            <a:r>
              <a:rPr lang="en-US" sz="1500" dirty="0">
                <a:solidFill>
                  <a:srgbClr val="364255"/>
                </a:solidFill>
                <a:latin typeface="Segoe UI" pitchFamily="34" charset="0"/>
                <a:ea typeface="Segoe UI" pitchFamily="34" charset="-122"/>
                <a:cs typeface="Segoe UI" pitchFamily="34" charset="-120"/>
              </a:rPr>
              <a:t>GameObjects are empty containers.</a:t>
            </a:r>
            <a:endParaRPr lang="en-US" sz="1500" dirty="0"/>
          </a:p>
        </p:txBody>
      </p:sp>
      <p:sp>
        <p:nvSpPr>
          <p:cNvPr id="32" name="Text 29"/>
          <p:cNvSpPr txBox="1"/>
          <p:nvPr/>
        </p:nvSpPr>
        <p:spPr>
          <a:xfrm>
            <a:off x="6245352" y="5074920"/>
            <a:ext cx="5394960" cy="118872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364255"/>
                </a:solidFill>
                <a:latin typeface="Segoe UI" pitchFamily="34" charset="0"/>
                <a:ea typeface="Segoe UI" pitchFamily="34" charset="-122"/>
                <a:cs typeface="Segoe UI" pitchFamily="34" charset="-120"/>
              </a:rPr>
              <a:t>Components supply all behavior and data.</a:t>
            </a:r>
            <a:endParaRPr lang="en-US" sz="1500" dirty="0"/>
          </a:p>
          <a:p>
            <a:pPr marL="203200" indent="-203200">
              <a:spcAft>
                <a:spcPts val="400"/>
              </a:spcAft>
              <a:buSzPct val="100000"/>
              <a:buChar char="•"/>
            </a:pPr>
            <a:r>
              <a:rPr lang="en-US" sz="1500" dirty="0">
                <a:solidFill>
                  <a:srgbClr val="364255"/>
                </a:solidFill>
                <a:latin typeface="Segoe UI" pitchFamily="34" charset="0"/>
                <a:ea typeface="Segoe UI" pitchFamily="34" charset="-122"/>
                <a:cs typeface="Segoe UI" pitchFamily="34" charset="-120"/>
              </a:rPr>
              <a:t>The Transform places each object and defines the tree.</a:t>
            </a:r>
            <a:endParaRPr lang="en-US" sz="1500" dirty="0"/>
          </a:p>
          <a:p>
            <a:pPr marL="203200" indent="-203200">
              <a:spcAft>
                <a:spcPts val="400"/>
              </a:spcAft>
              <a:buSzPct val="100000"/>
              <a:buChar char="•"/>
            </a:pPr>
            <a:r>
              <a:rPr lang="en-US" sz="1500" dirty="0">
                <a:solidFill>
                  <a:srgbClr val="364255"/>
                </a:solidFill>
                <a:latin typeface="Segoe UI" pitchFamily="34" charset="0"/>
                <a:ea typeface="Segoe UI" pitchFamily="34" charset="-122"/>
                <a:cs typeface="Segoe UI" pitchFamily="34" charset="-120"/>
              </a:rPr>
              <a:t>Prefab: a GameObject saved as an asset, reused as instances (week 2).</a:t>
            </a:r>
            <a:endParaRPr lang="en-US" sz="15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4 · 2D SPACE</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The world grid</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00200"/>
            <a:ext cx="5394960" cy="3520440"/>
          </a:xfrm>
          <a:prstGeom prst="rect">
            <a:avLst/>
          </a:prstGeom>
          <a:solidFill>
            <a:srgbClr val="F0F3F7"/>
          </a:solidFill>
          <a:ln/>
        </p:spPr>
      </p:sp>
      <p:sp>
        <p:nvSpPr>
          <p:cNvPr id="7" name="Shape 4"/>
          <p:cNvSpPr/>
          <p:nvPr/>
        </p:nvSpPr>
        <p:spPr>
          <a:xfrm>
            <a:off x="914400" y="4160520"/>
            <a:ext cx="4800600" cy="0"/>
          </a:xfrm>
          <a:prstGeom prst="line">
            <a:avLst/>
          </a:prstGeom>
          <a:noFill/>
          <a:ln w="25400">
            <a:solidFill>
              <a:srgbClr val="D2453A"/>
            </a:solidFill>
            <a:prstDash val="solid"/>
            <a:tailEnd type="triangle"/>
          </a:ln>
        </p:spPr>
      </p:sp>
      <p:sp>
        <p:nvSpPr>
          <p:cNvPr id="8" name="Shape 5"/>
          <p:cNvSpPr/>
          <p:nvPr/>
        </p:nvSpPr>
        <p:spPr>
          <a:xfrm flipV="1">
            <a:off x="1645920" y="1828800"/>
            <a:ext cx="0" cy="3063240"/>
          </a:xfrm>
          <a:prstGeom prst="line">
            <a:avLst/>
          </a:prstGeom>
          <a:noFill/>
          <a:ln w="25400">
            <a:solidFill>
              <a:srgbClr val="4C9A2A"/>
            </a:solidFill>
            <a:prstDash val="solid"/>
            <a:tailEnd type="triangle"/>
          </a:ln>
        </p:spPr>
      </p:sp>
      <p:sp>
        <p:nvSpPr>
          <p:cNvPr id="9" name="Text 6"/>
          <p:cNvSpPr txBox="1"/>
          <p:nvPr/>
        </p:nvSpPr>
        <p:spPr>
          <a:xfrm>
            <a:off x="5577840" y="4206240"/>
            <a:ext cx="274320" cy="274320"/>
          </a:xfrm>
          <a:prstGeom prst="rect">
            <a:avLst/>
          </a:prstGeom>
          <a:noFill/>
          <a:ln/>
        </p:spPr>
        <p:txBody>
          <a:bodyPr wrap="square" lIns="0" tIns="0" rIns="0" bIns="0" rtlCol="0" anchor="t"/>
          <a:lstStyle/>
          <a:p>
            <a:pPr indent="0" marL="0">
              <a:buNone/>
            </a:pPr>
            <a:r>
              <a:rPr lang="en-US" sz="1500" b="1" dirty="0">
                <a:solidFill>
                  <a:srgbClr val="D2453A"/>
                </a:solidFill>
                <a:latin typeface="Segoe UI" pitchFamily="34" charset="0"/>
                <a:ea typeface="Segoe UI" pitchFamily="34" charset="-122"/>
                <a:cs typeface="Segoe UI" pitchFamily="34" charset="-120"/>
              </a:rPr>
              <a:t>x</a:t>
            </a:r>
            <a:endParaRPr lang="en-US" sz="1500" dirty="0"/>
          </a:p>
        </p:txBody>
      </p:sp>
      <p:sp>
        <p:nvSpPr>
          <p:cNvPr id="10" name="Text 7"/>
          <p:cNvSpPr txBox="1"/>
          <p:nvPr/>
        </p:nvSpPr>
        <p:spPr>
          <a:xfrm>
            <a:off x="1755648" y="1783080"/>
            <a:ext cx="274320" cy="274320"/>
          </a:xfrm>
          <a:prstGeom prst="rect">
            <a:avLst/>
          </a:prstGeom>
          <a:noFill/>
          <a:ln/>
        </p:spPr>
        <p:txBody>
          <a:bodyPr wrap="square" lIns="0" tIns="0" rIns="0" bIns="0" rtlCol="0" anchor="t"/>
          <a:lstStyle/>
          <a:p>
            <a:pPr indent="0" marL="0">
              <a:buNone/>
            </a:pPr>
            <a:r>
              <a:rPr lang="en-US" sz="1500" b="1" dirty="0">
                <a:solidFill>
                  <a:srgbClr val="4C9A2A"/>
                </a:solidFill>
                <a:latin typeface="Segoe UI" pitchFamily="34" charset="0"/>
                <a:ea typeface="Segoe UI" pitchFamily="34" charset="-122"/>
                <a:cs typeface="Segoe UI" pitchFamily="34" charset="-120"/>
              </a:rPr>
              <a:t>y</a:t>
            </a:r>
            <a:endParaRPr lang="en-US" sz="1500" dirty="0"/>
          </a:p>
        </p:txBody>
      </p:sp>
      <p:sp>
        <p:nvSpPr>
          <p:cNvPr id="11" name="Shape 8"/>
          <p:cNvSpPr/>
          <p:nvPr/>
        </p:nvSpPr>
        <p:spPr>
          <a:xfrm>
            <a:off x="3474720" y="3246120"/>
            <a:ext cx="0" cy="914400"/>
          </a:xfrm>
          <a:prstGeom prst="line">
            <a:avLst/>
          </a:prstGeom>
          <a:noFill/>
          <a:ln w="12700">
            <a:solidFill>
              <a:srgbClr val="5B6678"/>
            </a:solidFill>
            <a:prstDash val="dash"/>
          </a:ln>
        </p:spPr>
      </p:sp>
      <p:sp>
        <p:nvSpPr>
          <p:cNvPr id="12" name="Shape 9"/>
          <p:cNvSpPr/>
          <p:nvPr/>
        </p:nvSpPr>
        <p:spPr>
          <a:xfrm>
            <a:off x="1645920" y="3246120"/>
            <a:ext cx="1828800" cy="0"/>
          </a:xfrm>
          <a:prstGeom prst="line">
            <a:avLst/>
          </a:prstGeom>
          <a:noFill/>
          <a:ln w="12700">
            <a:solidFill>
              <a:srgbClr val="5B6678"/>
            </a:solidFill>
            <a:prstDash val="dash"/>
          </a:ln>
        </p:spPr>
      </p:sp>
      <p:sp>
        <p:nvSpPr>
          <p:cNvPr id="13" name="Shape 10"/>
          <p:cNvSpPr/>
          <p:nvPr/>
        </p:nvSpPr>
        <p:spPr>
          <a:xfrm>
            <a:off x="3401568" y="3172968"/>
            <a:ext cx="146304" cy="146304"/>
          </a:xfrm>
          <a:prstGeom prst="ellipse">
            <a:avLst/>
          </a:prstGeom>
          <a:solidFill>
            <a:srgbClr val="2354A6"/>
          </a:solidFill>
          <a:ln/>
        </p:spPr>
      </p:sp>
      <p:sp>
        <p:nvSpPr>
          <p:cNvPr id="14" name="Text 11"/>
          <p:cNvSpPr txBox="1"/>
          <p:nvPr/>
        </p:nvSpPr>
        <p:spPr>
          <a:xfrm>
            <a:off x="3584448" y="2898648"/>
            <a:ext cx="822960" cy="274320"/>
          </a:xfrm>
          <a:prstGeom prst="rect">
            <a:avLst/>
          </a:prstGeom>
          <a:noFill/>
          <a:ln/>
        </p:spPr>
        <p:txBody>
          <a:bodyPr wrap="square" lIns="0" tIns="0" rIns="0" bIns="0" rtlCol="0" anchor="t"/>
          <a:lstStyle/>
          <a:p>
            <a:pPr indent="0" marL="0">
              <a:buNone/>
            </a:pPr>
            <a:r>
              <a:rPr lang="en-US" sz="1400" b="1" dirty="0">
                <a:solidFill>
                  <a:srgbClr val="2354A6"/>
                </a:solidFill>
                <a:latin typeface="Segoe UI" pitchFamily="34" charset="0"/>
                <a:ea typeface="Segoe UI" pitchFamily="34" charset="-122"/>
                <a:cs typeface="Segoe UI" pitchFamily="34" charset="-120"/>
              </a:rPr>
              <a:t>(4, 2)</a:t>
            </a:r>
            <a:endParaRPr lang="en-US" sz="1400" dirty="0"/>
          </a:p>
        </p:txBody>
      </p:sp>
      <p:sp>
        <p:nvSpPr>
          <p:cNvPr id="15" name="Shape 12"/>
          <p:cNvSpPr/>
          <p:nvPr/>
        </p:nvSpPr>
        <p:spPr>
          <a:xfrm>
            <a:off x="1600200" y="4114800"/>
            <a:ext cx="91440" cy="91440"/>
          </a:xfrm>
          <a:prstGeom prst="ellipse">
            <a:avLst/>
          </a:prstGeom>
          <a:solidFill>
            <a:srgbClr val="5B6678"/>
          </a:solidFill>
          <a:ln/>
        </p:spPr>
      </p:sp>
      <p:sp>
        <p:nvSpPr>
          <p:cNvPr id="16" name="Text 13"/>
          <p:cNvSpPr txBox="1"/>
          <p:nvPr/>
        </p:nvSpPr>
        <p:spPr>
          <a:xfrm>
            <a:off x="1005840" y="4206240"/>
            <a:ext cx="566928" cy="256032"/>
          </a:xfrm>
          <a:prstGeom prst="rect">
            <a:avLst/>
          </a:prstGeom>
          <a:noFill/>
          <a:ln/>
        </p:spPr>
        <p:txBody>
          <a:bodyPr wrap="square" lIns="0" tIns="0" rIns="0" bIns="0" rtlCol="0" anchor="t"/>
          <a:lstStyle/>
          <a:p>
            <a:pPr algn="r" indent="0" marL="0">
              <a:buNone/>
            </a:pPr>
            <a:r>
              <a:rPr lang="en-US" sz="1200" dirty="0">
                <a:solidFill>
                  <a:srgbClr val="5B6678"/>
                </a:solidFill>
                <a:latin typeface="Segoe UI" pitchFamily="34" charset="0"/>
                <a:ea typeface="Segoe UI" pitchFamily="34" charset="-122"/>
                <a:cs typeface="Segoe UI" pitchFamily="34" charset="-120"/>
              </a:rPr>
              <a:t>(0, 0)</a:t>
            </a:r>
            <a:endParaRPr lang="en-US" sz="1200" dirty="0"/>
          </a:p>
        </p:txBody>
      </p:sp>
      <p:sp>
        <p:nvSpPr>
          <p:cNvPr id="17" name="Text 14"/>
          <p:cNvSpPr txBox="1"/>
          <p:nvPr/>
        </p:nvSpPr>
        <p:spPr>
          <a:xfrm>
            <a:off x="1920240" y="4526280"/>
            <a:ext cx="3840480" cy="274320"/>
          </a:xfrm>
          <a:prstGeom prst="rect">
            <a:avLst/>
          </a:prstGeom>
          <a:noFill/>
          <a:ln/>
        </p:spPr>
        <p:txBody>
          <a:bodyPr wrap="square" lIns="0" tIns="0" rIns="0" bIns="0" rtlCol="0" anchor="t"/>
          <a:lstStyle/>
          <a:p>
            <a:pPr indent="0" marL="0">
              <a:buNone/>
            </a:pPr>
            <a:r>
              <a:rPr lang="en-US" sz="1300" dirty="0">
                <a:solidFill>
                  <a:srgbClr val="364255"/>
                </a:solidFill>
                <a:latin typeface="Segoe UI" pitchFamily="34" charset="0"/>
                <a:ea typeface="Segoe UI" pitchFamily="34" charset="-122"/>
                <a:cs typeface="Segoe UI" pitchFamily="34" charset="-120"/>
              </a:rPr>
              <a:t>y grows upward, unlike screen coordinates</a:t>
            </a:r>
            <a:endParaRPr lang="en-US" sz="1300" dirty="0"/>
          </a:p>
        </p:txBody>
      </p:sp>
      <p:sp>
        <p:nvSpPr>
          <p:cNvPr id="18" name="Shape 15"/>
          <p:cNvSpPr/>
          <p:nvPr/>
        </p:nvSpPr>
        <p:spPr>
          <a:xfrm>
            <a:off x="6245352" y="1600200"/>
            <a:ext cx="5394960" cy="3520440"/>
          </a:xfrm>
          <a:prstGeom prst="rect">
            <a:avLst/>
          </a:prstGeom>
          <a:solidFill>
            <a:srgbClr val="F0F3F7"/>
          </a:solidFill>
          <a:ln/>
        </p:spPr>
      </p:sp>
      <p:sp>
        <p:nvSpPr>
          <p:cNvPr id="19" name="Text 16"/>
          <p:cNvSpPr txBox="1"/>
          <p:nvPr/>
        </p:nvSpPr>
        <p:spPr>
          <a:xfrm>
            <a:off x="6473952" y="1737360"/>
            <a:ext cx="2743200" cy="228600"/>
          </a:xfrm>
          <a:prstGeom prst="rect">
            <a:avLst/>
          </a:prstGeom>
          <a:noFill/>
          <a:ln/>
        </p:spPr>
        <p:txBody>
          <a:bodyPr wrap="square" lIns="0" tIns="0" rIns="0" bIns="0" rtlCol="0" anchor="t"/>
          <a:lstStyle/>
          <a:p>
            <a:pPr indent="0" marL="0">
              <a:buNone/>
            </a:pPr>
            <a:r>
              <a:rPr lang="en-US" sz="1000" b="1" spc="120" kern="0" dirty="0">
                <a:solidFill>
                  <a:srgbClr val="5B6678"/>
                </a:solidFill>
                <a:latin typeface="Segoe UI" pitchFamily="34" charset="0"/>
                <a:ea typeface="Segoe UI" pitchFamily="34" charset="-122"/>
                <a:cs typeface="Segoe UI" pitchFamily="34" charset="-120"/>
              </a:rPr>
              <a:t>SEEN FROM THE SIDE</a:t>
            </a:r>
            <a:endParaRPr lang="en-US" sz="1000" dirty="0"/>
          </a:p>
        </p:txBody>
      </p:sp>
      <p:sp>
        <p:nvSpPr>
          <p:cNvPr id="20" name="Shape 17"/>
          <p:cNvSpPr/>
          <p:nvPr/>
        </p:nvSpPr>
        <p:spPr>
          <a:xfrm>
            <a:off x="6565392" y="3520440"/>
            <a:ext cx="4800600" cy="0"/>
          </a:xfrm>
          <a:prstGeom prst="line">
            <a:avLst/>
          </a:prstGeom>
          <a:noFill/>
          <a:ln w="19050">
            <a:solidFill>
              <a:srgbClr val="2F6FD6"/>
            </a:solidFill>
            <a:prstDash val="solid"/>
            <a:tailEnd type="triangle"/>
          </a:ln>
        </p:spPr>
      </p:sp>
      <p:sp>
        <p:nvSpPr>
          <p:cNvPr id="21" name="Text 18"/>
          <p:cNvSpPr txBox="1"/>
          <p:nvPr/>
        </p:nvSpPr>
        <p:spPr>
          <a:xfrm>
            <a:off x="11228832" y="3566160"/>
            <a:ext cx="274320" cy="274320"/>
          </a:xfrm>
          <a:prstGeom prst="rect">
            <a:avLst/>
          </a:prstGeom>
          <a:noFill/>
          <a:ln/>
        </p:spPr>
        <p:txBody>
          <a:bodyPr wrap="square" lIns="0" tIns="0" rIns="0" bIns="0" rtlCol="0" anchor="t"/>
          <a:lstStyle/>
          <a:p>
            <a:pPr indent="0" marL="0">
              <a:buNone/>
            </a:pPr>
            <a:r>
              <a:rPr lang="en-US" sz="1500" b="1" dirty="0">
                <a:solidFill>
                  <a:srgbClr val="2F6FD6"/>
                </a:solidFill>
                <a:latin typeface="Segoe UI" pitchFamily="34" charset="0"/>
                <a:ea typeface="Segoe UI" pitchFamily="34" charset="-122"/>
                <a:cs typeface="Segoe UI" pitchFamily="34" charset="-120"/>
              </a:rPr>
              <a:t>z</a:t>
            </a:r>
            <a:endParaRPr lang="en-US" sz="1500" dirty="0"/>
          </a:p>
        </p:txBody>
      </p:sp>
      <p:sp>
        <p:nvSpPr>
          <p:cNvPr id="22" name="Shape 19"/>
          <p:cNvSpPr/>
          <p:nvPr/>
        </p:nvSpPr>
        <p:spPr>
          <a:xfrm>
            <a:off x="6931152" y="3291840"/>
            <a:ext cx="548640" cy="457200"/>
          </a:xfrm>
          <a:prstGeom prst="rect">
            <a:avLst/>
          </a:prstGeom>
          <a:solidFill>
            <a:srgbClr val="18202E"/>
          </a:solidFill>
          <a:ln/>
        </p:spPr>
      </p:sp>
      <p:sp>
        <p:nvSpPr>
          <p:cNvPr id="23" name="Shape 20"/>
          <p:cNvSpPr/>
          <p:nvPr/>
        </p:nvSpPr>
        <p:spPr>
          <a:xfrm rot="5400000">
            <a:off x="7434072" y="3355848"/>
            <a:ext cx="329184" cy="329184"/>
          </a:xfrm>
          <a:prstGeom prst="triangle">
            <a:avLst/>
          </a:prstGeom>
          <a:solidFill>
            <a:srgbClr val="18202E"/>
          </a:solidFill>
          <a:ln/>
        </p:spPr>
      </p:sp>
      <p:sp>
        <p:nvSpPr>
          <p:cNvPr id="24" name="Shape 21"/>
          <p:cNvSpPr/>
          <p:nvPr/>
        </p:nvSpPr>
        <p:spPr>
          <a:xfrm>
            <a:off x="7799832" y="2468880"/>
            <a:ext cx="2057400" cy="0"/>
          </a:xfrm>
          <a:prstGeom prst="line">
            <a:avLst/>
          </a:prstGeom>
          <a:noFill/>
          <a:ln w="12700">
            <a:solidFill>
              <a:srgbClr val="5B6678"/>
            </a:solidFill>
            <a:prstDash val="dash"/>
          </a:ln>
        </p:spPr>
      </p:sp>
      <p:sp>
        <p:nvSpPr>
          <p:cNvPr id="25" name="Shape 22"/>
          <p:cNvSpPr/>
          <p:nvPr/>
        </p:nvSpPr>
        <p:spPr>
          <a:xfrm>
            <a:off x="7799832" y="4572000"/>
            <a:ext cx="2057400" cy="0"/>
          </a:xfrm>
          <a:prstGeom prst="line">
            <a:avLst/>
          </a:prstGeom>
          <a:noFill/>
          <a:ln w="12700">
            <a:solidFill>
              <a:srgbClr val="5B6678"/>
            </a:solidFill>
            <a:prstDash val="dash"/>
          </a:ln>
        </p:spPr>
      </p:sp>
      <p:sp>
        <p:nvSpPr>
          <p:cNvPr id="26" name="Shape 23"/>
          <p:cNvSpPr/>
          <p:nvPr/>
        </p:nvSpPr>
        <p:spPr>
          <a:xfrm>
            <a:off x="9857232" y="2331720"/>
            <a:ext cx="91440" cy="2377440"/>
          </a:xfrm>
          <a:prstGeom prst="rect">
            <a:avLst/>
          </a:prstGeom>
          <a:solidFill>
            <a:srgbClr val="2354A6"/>
          </a:solidFill>
          <a:ln/>
        </p:spPr>
      </p:sp>
      <p:sp>
        <p:nvSpPr>
          <p:cNvPr id="27" name="Text 24"/>
          <p:cNvSpPr txBox="1"/>
          <p:nvPr/>
        </p:nvSpPr>
        <p:spPr>
          <a:xfrm>
            <a:off x="10085832" y="2148840"/>
            <a:ext cx="1463040" cy="594360"/>
          </a:xfrm>
          <a:prstGeom prst="rect">
            <a:avLst/>
          </a:prstGeom>
          <a:noFill/>
          <a:ln/>
        </p:spPr>
        <p:txBody>
          <a:bodyPr wrap="square" lIns="0" tIns="0" rIns="0" bIns="0" rtlCol="0" anchor="t"/>
          <a:lstStyle/>
          <a:p>
            <a:pPr indent="0" marL="0">
              <a:buNone/>
            </a:pPr>
            <a:r>
              <a:rPr lang="en-US" sz="1300" b="1" dirty="0">
                <a:solidFill>
                  <a:srgbClr val="2354A6"/>
                </a:solidFill>
                <a:latin typeface="Segoe UI" pitchFamily="34" charset="0"/>
                <a:ea typeface="Segoe UI" pitchFamily="34" charset="-122"/>
                <a:cs typeface="Segoe UI" pitchFamily="34" charset="-120"/>
              </a:rPr>
              <a:t>z = 0</a:t>
            </a:r>
            <a:endParaRPr lang="en-US" sz="1300" dirty="0"/>
          </a:p>
          <a:p>
            <a:pPr indent="0" marL="0">
              <a:buNone/>
            </a:pPr>
            <a:r>
              <a:rPr lang="en-US" sz="1300" dirty="0">
                <a:solidFill>
                  <a:srgbClr val="2354A6"/>
                </a:solidFill>
                <a:latin typeface="Segoe UI" pitchFamily="34" charset="0"/>
                <a:ea typeface="Segoe UI" pitchFamily="34" charset="-122"/>
                <a:cs typeface="Segoe UI" pitchFamily="34" charset="-120"/>
              </a:rPr>
              <a:t>the game world</a:t>
            </a:r>
            <a:endParaRPr lang="en-US" sz="1300" dirty="0"/>
          </a:p>
        </p:txBody>
      </p:sp>
      <p:sp>
        <p:nvSpPr>
          <p:cNvPr id="28" name="Text 25"/>
          <p:cNvSpPr txBox="1"/>
          <p:nvPr/>
        </p:nvSpPr>
        <p:spPr>
          <a:xfrm>
            <a:off x="6702552" y="3840480"/>
            <a:ext cx="1280160" cy="594360"/>
          </a:xfrm>
          <a:prstGeom prst="rect">
            <a:avLst/>
          </a:prstGeom>
          <a:noFill/>
          <a:ln/>
        </p:spPr>
        <p:txBody>
          <a:bodyPr wrap="square" lIns="0" tIns="0" rIns="0" bIns="0" rtlCol="0" anchor="t"/>
          <a:lstStyle/>
          <a:p>
            <a:pPr indent="0" marL="0">
              <a:buNone/>
            </a:pPr>
            <a:r>
              <a:rPr lang="en-US" sz="1300" b="1" dirty="0">
                <a:solidFill>
                  <a:srgbClr val="18202E"/>
                </a:solidFill>
                <a:latin typeface="Segoe UI" pitchFamily="34" charset="0"/>
                <a:ea typeface="Segoe UI" pitchFamily="34" charset="-122"/>
                <a:cs typeface="Segoe UI" pitchFamily="34" charset="-120"/>
              </a:rPr>
              <a:t>camera</a:t>
            </a:r>
            <a:endParaRPr lang="en-US" sz="1300" dirty="0"/>
          </a:p>
          <a:p>
            <a:pPr indent="0" marL="0">
              <a:buNone/>
            </a:pPr>
            <a:r>
              <a:rPr lang="en-US" sz="1300" dirty="0">
                <a:solidFill>
                  <a:srgbClr val="18202E"/>
                </a:solidFill>
                <a:latin typeface="Segoe UI" pitchFamily="34" charset="0"/>
                <a:ea typeface="Segoe UI" pitchFamily="34" charset="-122"/>
                <a:cs typeface="Segoe UI" pitchFamily="34" charset="-120"/>
              </a:rPr>
              <a:t>z = -10</a:t>
            </a:r>
            <a:endParaRPr lang="en-US" sz="1300" dirty="0"/>
          </a:p>
        </p:txBody>
      </p:sp>
      <p:sp>
        <p:nvSpPr>
          <p:cNvPr id="29" name="Text 26"/>
          <p:cNvSpPr txBox="1"/>
          <p:nvPr/>
        </p:nvSpPr>
        <p:spPr>
          <a:xfrm>
            <a:off x="7845552" y="2103120"/>
            <a:ext cx="1920240" cy="274320"/>
          </a:xfrm>
          <a:prstGeom prst="rect">
            <a:avLst/>
          </a:prstGeom>
          <a:noFill/>
          <a:ln/>
        </p:spPr>
        <p:txBody>
          <a:bodyPr wrap="square" lIns="0" tIns="0" rIns="0" bIns="0" rtlCol="0" anchor="t"/>
          <a:lstStyle/>
          <a:p>
            <a:pPr indent="0" marL="0">
              <a:buNone/>
            </a:pPr>
            <a:r>
              <a:rPr lang="en-US" sz="1200" dirty="0">
                <a:solidFill>
                  <a:srgbClr val="5B6678"/>
                </a:solidFill>
                <a:latin typeface="Segoe UI" pitchFamily="34" charset="0"/>
                <a:ea typeface="Segoe UI" pitchFamily="34" charset="-122"/>
                <a:cs typeface="Segoe UI" pitchFamily="34" charset="-120"/>
              </a:rPr>
              <a:t>looks toward +z</a:t>
            </a:r>
            <a:endParaRPr lang="en-US" sz="1200" dirty="0"/>
          </a:p>
        </p:txBody>
      </p:sp>
      <p:sp>
        <p:nvSpPr>
          <p:cNvPr id="30" name="Text 27"/>
          <p:cNvSpPr txBox="1"/>
          <p:nvPr/>
        </p:nvSpPr>
        <p:spPr>
          <a:xfrm>
            <a:off x="548640" y="5303520"/>
            <a:ext cx="11094415" cy="914400"/>
          </a:xfrm>
          <a:prstGeom prst="rect">
            <a:avLst/>
          </a:prstGeom>
          <a:noFill/>
          <a:ln/>
        </p:spPr>
        <p:txBody>
          <a:bodyPr wrap="square" lIns="0" tIns="0" rIns="0" bIns="0" rtlCol="0" anchor="t"/>
          <a:lstStyle/>
          <a:p>
            <a:pPr marL="203200" indent="-203200">
              <a:spcAft>
                <a:spcPts val="600"/>
              </a:spcAft>
              <a:buSzPct val="100000"/>
              <a:buChar char="•"/>
            </a:pPr>
            <a:r>
              <a:rPr lang="en-US" sz="1500" b="1" dirty="0">
                <a:solidFill>
                  <a:srgbClr val="364255"/>
                </a:solidFill>
                <a:latin typeface="Segoe UI" pitchFamily="34" charset="0"/>
                <a:ea typeface="Segoe UI" pitchFamily="34" charset="-122"/>
                <a:cs typeface="Segoe UI" pitchFamily="34" charset="-120"/>
              </a:rPr>
              <a:t>1 unit = 1 tile </a:t>
            </a:r>
            <a:pPr indent="0" marL="0">
              <a:buNone/>
            </a:pPr>
            <a:r>
              <a:rPr lang="en-US" sz="1500" dirty="0">
                <a:solidFill>
                  <a:srgbClr val="364255"/>
                </a:solidFill>
                <a:latin typeface="Segoe UI" pitchFamily="34" charset="0"/>
                <a:ea typeface="Segoe UI" pitchFamily="34" charset="-122"/>
                <a:cs typeface="Segoe UI" pitchFamily="34" charset="-120"/>
              </a:rPr>
              <a:t>in this course. (The physics engine assumes 1 unit = 1 meter; week 3 deals with that.)</a:t>
            </a:r>
            <a:endParaRPr lang="en-US" sz="1500" dirty="0"/>
          </a:p>
          <a:p>
            <a:pPr marL="203200" indent="-203200">
              <a:spcAft>
                <a:spcPts val="600"/>
              </a:spcAft>
              <a:buSzPct val="100000"/>
              <a:buChar char="•"/>
            </a:pPr>
            <a:r>
              <a:rPr lang="en-US" sz="1500" b="1" dirty="0">
                <a:solidFill>
                  <a:srgbClr val="364255"/>
                </a:solidFill>
                <a:latin typeface="Segoe UI" pitchFamily="34" charset="0"/>
                <a:ea typeface="Segoe UI" pitchFamily="34" charset="-122"/>
                <a:cs typeface="Segoe UI" pitchFamily="34" charset="-120"/>
              </a:rPr>
              <a:t>Keep sprites at z = 0. </a:t>
            </a:r>
            <a:pPr indent="0" marL="0">
              <a:buNone/>
            </a:pPr>
            <a:r>
              <a:rPr lang="en-US" sz="1500" dirty="0">
                <a:solidFill>
                  <a:srgbClr val="364255"/>
                </a:solidFill>
                <a:latin typeface="Segoe UI" pitchFamily="34" charset="0"/>
                <a:ea typeface="Segoe UI" pitchFamily="34" charset="-122"/>
                <a:cs typeface="Segoe UI" pitchFamily="34" charset="-120"/>
              </a:rPr>
              <a:t>2D rotation is rotation around z, in degrees; positive turns counterclockwise.</a:t>
            </a:r>
            <a:endParaRPr lang="en-US" sz="15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4 · 2D SPACE</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Vectors: points and displacements</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766560" cy="914400"/>
        </p:xfrm>
        <a:graphic>
          <a:graphicData uri="http://schemas.openxmlformats.org/drawingml/2006/table">
            <a:tbl>
              <a:tblPr/>
              <a:tblGrid>
                <a:gridCol w="1600200"/>
                <a:gridCol w="2560320"/>
                <a:gridCol w="2606040"/>
              </a:tblGrid>
              <a:tr h="475488">
                <a:tc>
                  <a:txBody>
                    <a:bodyPr/>
                    <a:lstStyle/>
                    <a:p>
                      <a:pPr indent="0" marL="0">
                        <a:buNone/>
                      </a:pPr>
                      <a:r>
                        <a:rPr lang="en-US" sz="1100" b="1" spc="100" kern="0" dirty="0">
                          <a:solidFill>
                            <a:srgbClr val="5B6678"/>
                          </a:solidFill>
                          <a:latin typeface="Segoe UI" pitchFamily="34" charset="0"/>
                          <a:ea typeface="Segoe UI" pitchFamily="34" charset="-122"/>
                          <a:cs typeface="Segoe UI" pitchFamily="34" charset="-120"/>
                        </a:rPr>
                        <a:t>OPERATION</a:t>
                      </a:r>
                      <a:endParaRPr lang="en-US" sz="1100" dirty="0">
                        <a:latin typeface="Segoe UI" charset="0"/>
                        <a:ea typeface="Segoe UI" charset="0"/>
                        <a:cs typeface="Segoe UI" charset="0"/>
                      </a:endParaRPr>
                    </a:p>
                  </a:txBody>
                  <a:tcPr marL="0" marR="76200" marT="50800" marB="50800" anchor="ctr">
                    <a:lnL w="0" cap="flat" cmpd="sng" algn="ctr">
                      <a:noFill/>
                    </a:lnL>
                    <a:lnR w="0" cap="flat" cmpd="sng" algn="ctr">
                      <a:noFill/>
                    </a:lnR>
                    <a:lnT w="0" cap="flat" cmpd="sng" algn="ctr">
                      <a:noFill/>
                    </a:lnT>
                    <a:lnB w="15875" cap="flat" cmpd="sng" algn="ctr">
                      <a:solidFill>
                        <a:srgbClr val="18202E"/>
                      </a:solidFill>
                      <a:prstDash val="solid"/>
                      <a:round/>
                      <a:headEnd type="none" w="med" len="med"/>
                      <a:tailEnd type="none" w="med" len="med"/>
                    </a:lnB>
                  </a:tcPr>
                </a:tc>
                <a:tc>
                  <a:txBody>
                    <a:bodyPr/>
                    <a:lstStyle/>
                    <a:p>
                      <a:pPr indent="0" marL="0">
                        <a:buNone/>
                      </a:pPr>
                      <a:r>
                        <a:rPr lang="en-US" sz="1100" b="1" spc="100" kern="0" dirty="0">
                          <a:solidFill>
                            <a:srgbClr val="5B6678"/>
                          </a:solidFill>
                          <a:latin typeface="Segoe UI" pitchFamily="34" charset="0"/>
                          <a:ea typeface="Segoe UI" pitchFamily="34" charset="-122"/>
                          <a:cs typeface="Segoe UI" pitchFamily="34" charset="-120"/>
                        </a:rPr>
                        <a:t>MEANING</a:t>
                      </a:r>
                      <a:endParaRPr lang="en-US" sz="1100" dirty="0">
                        <a:latin typeface="Segoe UI" charset="0"/>
                        <a:ea typeface="Segoe UI" charset="0"/>
                        <a:cs typeface="Segoe UI" charset="0"/>
                      </a:endParaRPr>
                    </a:p>
                  </a:txBody>
                  <a:tcPr marL="0" marR="76200" marT="50800" marB="50800" anchor="ctr">
                    <a:lnL w="0" cap="flat" cmpd="sng" algn="ctr">
                      <a:noFill/>
                    </a:lnL>
                    <a:lnR w="0" cap="flat" cmpd="sng" algn="ctr">
                      <a:noFill/>
                    </a:lnR>
                    <a:lnT w="0" cap="flat" cmpd="sng" algn="ctr">
                      <a:noFill/>
                    </a:lnT>
                    <a:lnB w="15875" cap="flat" cmpd="sng" algn="ctr">
                      <a:solidFill>
                        <a:srgbClr val="18202E"/>
                      </a:solidFill>
                      <a:prstDash val="solid"/>
                      <a:round/>
                      <a:headEnd type="none" w="med" len="med"/>
                      <a:tailEnd type="none" w="med" len="med"/>
                    </a:lnB>
                  </a:tcPr>
                </a:tc>
                <a:tc>
                  <a:txBody>
                    <a:bodyPr/>
                    <a:lstStyle/>
                    <a:p>
                      <a:pPr indent="0" marL="0">
                        <a:buNone/>
                      </a:pPr>
                      <a:r>
                        <a:rPr lang="en-US" sz="1100" b="1" spc="100" kern="0" dirty="0">
                          <a:solidFill>
                            <a:srgbClr val="5B6678"/>
                          </a:solidFill>
                          <a:latin typeface="Segoe UI" pitchFamily="34" charset="0"/>
                          <a:ea typeface="Segoe UI" pitchFamily="34" charset="-122"/>
                          <a:cs typeface="Segoe UI" pitchFamily="34" charset="-120"/>
                        </a:rPr>
                        <a:t>EXAMPLE</a:t>
                      </a:r>
                      <a:endParaRPr lang="en-US" sz="1100" dirty="0">
                        <a:latin typeface="Segoe UI" charset="0"/>
                        <a:ea typeface="Segoe UI" charset="0"/>
                        <a:cs typeface="Segoe UI" charset="0"/>
                      </a:endParaRPr>
                    </a:p>
                  </a:txBody>
                  <a:tcPr marL="0" marR="76200" marT="50800" marB="50800" anchor="ctr">
                    <a:lnL w="0" cap="flat" cmpd="sng" algn="ctr">
                      <a:noFill/>
                    </a:lnL>
                    <a:lnR w="0" cap="flat" cmpd="sng" algn="ctr">
                      <a:noFill/>
                    </a:lnR>
                    <a:lnT w="0" cap="flat" cmpd="sng" algn="ctr">
                      <a:noFill/>
                    </a:lnT>
                    <a:lnB w="15875" cap="flat" cmpd="sng" algn="ctr">
                      <a:solidFill>
                        <a:srgbClr val="18202E"/>
                      </a:solidFill>
                      <a:prstDash val="solid"/>
                      <a:round/>
                      <a:headEnd type="none" w="med" len="med"/>
                      <a:tailEnd type="none" w="med" len="med"/>
                    </a:lnB>
                  </a:tcPr>
                </a:tc>
              </a:tr>
              <a:tr h="475488">
                <a:tc>
                  <a:txBody>
                    <a:bodyPr/>
                    <a:lstStyle/>
                    <a:p>
                      <a:pPr indent="0" marL="0">
                        <a:buNone/>
                      </a:pPr>
                      <a:r>
                        <a:rPr lang="en-US" sz="1500" dirty="0">
                          <a:solidFill>
                            <a:srgbClr val="2354A6"/>
                          </a:solidFill>
                          <a:latin typeface="Consolas" pitchFamily="34" charset="0"/>
                          <a:ea typeface="Consolas" pitchFamily="34" charset="-122"/>
                          <a:cs typeface="Consolas" pitchFamily="34" charset="-120"/>
                        </a:rPr>
                        <a:t>a + b</a:t>
                      </a:r>
                      <a:endParaRPr lang="en-US" sz="1500" dirty="0">
                        <a:latin typeface="Consolas" charset="0"/>
                        <a:ea typeface="Consolas" charset="0"/>
                        <a:cs typeface="Consolas"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8202E"/>
                          </a:solidFill>
                          <a:latin typeface="Segoe UI" pitchFamily="34" charset="0"/>
                          <a:ea typeface="Segoe UI" pitchFamily="34" charset="-122"/>
                          <a:cs typeface="Segoe UI" pitchFamily="34" charset="-120"/>
                        </a:rPr>
                        <a:t>move point a by displacement b</a:t>
                      </a:r>
                      <a:endParaRPr lang="en-US" sz="1500" dirty="0">
                        <a:latin typeface="Segoe UI" charset="0"/>
                        <a:ea typeface="Segoe UI" charset="0"/>
                        <a:cs typeface="Segoe UI"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8202E"/>
                          </a:solidFill>
                          <a:latin typeface="Segoe UI" pitchFamily="34" charset="0"/>
                          <a:ea typeface="Segoe UI" pitchFamily="34" charset="-122"/>
                          <a:cs typeface="Segoe UI" pitchFamily="34" charset="-120"/>
                        </a:rPr>
                        <a:t>movement</a:t>
                      </a:r>
                      <a:endParaRPr lang="en-US" sz="1500" dirty="0">
                        <a:latin typeface="Segoe UI" charset="0"/>
                        <a:ea typeface="Segoe UI" charset="0"/>
                        <a:cs typeface="Segoe UI"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500" dirty="0">
                          <a:solidFill>
                            <a:srgbClr val="2354A6"/>
                          </a:solidFill>
                          <a:latin typeface="Consolas" pitchFamily="34" charset="0"/>
                          <a:ea typeface="Consolas" pitchFamily="34" charset="-122"/>
                          <a:cs typeface="Consolas" pitchFamily="34" charset="-120"/>
                        </a:rPr>
                        <a:t>b - a</a:t>
                      </a:r>
                      <a:endParaRPr lang="en-US" sz="1500" dirty="0">
                        <a:latin typeface="Consolas" charset="0"/>
                        <a:ea typeface="Consolas" charset="0"/>
                        <a:cs typeface="Consolas"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8202E"/>
                          </a:solidFill>
                          <a:latin typeface="Segoe UI" pitchFamily="34" charset="0"/>
                          <a:ea typeface="Segoe UI" pitchFamily="34" charset="-122"/>
                          <a:cs typeface="Segoe UI" pitchFamily="34" charset="-120"/>
                        </a:rPr>
                        <a:t>displacement from a to b</a:t>
                      </a:r>
                      <a:endParaRPr lang="en-US" sz="1500" dirty="0">
                        <a:latin typeface="Segoe UI" charset="0"/>
                        <a:ea typeface="Segoe UI" charset="0"/>
                        <a:cs typeface="Segoe UI"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8202E"/>
                          </a:solidFill>
                          <a:latin typeface="Segoe UI" pitchFamily="34" charset="0"/>
                          <a:ea typeface="Segoe UI" pitchFamily="34" charset="-122"/>
                          <a:cs typeface="Segoe UI" pitchFamily="34" charset="-120"/>
                        </a:rPr>
                        <a:t>aim: (6,4) - (2,1) = (4,3)</a:t>
                      </a:r>
                      <a:endParaRPr lang="en-US" sz="1500" dirty="0">
                        <a:latin typeface="Segoe UI" charset="0"/>
                        <a:ea typeface="Segoe UI" charset="0"/>
                        <a:cs typeface="Segoe UI"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500" dirty="0">
                          <a:solidFill>
                            <a:srgbClr val="2354A6"/>
                          </a:solidFill>
                          <a:latin typeface="Consolas" pitchFamily="34" charset="0"/>
                          <a:ea typeface="Consolas" pitchFamily="34" charset="-122"/>
                          <a:cs typeface="Consolas" pitchFamily="34" charset="-120"/>
                        </a:rPr>
                        <a:t>k * v</a:t>
                      </a:r>
                      <a:endParaRPr lang="en-US" sz="1500" dirty="0">
                        <a:latin typeface="Consolas" charset="0"/>
                        <a:ea typeface="Consolas" charset="0"/>
                        <a:cs typeface="Consolas"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8202E"/>
                          </a:solidFill>
                          <a:latin typeface="Segoe UI" pitchFamily="34" charset="0"/>
                          <a:ea typeface="Segoe UI" pitchFamily="34" charset="-122"/>
                          <a:cs typeface="Segoe UI" pitchFamily="34" charset="-120"/>
                        </a:rPr>
                        <a:t>scale a displacement</a:t>
                      </a:r>
                      <a:endParaRPr lang="en-US" sz="1500" dirty="0">
                        <a:latin typeface="Segoe UI" charset="0"/>
                        <a:ea typeface="Segoe UI" charset="0"/>
                        <a:cs typeface="Segoe UI"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8202E"/>
                          </a:solidFill>
                          <a:latin typeface="Segoe UI" pitchFamily="34" charset="0"/>
                          <a:ea typeface="Segoe UI" pitchFamily="34" charset="-122"/>
                          <a:cs typeface="Segoe UI" pitchFamily="34" charset="-120"/>
                        </a:rPr>
                        <a:t>direction × speed × deltaTime</a:t>
                      </a:r>
                      <a:endParaRPr lang="en-US" sz="1500" dirty="0">
                        <a:latin typeface="Segoe UI" charset="0"/>
                        <a:ea typeface="Segoe UI" charset="0"/>
                        <a:cs typeface="Segoe UI"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500" dirty="0">
                          <a:solidFill>
                            <a:srgbClr val="2354A6"/>
                          </a:solidFill>
                          <a:latin typeface="Consolas" pitchFamily="34" charset="0"/>
                          <a:ea typeface="Consolas" pitchFamily="34" charset="-122"/>
                          <a:cs typeface="Consolas" pitchFamily="34" charset="-120"/>
                        </a:rPr>
                        <a:t>v.magnitude</a:t>
                      </a:r>
                      <a:endParaRPr lang="en-US" sz="1500" dirty="0">
                        <a:latin typeface="Consolas" charset="0"/>
                        <a:ea typeface="Consolas" charset="0"/>
                        <a:cs typeface="Consolas"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8202E"/>
                          </a:solidFill>
                          <a:latin typeface="Segoe UI" pitchFamily="34" charset="0"/>
                          <a:ea typeface="Segoe UI" pitchFamily="34" charset="-122"/>
                          <a:cs typeface="Segoe UI" pitchFamily="34" charset="-120"/>
                        </a:rPr>
                        <a:t>length</a:t>
                      </a:r>
                      <a:endParaRPr lang="en-US" sz="1500" dirty="0">
                        <a:latin typeface="Segoe UI" charset="0"/>
                        <a:ea typeface="Segoe UI" charset="0"/>
                        <a:cs typeface="Segoe UI"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8202E"/>
                          </a:solidFill>
                          <a:latin typeface="Segoe UI" pitchFamily="34" charset="0"/>
                          <a:ea typeface="Segoe UI" pitchFamily="34" charset="-122"/>
                          <a:cs typeface="Segoe UI" pitchFamily="34" charset="-120"/>
                        </a:rPr>
                        <a:t>(3, 4) → 5</a:t>
                      </a:r>
                      <a:endParaRPr lang="en-US" sz="1500" dirty="0">
                        <a:latin typeface="Segoe UI" charset="0"/>
                        <a:ea typeface="Segoe UI" charset="0"/>
                        <a:cs typeface="Segoe UI"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500" dirty="0">
                          <a:solidFill>
                            <a:srgbClr val="2354A6"/>
                          </a:solidFill>
                          <a:latin typeface="Consolas" pitchFamily="34" charset="0"/>
                          <a:ea typeface="Consolas" pitchFamily="34" charset="-122"/>
                          <a:cs typeface="Consolas" pitchFamily="34" charset="-120"/>
                        </a:rPr>
                        <a:t>v.normalized</a:t>
                      </a:r>
                      <a:endParaRPr lang="en-US" sz="1500" dirty="0">
                        <a:latin typeface="Consolas" charset="0"/>
                        <a:ea typeface="Consolas" charset="0"/>
                        <a:cs typeface="Consolas"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8202E"/>
                          </a:solidFill>
                          <a:latin typeface="Segoe UI" pitchFamily="34" charset="0"/>
                          <a:ea typeface="Segoe UI" pitchFamily="34" charset="-122"/>
                          <a:cs typeface="Segoe UI" pitchFamily="34" charset="-120"/>
                        </a:rPr>
                        <a:t>direction only, length 1</a:t>
                      </a:r>
                      <a:endParaRPr lang="en-US" sz="1500" dirty="0">
                        <a:latin typeface="Segoe UI" charset="0"/>
                        <a:ea typeface="Segoe UI" charset="0"/>
                        <a:cs typeface="Segoe UI"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c>
                  <a:txBody>
                    <a:bodyPr/>
                    <a:lstStyle/>
                    <a:p>
                      <a:pPr indent="0" marL="0">
                        <a:buNone/>
                      </a:pPr>
                      <a:r>
                        <a:rPr lang="en-US" sz="1500" dirty="0">
                          <a:solidFill>
                            <a:srgbClr val="18202E"/>
                          </a:solidFill>
                          <a:latin typeface="Segoe UI" pitchFamily="34" charset="0"/>
                          <a:ea typeface="Segoe UI" pitchFamily="34" charset="-122"/>
                          <a:cs typeface="Segoe UI" pitchFamily="34" charset="-120"/>
                        </a:rPr>
                        <a:t>fixes the diagonal bug</a:t>
                      </a:r>
                      <a:endParaRPr lang="en-US" sz="1500" dirty="0">
                        <a:latin typeface="Segoe UI" charset="0"/>
                        <a:ea typeface="Segoe UI" charset="0"/>
                        <a:cs typeface="Segoe UI" charset="0"/>
                      </a:endParaRPr>
                    </a:p>
                  </a:txBody>
                  <a:tcPr marL="0" marR="76200" marT="50800" marB="50800" anchor="ctr">
                    <a:lnL w="0" cap="flat" cmpd="sng" algn="ctr">
                      <a:noFill/>
                    </a:lnL>
                    <a:lnR w="0" cap="flat" cmpd="sng" algn="ctr">
                      <a:noFill/>
                    </a:lnR>
                    <a:lnT w="0" cap="flat" cmpd="sng" algn="ctr">
                      <a:noFill/>
                    </a:lnT>
                    <a:lnB w="9525" cap="flat" cmpd="sng" algn="ctr">
                      <a:solidFill>
                        <a:srgbClr val="D5DBE3"/>
                      </a:solidFill>
                      <a:prstDash val="solid"/>
                      <a:round/>
                      <a:headEnd type="none" w="med" len="med"/>
                      <a:tailEnd type="none" w="med" len="med"/>
                    </a:lnB>
                  </a:tcPr>
                </a:tc>
              </a:tr>
            </a:tbl>
          </a:graphicData>
        </a:graphic>
      </p:graphicFrame>
      <p:sp>
        <p:nvSpPr>
          <p:cNvPr id="7" name="Text 3"/>
          <p:cNvSpPr txBox="1"/>
          <p:nvPr/>
        </p:nvSpPr>
        <p:spPr>
          <a:xfrm>
            <a:off x="548640" y="4800600"/>
            <a:ext cx="6766560" cy="640080"/>
          </a:xfrm>
          <a:prstGeom prst="rect">
            <a:avLst/>
          </a:prstGeom>
          <a:noFill/>
          <a:ln/>
        </p:spPr>
        <p:txBody>
          <a:bodyPr wrap="square" lIns="0" tIns="0" rIns="0" bIns="0" rtlCol="0" anchor="t"/>
          <a:lstStyle/>
          <a:p>
            <a:pPr indent="0" marL="0">
              <a:buNone/>
            </a:pPr>
            <a:r>
              <a:rPr lang="en-US" sz="1600" dirty="0">
                <a:solidFill>
                  <a:srgbClr val="364255"/>
                </a:solidFill>
                <a:latin typeface="Segoe UI" pitchFamily="34" charset="0"/>
                <a:ea typeface="Segoe UI" pitchFamily="34" charset="-122"/>
                <a:cs typeface="Segoe UI" pitchFamily="34" charset="-120"/>
              </a:rPr>
              <a:t>One type, two roles: a point or a displacement. The operation decides.</a:t>
            </a:r>
            <a:endParaRPr lang="en-US" sz="1600" dirty="0"/>
          </a:p>
        </p:txBody>
      </p:sp>
      <p:sp>
        <p:nvSpPr>
          <p:cNvPr id="8" name="Shape 4"/>
          <p:cNvSpPr/>
          <p:nvPr/>
        </p:nvSpPr>
        <p:spPr>
          <a:xfrm>
            <a:off x="7589520" y="1645920"/>
            <a:ext cx="4050792" cy="1783080"/>
          </a:xfrm>
          <a:prstGeom prst="rect">
            <a:avLst/>
          </a:prstGeom>
          <a:solidFill>
            <a:srgbClr val="FBF0DC"/>
          </a:solidFill>
          <a:ln/>
        </p:spPr>
      </p:sp>
      <p:sp>
        <p:nvSpPr>
          <p:cNvPr id="9" name="Text 5"/>
          <p:cNvSpPr txBox="1"/>
          <p:nvPr/>
        </p:nvSpPr>
        <p:spPr>
          <a:xfrm>
            <a:off x="7818120" y="1783080"/>
            <a:ext cx="3657600" cy="365760"/>
          </a:xfrm>
          <a:prstGeom prst="rect">
            <a:avLst/>
          </a:prstGeom>
          <a:noFill/>
          <a:ln/>
        </p:spPr>
        <p:txBody>
          <a:bodyPr wrap="square" lIns="0" tIns="0" rIns="0" bIns="0" rtlCol="0" anchor="t"/>
          <a:lstStyle/>
          <a:p>
            <a:pPr indent="0" marL="0">
              <a:buNone/>
            </a:pPr>
            <a:r>
              <a:rPr lang="en-US" sz="1800" dirty="0">
                <a:solidFill>
                  <a:srgbClr val="8A5200"/>
                </a:solidFill>
                <a:latin typeface="Segoe UI Semibold" pitchFamily="34" charset="0"/>
                <a:ea typeface="Segoe UI Semibold" pitchFamily="34" charset="-122"/>
                <a:cs typeface="Segoe UI Semibold" pitchFamily="34" charset="-120"/>
              </a:rPr>
              <a:t>The √2 bug</a:t>
            </a:r>
            <a:endParaRPr lang="en-US" sz="1800" dirty="0"/>
          </a:p>
        </p:txBody>
      </p:sp>
      <p:sp>
        <p:nvSpPr>
          <p:cNvPr id="10" name="Text 6"/>
          <p:cNvSpPr txBox="1"/>
          <p:nvPr/>
        </p:nvSpPr>
        <p:spPr>
          <a:xfrm>
            <a:off x="7818120" y="2194560"/>
            <a:ext cx="3657600" cy="1143000"/>
          </a:xfrm>
          <a:prstGeom prst="rect">
            <a:avLst/>
          </a:prstGeom>
          <a:noFill/>
          <a:ln/>
        </p:spPr>
        <p:txBody>
          <a:bodyPr wrap="square" lIns="0" tIns="0" rIns="0" bIns="0" rtlCol="0" anchor="t"/>
          <a:lstStyle/>
          <a:p>
            <a:pPr indent="0" marL="0">
              <a:buNone/>
            </a:pPr>
            <a:r>
              <a:rPr lang="en-US" sz="1500" dirty="0">
                <a:solidFill>
                  <a:srgbClr val="364255"/>
                </a:solidFill>
                <a:latin typeface="Segoe UI" pitchFamily="34" charset="0"/>
                <a:ea typeface="Segoe UI" pitchFamily="34" charset="-122"/>
                <a:cs typeface="Segoe UI" pitchFamily="34" charset="-120"/>
              </a:rPr>
              <a:t>(1, 1) has length 1.41, so diagonal movement is 41% faster. Normalize before applying speed.</a:t>
            </a:r>
            <a:endParaRPr lang="en-US" sz="1500" dirty="0"/>
          </a:p>
        </p:txBody>
      </p:sp>
      <p:sp>
        <p:nvSpPr>
          <p:cNvPr id="11" name="Shape 7"/>
          <p:cNvSpPr/>
          <p:nvPr/>
        </p:nvSpPr>
        <p:spPr>
          <a:xfrm>
            <a:off x="7589520" y="3611880"/>
            <a:ext cx="4050792" cy="2194560"/>
          </a:xfrm>
          <a:prstGeom prst="rect">
            <a:avLst/>
          </a:prstGeom>
          <a:solidFill>
            <a:srgbClr val="F0F3F7"/>
          </a:solidFill>
          <a:ln/>
        </p:spPr>
      </p:sp>
      <p:sp>
        <p:nvSpPr>
          <p:cNvPr id="12" name="Text 8"/>
          <p:cNvSpPr txBox="1"/>
          <p:nvPr/>
        </p:nvSpPr>
        <p:spPr>
          <a:xfrm>
            <a:off x="7818120" y="3749040"/>
            <a:ext cx="3657600" cy="365760"/>
          </a:xfrm>
          <a:prstGeom prst="rect">
            <a:avLst/>
          </a:prstGeom>
          <a:noFill/>
          <a:ln/>
        </p:spPr>
        <p:txBody>
          <a:bodyPr wrap="square" lIns="0" tIns="0" rIns="0" bIns="0" rtlCol="0" anchor="t"/>
          <a:lstStyle/>
          <a:p>
            <a:pPr indent="0" marL="0">
              <a:buNone/>
            </a:pPr>
            <a:r>
              <a:rPr lang="en-US" sz="1800" dirty="0">
                <a:solidFill>
                  <a:srgbClr val="18202E"/>
                </a:solidFill>
                <a:latin typeface="Segoe UI Semibold" pitchFamily="34" charset="0"/>
                <a:ea typeface="Segoe UI Semibold" pitchFamily="34" charset="-122"/>
                <a:cs typeface="Segoe UI Semibold" pitchFamily="34" charset="-120"/>
              </a:rPr>
              <a:t>Vectors are structs</a:t>
            </a:r>
            <a:endParaRPr lang="en-US" sz="1800" dirty="0"/>
          </a:p>
        </p:txBody>
      </p:sp>
      <p:sp>
        <p:nvSpPr>
          <p:cNvPr id="13" name="Text 9"/>
          <p:cNvSpPr txBox="1"/>
          <p:nvPr/>
        </p:nvSpPr>
        <p:spPr>
          <a:xfrm>
            <a:off x="7818120" y="4251960"/>
            <a:ext cx="3749040" cy="1463040"/>
          </a:xfrm>
          <a:prstGeom prst="rect">
            <a:avLst/>
          </a:prstGeom>
          <a:noFill/>
          <a:ln/>
        </p:spPr>
        <p:txBody>
          <a:bodyPr wrap="square" lIns="0" tIns="0" rIns="0" bIns="0" rtlCol="0" anchor="t"/>
          <a:lstStyle/>
          <a:p>
            <a:pPr indent="0" marL="0">
              <a:lnSpc>
                <a:spcPct val="115000"/>
              </a:lnSpc>
              <a:buNone/>
            </a:pPr>
            <a:r>
              <a:rPr lang="en-US" sz="1400" dirty="0">
                <a:solidFill>
                  <a:srgbClr val="18202E"/>
                </a:solidFill>
                <a:latin typeface="Consolas" pitchFamily="34" charset="0"/>
                <a:ea typeface="Consolas" pitchFamily="34" charset="-122"/>
                <a:cs typeface="Consolas" pitchFamily="34" charset="-120"/>
              </a:rPr>
              <a:t>transform.position.x = 5f; // error</a:t>
            </a:r>
            <a:endParaRPr lang="en-US" sz="1400" dirty="0"/>
          </a:p>
          <a:p>
            <a:pPr indent="0" marL="0">
              <a:lnSpc>
                <a:spcPct val="115000"/>
              </a:lnSpc>
              <a:buNone/>
            </a:pPr>
            <a:r>
              <a:rPr lang="en-US" sz="1400" dirty="0">
                <a:solidFill>
                  <a:srgbClr val="18202E"/>
                </a:solidFill>
                <a:latin typeface="Consolas" pitchFamily="34" charset="0"/>
                <a:ea typeface="Consolas" pitchFamily="34" charset="-122"/>
                <a:cs typeface="Consolas" pitchFamily="34" charset="-120"/>
              </a:rPr>
              <a:t>Vector3 p = transform.position;</a:t>
            </a:r>
            <a:endParaRPr lang="en-US" sz="1400" dirty="0"/>
          </a:p>
          <a:p>
            <a:pPr indent="0" marL="0">
              <a:lnSpc>
                <a:spcPct val="115000"/>
              </a:lnSpc>
              <a:buNone/>
            </a:pPr>
            <a:r>
              <a:rPr lang="en-US" sz="1400" dirty="0">
                <a:solidFill>
                  <a:srgbClr val="18202E"/>
                </a:solidFill>
                <a:latin typeface="Consolas" pitchFamily="34" charset="0"/>
                <a:ea typeface="Consolas" pitchFamily="34" charset="-122"/>
                <a:cs typeface="Consolas" pitchFamily="34" charset="-120"/>
              </a:rPr>
              <a:t>p.x = 5f;</a:t>
            </a:r>
            <a:endParaRPr lang="en-US" sz="1400" dirty="0"/>
          </a:p>
          <a:p>
            <a:pPr indent="0" marL="0">
              <a:lnSpc>
                <a:spcPct val="115000"/>
              </a:lnSpc>
              <a:buNone/>
            </a:pPr>
            <a:r>
              <a:rPr lang="en-US" sz="1400" dirty="0">
                <a:solidFill>
                  <a:srgbClr val="18202E"/>
                </a:solidFill>
                <a:latin typeface="Consolas" pitchFamily="34" charset="0"/>
                <a:ea typeface="Consolas" pitchFamily="34" charset="-122"/>
                <a:cs typeface="Consolas" pitchFamily="34" charset="-120"/>
              </a:rPr>
              <a:t>transform.position = p;</a:t>
            </a:r>
            <a:endParaRPr lang="en-US" sz="14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4 · 2D SPACE</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How big is a sprite?</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Text 3"/>
          <p:cNvSpPr txBox="1"/>
          <p:nvPr/>
        </p:nvSpPr>
        <p:spPr>
          <a:xfrm>
            <a:off x="548640" y="1508760"/>
            <a:ext cx="11094415" cy="411480"/>
          </a:xfrm>
          <a:prstGeom prst="rect">
            <a:avLst/>
          </a:prstGeom>
          <a:noFill/>
          <a:ln/>
        </p:spPr>
        <p:txBody>
          <a:bodyPr wrap="square" lIns="0" tIns="0" rIns="0" bIns="0" rtlCol="0" anchor="t"/>
          <a:lstStyle/>
          <a:p>
            <a:pPr indent="0" marL="0">
              <a:buNone/>
            </a:pPr>
            <a:r>
              <a:rPr lang="en-US" sz="1500" b="1" dirty="0">
                <a:solidFill>
                  <a:srgbClr val="364255"/>
                </a:solidFill>
                <a:latin typeface="Segoe UI" pitchFamily="34" charset="0"/>
                <a:ea typeface="Segoe UI" pitchFamily="34" charset="-122"/>
                <a:cs typeface="Segoe UI" pitchFamily="34" charset="-120"/>
              </a:rPr>
              <a:t>Texture</a:t>
            </a:r>
            <a:pPr indent="0" marL="0">
              <a:buNone/>
            </a:pPr>
            <a:r>
              <a:rPr lang="en-US" sz="1500" dirty="0">
                <a:solidFill>
                  <a:srgbClr val="364255"/>
                </a:solidFill>
                <a:latin typeface="Segoe UI" pitchFamily="34" charset="0"/>
                <a:ea typeface="Segoe UI" pitchFamily="34" charset="-122"/>
                <a:cs typeface="Segoe UI" pitchFamily="34" charset="-120"/>
              </a:rPr>
              <a:t>: the image file   ·   </a:t>
            </a:r>
            <a:pPr indent="0" marL="0">
              <a:buNone/>
            </a:pPr>
            <a:r>
              <a:rPr lang="en-US" sz="1500" b="1" dirty="0">
                <a:solidFill>
                  <a:srgbClr val="364255"/>
                </a:solidFill>
                <a:latin typeface="Segoe UI" pitchFamily="34" charset="0"/>
                <a:ea typeface="Segoe UI" pitchFamily="34" charset="-122"/>
                <a:cs typeface="Segoe UI" pitchFamily="34" charset="-120"/>
              </a:rPr>
              <a:t>Sprite</a:t>
            </a:r>
            <a:pPr indent="0" marL="0">
              <a:buNone/>
            </a:pPr>
            <a:r>
              <a:rPr lang="en-US" sz="1500" dirty="0">
                <a:solidFill>
                  <a:srgbClr val="364255"/>
                </a:solidFill>
                <a:latin typeface="Segoe UI" pitchFamily="34" charset="0"/>
                <a:ea typeface="Segoe UI" pitchFamily="34" charset="-122"/>
                <a:cs typeface="Segoe UI" pitchFamily="34" charset="-120"/>
              </a:rPr>
              <a:t>: a region of it, with PPU and pivot   ·   </a:t>
            </a:r>
            <a:pPr indent="0" marL="0">
              <a:buNone/>
            </a:pPr>
            <a:r>
              <a:rPr lang="en-US" sz="1500" b="1" dirty="0">
                <a:solidFill>
                  <a:srgbClr val="364255"/>
                </a:solidFill>
                <a:latin typeface="Segoe UI" pitchFamily="34" charset="0"/>
                <a:ea typeface="Segoe UI" pitchFamily="34" charset="-122"/>
                <a:cs typeface="Segoe UI" pitchFamily="34" charset="-120"/>
              </a:rPr>
              <a:t>SpriteRenderer</a:t>
            </a:r>
            <a:pPr indent="0" marL="0">
              <a:buNone/>
            </a:pPr>
            <a:r>
              <a:rPr lang="en-US" sz="1500" dirty="0">
                <a:solidFill>
                  <a:srgbClr val="364255"/>
                </a:solidFill>
                <a:latin typeface="Segoe UI" pitchFamily="34" charset="0"/>
                <a:ea typeface="Segoe UI" pitchFamily="34" charset="-122"/>
                <a:cs typeface="Segoe UI" pitchFamily="34" charset="-120"/>
              </a:rPr>
              <a:t>: the component that draws it</a:t>
            </a:r>
            <a:endParaRPr lang="en-US" sz="1500" dirty="0"/>
          </a:p>
        </p:txBody>
      </p:sp>
      <p:sp>
        <p:nvSpPr>
          <p:cNvPr id="7" name="Shape 4"/>
          <p:cNvSpPr/>
          <p:nvPr/>
        </p:nvSpPr>
        <p:spPr>
          <a:xfrm>
            <a:off x="548640" y="2103120"/>
            <a:ext cx="5394960" cy="3063240"/>
          </a:xfrm>
          <a:prstGeom prst="rect">
            <a:avLst/>
          </a:prstGeom>
          <a:solidFill>
            <a:srgbClr val="F0F3F7"/>
          </a:solidFill>
          <a:ln/>
        </p:spPr>
      </p:sp>
      <p:sp>
        <p:nvSpPr>
          <p:cNvPr id="8" name="Text 5"/>
          <p:cNvSpPr txBox="1"/>
          <p:nvPr/>
        </p:nvSpPr>
        <p:spPr>
          <a:xfrm>
            <a:off x="822960" y="2267712"/>
            <a:ext cx="4846320" cy="365760"/>
          </a:xfrm>
          <a:prstGeom prst="rect">
            <a:avLst/>
          </a:prstGeom>
          <a:noFill/>
          <a:ln/>
        </p:spPr>
        <p:txBody>
          <a:bodyPr wrap="square" lIns="0" tIns="0" rIns="0" bIns="0" rtlCol="0" anchor="t"/>
          <a:lstStyle/>
          <a:p>
            <a:pPr indent="0" marL="0">
              <a:buNone/>
            </a:pPr>
            <a:r>
              <a:rPr lang="en-US" sz="1800" dirty="0">
                <a:solidFill>
                  <a:srgbClr val="18202E"/>
                </a:solidFill>
                <a:latin typeface="Segoe UI Semibold" pitchFamily="34" charset="0"/>
                <a:ea typeface="Segoe UI Semibold" pitchFamily="34" charset="-122"/>
                <a:cs typeface="Segoe UI Semibold" pitchFamily="34" charset="-120"/>
              </a:rPr>
              <a:t>Pixels Per Unit</a:t>
            </a:r>
            <a:endParaRPr lang="en-US" sz="1800" dirty="0"/>
          </a:p>
        </p:txBody>
      </p:sp>
      <p:sp>
        <p:nvSpPr>
          <p:cNvPr id="9" name="Shape 6"/>
          <p:cNvSpPr/>
          <p:nvPr/>
        </p:nvSpPr>
        <p:spPr>
          <a:xfrm>
            <a:off x="960120" y="2834640"/>
            <a:ext cx="0" cy="1645920"/>
          </a:xfrm>
          <a:prstGeom prst="line">
            <a:avLst/>
          </a:prstGeom>
          <a:noFill/>
          <a:ln w="12700">
            <a:solidFill>
              <a:srgbClr val="B9CBEA"/>
            </a:solidFill>
            <a:prstDash val="solid"/>
          </a:ln>
        </p:spPr>
      </p:sp>
      <p:sp>
        <p:nvSpPr>
          <p:cNvPr id="10" name="Shape 7"/>
          <p:cNvSpPr/>
          <p:nvPr/>
        </p:nvSpPr>
        <p:spPr>
          <a:xfrm>
            <a:off x="1783080" y="2834640"/>
            <a:ext cx="0" cy="1645920"/>
          </a:xfrm>
          <a:prstGeom prst="line">
            <a:avLst/>
          </a:prstGeom>
          <a:noFill/>
          <a:ln w="12700">
            <a:solidFill>
              <a:srgbClr val="B9CBEA"/>
            </a:solidFill>
            <a:prstDash val="solid"/>
          </a:ln>
        </p:spPr>
      </p:sp>
      <p:sp>
        <p:nvSpPr>
          <p:cNvPr id="11" name="Shape 8"/>
          <p:cNvSpPr/>
          <p:nvPr/>
        </p:nvSpPr>
        <p:spPr>
          <a:xfrm>
            <a:off x="2606040" y="2834640"/>
            <a:ext cx="0" cy="1645920"/>
          </a:xfrm>
          <a:prstGeom prst="line">
            <a:avLst/>
          </a:prstGeom>
          <a:noFill/>
          <a:ln w="12700">
            <a:solidFill>
              <a:srgbClr val="B9CBEA"/>
            </a:solidFill>
            <a:prstDash val="solid"/>
          </a:ln>
        </p:spPr>
      </p:sp>
      <p:sp>
        <p:nvSpPr>
          <p:cNvPr id="12" name="Shape 9"/>
          <p:cNvSpPr/>
          <p:nvPr/>
        </p:nvSpPr>
        <p:spPr>
          <a:xfrm>
            <a:off x="3429000" y="2834640"/>
            <a:ext cx="0" cy="1645920"/>
          </a:xfrm>
          <a:prstGeom prst="line">
            <a:avLst/>
          </a:prstGeom>
          <a:noFill/>
          <a:ln w="12700">
            <a:solidFill>
              <a:srgbClr val="B9CBEA"/>
            </a:solidFill>
            <a:prstDash val="solid"/>
          </a:ln>
        </p:spPr>
      </p:sp>
      <p:sp>
        <p:nvSpPr>
          <p:cNvPr id="13" name="Shape 10"/>
          <p:cNvSpPr/>
          <p:nvPr/>
        </p:nvSpPr>
        <p:spPr>
          <a:xfrm>
            <a:off x="4251960" y="2834640"/>
            <a:ext cx="0" cy="1645920"/>
          </a:xfrm>
          <a:prstGeom prst="line">
            <a:avLst/>
          </a:prstGeom>
          <a:noFill/>
          <a:ln w="12700">
            <a:solidFill>
              <a:srgbClr val="B9CBEA"/>
            </a:solidFill>
            <a:prstDash val="solid"/>
          </a:ln>
        </p:spPr>
      </p:sp>
      <p:sp>
        <p:nvSpPr>
          <p:cNvPr id="14" name="Shape 11"/>
          <p:cNvSpPr/>
          <p:nvPr/>
        </p:nvSpPr>
        <p:spPr>
          <a:xfrm>
            <a:off x="960120" y="2834640"/>
            <a:ext cx="3291840" cy="0"/>
          </a:xfrm>
          <a:prstGeom prst="line">
            <a:avLst/>
          </a:prstGeom>
          <a:noFill/>
          <a:ln w="12700">
            <a:solidFill>
              <a:srgbClr val="B9CBEA"/>
            </a:solidFill>
            <a:prstDash val="solid"/>
          </a:ln>
        </p:spPr>
      </p:sp>
      <p:sp>
        <p:nvSpPr>
          <p:cNvPr id="15" name="Shape 12"/>
          <p:cNvSpPr/>
          <p:nvPr/>
        </p:nvSpPr>
        <p:spPr>
          <a:xfrm>
            <a:off x="960120" y="3657600"/>
            <a:ext cx="3291840" cy="0"/>
          </a:xfrm>
          <a:prstGeom prst="line">
            <a:avLst/>
          </a:prstGeom>
          <a:noFill/>
          <a:ln w="12700">
            <a:solidFill>
              <a:srgbClr val="B9CBEA"/>
            </a:solidFill>
            <a:prstDash val="solid"/>
          </a:ln>
        </p:spPr>
      </p:sp>
      <p:sp>
        <p:nvSpPr>
          <p:cNvPr id="16" name="Shape 13"/>
          <p:cNvSpPr/>
          <p:nvPr/>
        </p:nvSpPr>
        <p:spPr>
          <a:xfrm>
            <a:off x="960120" y="4480560"/>
            <a:ext cx="3291840" cy="0"/>
          </a:xfrm>
          <a:prstGeom prst="line">
            <a:avLst/>
          </a:prstGeom>
          <a:noFill/>
          <a:ln w="12700">
            <a:solidFill>
              <a:srgbClr val="B9CBEA"/>
            </a:solidFill>
            <a:prstDash val="solid"/>
          </a:ln>
        </p:spPr>
      </p:sp>
      <p:sp>
        <p:nvSpPr>
          <p:cNvPr id="17" name="Shape 14"/>
          <p:cNvSpPr/>
          <p:nvPr/>
        </p:nvSpPr>
        <p:spPr>
          <a:xfrm>
            <a:off x="960120" y="2834640"/>
            <a:ext cx="822960" cy="822960"/>
          </a:xfrm>
          <a:prstGeom prst="rect">
            <a:avLst/>
          </a:prstGeom>
          <a:solidFill>
            <a:srgbClr val="2354A6">
              <a:alpha val="90000"/>
            </a:srgbClr>
          </a:solidFill>
          <a:ln/>
        </p:spPr>
      </p:sp>
      <p:sp>
        <p:nvSpPr>
          <p:cNvPr id="18" name="Shape 15"/>
          <p:cNvSpPr/>
          <p:nvPr/>
        </p:nvSpPr>
        <p:spPr>
          <a:xfrm>
            <a:off x="2943454" y="3172054"/>
            <a:ext cx="148133" cy="148133"/>
          </a:xfrm>
          <a:prstGeom prst="rect">
            <a:avLst/>
          </a:prstGeom>
          <a:solidFill>
            <a:srgbClr val="D2453A"/>
          </a:solidFill>
          <a:ln/>
        </p:spPr>
      </p:sp>
      <p:sp>
        <p:nvSpPr>
          <p:cNvPr id="19" name="Text 16"/>
          <p:cNvSpPr txBox="1"/>
          <p:nvPr/>
        </p:nvSpPr>
        <p:spPr>
          <a:xfrm>
            <a:off x="4361688" y="2834640"/>
            <a:ext cx="1188720" cy="548640"/>
          </a:xfrm>
          <a:prstGeom prst="rect">
            <a:avLst/>
          </a:prstGeom>
          <a:noFill/>
          <a:ln/>
        </p:spPr>
        <p:txBody>
          <a:bodyPr wrap="square" lIns="0" tIns="0" rIns="0" bIns="0" rtlCol="0" anchor="t"/>
          <a:lstStyle/>
          <a:p>
            <a:pPr indent="0" marL="0">
              <a:buNone/>
            </a:pPr>
            <a:r>
              <a:rPr lang="en-US" sz="1200" dirty="0">
                <a:solidFill>
                  <a:srgbClr val="5B6678"/>
                </a:solidFill>
                <a:latin typeface="Segoe UI" pitchFamily="34" charset="0"/>
                <a:ea typeface="Segoe UI" pitchFamily="34" charset="-122"/>
                <a:cs typeface="Segoe UI" pitchFamily="34" charset="-120"/>
              </a:rPr>
              <a:t>one cell = 1 unit</a:t>
            </a:r>
            <a:endParaRPr lang="en-US" sz="1200" dirty="0"/>
          </a:p>
        </p:txBody>
      </p:sp>
      <p:sp>
        <p:nvSpPr>
          <p:cNvPr id="20" name="Text 17"/>
          <p:cNvSpPr txBox="1"/>
          <p:nvPr/>
        </p:nvSpPr>
        <p:spPr>
          <a:xfrm>
            <a:off x="914400" y="4572000"/>
            <a:ext cx="1463040" cy="548640"/>
          </a:xfrm>
          <a:prstGeom prst="rect">
            <a:avLst/>
          </a:prstGeom>
          <a:noFill/>
          <a:ln/>
        </p:spPr>
        <p:txBody>
          <a:bodyPr wrap="square" lIns="0" tIns="0" rIns="0" bIns="0" rtlCol="0" anchor="t"/>
          <a:lstStyle/>
          <a:p>
            <a:pPr indent="0" marL="0">
              <a:buNone/>
            </a:pPr>
            <a:r>
              <a:rPr lang="en-US" sz="1300" b="1" dirty="0">
                <a:solidFill>
                  <a:srgbClr val="2354A6"/>
                </a:solidFill>
                <a:latin typeface="Segoe UI" pitchFamily="34" charset="0"/>
                <a:ea typeface="Segoe UI" pitchFamily="34" charset="-122"/>
                <a:cs typeface="Segoe UI" pitchFamily="34" charset="-120"/>
              </a:rPr>
              <a:t>PPU 18</a:t>
            </a:r>
            <a:endParaRPr lang="en-US" sz="1300" dirty="0"/>
          </a:p>
          <a:p>
            <a:pPr indent="0" marL="0">
              <a:buNone/>
            </a:pPr>
            <a:r>
              <a:rPr lang="en-US" sz="1300" dirty="0">
                <a:solidFill>
                  <a:srgbClr val="2354A6"/>
                </a:solidFill>
                <a:latin typeface="Segoe UI" pitchFamily="34" charset="0"/>
                <a:ea typeface="Segoe UI" pitchFamily="34" charset="-122"/>
                <a:cs typeface="Segoe UI" pitchFamily="34" charset="-120"/>
              </a:rPr>
              <a:t>1 × 1 unit</a:t>
            </a:r>
            <a:endParaRPr lang="en-US" sz="1300" dirty="0"/>
          </a:p>
        </p:txBody>
      </p:sp>
      <p:sp>
        <p:nvSpPr>
          <p:cNvPr id="21" name="Text 18"/>
          <p:cNvSpPr txBox="1"/>
          <p:nvPr/>
        </p:nvSpPr>
        <p:spPr>
          <a:xfrm>
            <a:off x="2560320" y="4572000"/>
            <a:ext cx="1828800" cy="548640"/>
          </a:xfrm>
          <a:prstGeom prst="rect">
            <a:avLst/>
          </a:prstGeom>
          <a:noFill/>
          <a:ln/>
        </p:spPr>
        <p:txBody>
          <a:bodyPr wrap="square" lIns="0" tIns="0" rIns="0" bIns="0" rtlCol="0" anchor="t"/>
          <a:lstStyle/>
          <a:p>
            <a:pPr indent="0" marL="0">
              <a:buNone/>
            </a:pPr>
            <a:r>
              <a:rPr lang="en-US" sz="1300" b="1" dirty="0">
                <a:solidFill>
                  <a:srgbClr val="D2453A"/>
                </a:solidFill>
                <a:latin typeface="Segoe UI" pitchFamily="34" charset="0"/>
                <a:ea typeface="Segoe UI" pitchFamily="34" charset="-122"/>
                <a:cs typeface="Segoe UI" pitchFamily="34" charset="-120"/>
              </a:rPr>
              <a:t>PPU 100 (default)</a:t>
            </a:r>
            <a:endParaRPr lang="en-US" sz="1300" dirty="0"/>
          </a:p>
          <a:p>
            <a:pPr indent="0" marL="0">
              <a:buNone/>
            </a:pPr>
            <a:r>
              <a:rPr lang="en-US" sz="1300" dirty="0">
                <a:solidFill>
                  <a:srgbClr val="D2453A"/>
                </a:solidFill>
                <a:latin typeface="Segoe UI" pitchFamily="34" charset="0"/>
                <a:ea typeface="Segoe UI" pitchFamily="34" charset="-122"/>
                <a:cs typeface="Segoe UI" pitchFamily="34" charset="-120"/>
              </a:rPr>
              <a:t>0.18 units</a:t>
            </a:r>
            <a:endParaRPr lang="en-US" sz="1300" dirty="0"/>
          </a:p>
        </p:txBody>
      </p:sp>
      <p:sp>
        <p:nvSpPr>
          <p:cNvPr id="22" name="Shape 19"/>
          <p:cNvSpPr/>
          <p:nvPr/>
        </p:nvSpPr>
        <p:spPr>
          <a:xfrm>
            <a:off x="6245352" y="2103120"/>
            <a:ext cx="5394960" cy="3063240"/>
          </a:xfrm>
          <a:prstGeom prst="rect">
            <a:avLst/>
          </a:prstGeom>
          <a:solidFill>
            <a:srgbClr val="F0F3F7"/>
          </a:solidFill>
          <a:ln/>
        </p:spPr>
      </p:sp>
      <p:sp>
        <p:nvSpPr>
          <p:cNvPr id="23" name="Text 20"/>
          <p:cNvSpPr txBox="1"/>
          <p:nvPr/>
        </p:nvSpPr>
        <p:spPr>
          <a:xfrm>
            <a:off x="6519672" y="2267712"/>
            <a:ext cx="4846320" cy="365760"/>
          </a:xfrm>
          <a:prstGeom prst="rect">
            <a:avLst/>
          </a:prstGeom>
          <a:noFill/>
          <a:ln/>
        </p:spPr>
        <p:txBody>
          <a:bodyPr wrap="square" lIns="0" tIns="0" rIns="0" bIns="0" rtlCol="0" anchor="t"/>
          <a:lstStyle/>
          <a:p>
            <a:pPr indent="0" marL="0">
              <a:buNone/>
            </a:pPr>
            <a:r>
              <a:rPr lang="en-US" sz="1800" dirty="0">
                <a:solidFill>
                  <a:srgbClr val="18202E"/>
                </a:solidFill>
                <a:latin typeface="Segoe UI Semibold" pitchFamily="34" charset="0"/>
                <a:ea typeface="Segoe UI Semibold" pitchFamily="34" charset="-122"/>
                <a:cs typeface="Segoe UI Semibold" pitchFamily="34" charset="-120"/>
              </a:rPr>
              <a:t>Pivot</a:t>
            </a:r>
            <a:endParaRPr lang="en-US" sz="1800" dirty="0"/>
          </a:p>
        </p:txBody>
      </p:sp>
      <p:sp>
        <p:nvSpPr>
          <p:cNvPr id="24" name="Shape 21"/>
          <p:cNvSpPr/>
          <p:nvPr/>
        </p:nvSpPr>
        <p:spPr>
          <a:xfrm>
            <a:off x="7114032" y="3794760"/>
            <a:ext cx="640080" cy="1097280"/>
          </a:xfrm>
          <a:prstGeom prst="rect">
            <a:avLst/>
          </a:prstGeom>
          <a:solidFill>
            <a:srgbClr val="B9CBEA"/>
          </a:solidFill>
          <a:ln/>
        </p:spPr>
      </p:sp>
      <p:sp>
        <p:nvSpPr>
          <p:cNvPr id="25" name="Shape 22"/>
          <p:cNvSpPr/>
          <p:nvPr/>
        </p:nvSpPr>
        <p:spPr>
          <a:xfrm>
            <a:off x="9491472" y="3246120"/>
            <a:ext cx="640080" cy="1097280"/>
          </a:xfrm>
          <a:prstGeom prst="rect">
            <a:avLst/>
          </a:prstGeom>
          <a:solidFill>
            <a:srgbClr val="B9CBEA"/>
          </a:solidFill>
          <a:ln/>
        </p:spPr>
      </p:sp>
      <p:sp>
        <p:nvSpPr>
          <p:cNvPr id="26" name="Shape 23"/>
          <p:cNvSpPr/>
          <p:nvPr/>
        </p:nvSpPr>
        <p:spPr>
          <a:xfrm>
            <a:off x="6519672" y="4343400"/>
            <a:ext cx="4846320" cy="731520"/>
          </a:xfrm>
          <a:prstGeom prst="rect">
            <a:avLst/>
          </a:prstGeom>
          <a:solidFill>
            <a:srgbClr val="C9CFD8"/>
          </a:solidFill>
          <a:ln/>
        </p:spPr>
      </p:sp>
      <p:sp>
        <p:nvSpPr>
          <p:cNvPr id="27" name="Shape 24"/>
          <p:cNvSpPr/>
          <p:nvPr/>
        </p:nvSpPr>
        <p:spPr>
          <a:xfrm>
            <a:off x="6519672" y="4343400"/>
            <a:ext cx="4846320" cy="0"/>
          </a:xfrm>
          <a:prstGeom prst="line">
            <a:avLst/>
          </a:prstGeom>
          <a:noFill/>
          <a:ln w="25400">
            <a:solidFill>
              <a:srgbClr val="364255"/>
            </a:solidFill>
            <a:prstDash val="solid"/>
          </a:ln>
        </p:spPr>
      </p:sp>
      <p:sp>
        <p:nvSpPr>
          <p:cNvPr id="28" name="Shape 25"/>
          <p:cNvSpPr/>
          <p:nvPr/>
        </p:nvSpPr>
        <p:spPr>
          <a:xfrm>
            <a:off x="7360920" y="4270248"/>
            <a:ext cx="146304" cy="146304"/>
          </a:xfrm>
          <a:prstGeom prst="ellipse">
            <a:avLst/>
          </a:prstGeom>
          <a:solidFill>
            <a:srgbClr val="D2453A"/>
          </a:solidFill>
          <a:ln/>
        </p:spPr>
      </p:sp>
      <p:sp>
        <p:nvSpPr>
          <p:cNvPr id="29" name="Shape 26"/>
          <p:cNvSpPr/>
          <p:nvPr/>
        </p:nvSpPr>
        <p:spPr>
          <a:xfrm>
            <a:off x="9738360" y="4270248"/>
            <a:ext cx="146304" cy="146304"/>
          </a:xfrm>
          <a:prstGeom prst="ellipse">
            <a:avLst/>
          </a:prstGeom>
          <a:solidFill>
            <a:srgbClr val="D2453A"/>
          </a:solidFill>
          <a:ln/>
        </p:spPr>
      </p:sp>
      <p:sp>
        <p:nvSpPr>
          <p:cNvPr id="30" name="Text 27"/>
          <p:cNvSpPr txBox="1"/>
          <p:nvPr/>
        </p:nvSpPr>
        <p:spPr>
          <a:xfrm>
            <a:off x="6519672" y="2743200"/>
            <a:ext cx="2194560" cy="548640"/>
          </a:xfrm>
          <a:prstGeom prst="rect">
            <a:avLst/>
          </a:prstGeom>
          <a:noFill/>
          <a:ln/>
        </p:spPr>
        <p:txBody>
          <a:bodyPr wrap="square" lIns="0" tIns="0" rIns="0" bIns="0" rtlCol="0" anchor="t"/>
          <a:lstStyle/>
          <a:p>
            <a:pPr indent="0" marL="0">
              <a:buNone/>
            </a:pPr>
            <a:r>
              <a:rPr lang="en-US" sz="1300" b="1" dirty="0">
                <a:solidFill>
                  <a:srgbClr val="18202E"/>
                </a:solidFill>
                <a:latin typeface="Segoe UI" pitchFamily="34" charset="0"/>
                <a:ea typeface="Segoe UI" pitchFamily="34" charset="-122"/>
                <a:cs typeface="Segoe UI" pitchFamily="34" charset="-120"/>
              </a:rPr>
              <a:t>Center pivot</a:t>
            </a:r>
            <a:endParaRPr lang="en-US" sz="1300" dirty="0"/>
          </a:p>
          <a:p>
            <a:pPr indent="0" marL="0">
              <a:buNone/>
            </a:pPr>
            <a:r>
              <a:rPr lang="en-US" sz="1300" dirty="0">
                <a:solidFill>
                  <a:srgbClr val="18202E"/>
                </a:solidFill>
                <a:latin typeface="Segoe UI" pitchFamily="34" charset="0"/>
                <a:ea typeface="Segoe UI" pitchFamily="34" charset="-122"/>
                <a:cs typeface="Segoe UI" pitchFamily="34" charset="-120"/>
              </a:rPr>
              <a:t>half in the ground</a:t>
            </a:r>
            <a:endParaRPr lang="en-US" sz="1300" dirty="0"/>
          </a:p>
        </p:txBody>
      </p:sp>
      <p:sp>
        <p:nvSpPr>
          <p:cNvPr id="31" name="Text 28"/>
          <p:cNvSpPr txBox="1"/>
          <p:nvPr/>
        </p:nvSpPr>
        <p:spPr>
          <a:xfrm>
            <a:off x="9034272" y="2743200"/>
            <a:ext cx="2194560" cy="548640"/>
          </a:xfrm>
          <a:prstGeom prst="rect">
            <a:avLst/>
          </a:prstGeom>
          <a:noFill/>
          <a:ln/>
        </p:spPr>
        <p:txBody>
          <a:bodyPr wrap="square" lIns="0" tIns="0" rIns="0" bIns="0" rtlCol="0" anchor="t"/>
          <a:lstStyle/>
          <a:p>
            <a:pPr indent="0" marL="0">
              <a:buNone/>
            </a:pPr>
            <a:r>
              <a:rPr lang="en-US" sz="1300" b="1" dirty="0">
                <a:solidFill>
                  <a:srgbClr val="18202E"/>
                </a:solidFill>
                <a:latin typeface="Segoe UI" pitchFamily="34" charset="0"/>
                <a:ea typeface="Segoe UI" pitchFamily="34" charset="-122"/>
                <a:cs typeface="Segoe UI" pitchFamily="34" charset="-120"/>
              </a:rPr>
              <a:t>Bottom pivot</a:t>
            </a:r>
            <a:endParaRPr lang="en-US" sz="1300" dirty="0"/>
          </a:p>
          <a:p>
            <a:pPr indent="0" marL="0">
              <a:buNone/>
            </a:pPr>
            <a:r>
              <a:rPr lang="en-US" sz="1300" dirty="0">
                <a:solidFill>
                  <a:srgbClr val="18202E"/>
                </a:solidFill>
                <a:latin typeface="Segoe UI" pitchFamily="34" charset="0"/>
                <a:ea typeface="Segoe UI" pitchFamily="34" charset="-122"/>
                <a:cs typeface="Segoe UI" pitchFamily="34" charset="-120"/>
              </a:rPr>
              <a:t>stands on it</a:t>
            </a:r>
            <a:endParaRPr lang="en-US" sz="1300" dirty="0"/>
          </a:p>
        </p:txBody>
      </p:sp>
      <p:sp>
        <p:nvSpPr>
          <p:cNvPr id="32" name="Text 29"/>
          <p:cNvSpPr txBox="1"/>
          <p:nvPr/>
        </p:nvSpPr>
        <p:spPr>
          <a:xfrm>
            <a:off x="548640" y="5394960"/>
            <a:ext cx="11094415" cy="685800"/>
          </a:xfrm>
          <a:prstGeom prst="rect">
            <a:avLst/>
          </a:prstGeom>
          <a:noFill/>
          <a:ln/>
        </p:spPr>
        <p:txBody>
          <a:bodyPr wrap="square" lIns="0" tIns="0" rIns="0" bIns="0" rtlCol="0" anchor="t"/>
          <a:lstStyle/>
          <a:p>
            <a:pPr indent="0" marL="0">
              <a:buNone/>
            </a:pPr>
            <a:r>
              <a:rPr lang="en-US" sz="1500" dirty="0">
                <a:solidFill>
                  <a:srgbClr val="364255"/>
                </a:solidFill>
                <a:latin typeface="Segoe UI" pitchFamily="34" charset="0"/>
                <a:ea typeface="Segoe UI" pitchFamily="34" charset="-122"/>
                <a:cs typeface="Segoe UI" pitchFamily="34" charset="-120"/>
              </a:rPr>
              <a:t>Course convention: PPU 18, so one 18 × 18 px tile is exactly 1 unit. A 24 px character is 1.33 units tall; at the default PPU 100 it would be 0.24.</a:t>
            </a:r>
            <a:endParaRPr lang="en-US" sz="15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4 · 2D SPACE</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The orthographic camera</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822960" y="1783080"/>
            <a:ext cx="5852160" cy="3291840"/>
          </a:xfrm>
          <a:prstGeom prst="rect">
            <a:avLst/>
          </a:prstGeom>
          <a:solidFill>
            <a:srgbClr val="E9EFF9"/>
          </a:solidFill>
          <a:ln w="12700">
            <a:solidFill>
              <a:srgbClr val="2354A6"/>
            </a:solidFill>
            <a:prstDash val="solid"/>
          </a:ln>
        </p:spPr>
      </p:sp>
      <p:sp>
        <p:nvSpPr>
          <p:cNvPr id="7" name="Shape 4"/>
          <p:cNvSpPr/>
          <p:nvPr/>
        </p:nvSpPr>
        <p:spPr>
          <a:xfrm>
            <a:off x="3566160" y="3429000"/>
            <a:ext cx="365760" cy="0"/>
          </a:xfrm>
          <a:prstGeom prst="line">
            <a:avLst/>
          </a:prstGeom>
          <a:noFill/>
          <a:ln w="19050">
            <a:solidFill>
              <a:srgbClr val="2354A6"/>
            </a:solidFill>
            <a:prstDash val="solid"/>
          </a:ln>
        </p:spPr>
      </p:sp>
      <p:sp>
        <p:nvSpPr>
          <p:cNvPr id="8" name="Shape 5"/>
          <p:cNvSpPr/>
          <p:nvPr/>
        </p:nvSpPr>
        <p:spPr>
          <a:xfrm>
            <a:off x="3749040" y="3246120"/>
            <a:ext cx="0" cy="365760"/>
          </a:xfrm>
          <a:prstGeom prst="line">
            <a:avLst/>
          </a:prstGeom>
          <a:noFill/>
          <a:ln w="19050">
            <a:solidFill>
              <a:srgbClr val="2354A6"/>
            </a:solidFill>
            <a:prstDash val="solid"/>
          </a:ln>
        </p:spPr>
      </p:sp>
      <p:sp>
        <p:nvSpPr>
          <p:cNvPr id="9" name="Text 6"/>
          <p:cNvSpPr txBox="1"/>
          <p:nvPr/>
        </p:nvSpPr>
        <p:spPr>
          <a:xfrm>
            <a:off x="3886200" y="3538728"/>
            <a:ext cx="1371600" cy="274320"/>
          </a:xfrm>
          <a:prstGeom prst="rect">
            <a:avLst/>
          </a:prstGeom>
          <a:noFill/>
          <a:ln/>
        </p:spPr>
        <p:txBody>
          <a:bodyPr wrap="square" lIns="0" tIns="0" rIns="0" bIns="0" rtlCol="0" anchor="t"/>
          <a:lstStyle/>
          <a:p>
            <a:pPr indent="0" marL="0">
              <a:buNone/>
            </a:pPr>
            <a:r>
              <a:rPr lang="en-US" sz="1200" dirty="0">
                <a:solidFill>
                  <a:srgbClr val="2354A6"/>
                </a:solidFill>
                <a:latin typeface="Segoe UI" pitchFamily="34" charset="0"/>
                <a:ea typeface="Segoe UI" pitchFamily="34" charset="-122"/>
                <a:cs typeface="Segoe UI" pitchFamily="34" charset="-120"/>
              </a:rPr>
              <a:t>camera (0, 0)</a:t>
            </a:r>
            <a:endParaRPr lang="en-US" sz="1200" dirty="0"/>
          </a:p>
        </p:txBody>
      </p:sp>
      <p:sp>
        <p:nvSpPr>
          <p:cNvPr id="10" name="Text 7"/>
          <p:cNvSpPr txBox="1"/>
          <p:nvPr/>
        </p:nvSpPr>
        <p:spPr>
          <a:xfrm>
            <a:off x="932688" y="1874520"/>
            <a:ext cx="1097280" cy="256032"/>
          </a:xfrm>
          <a:prstGeom prst="rect">
            <a:avLst/>
          </a:prstGeom>
          <a:noFill/>
          <a:ln/>
        </p:spPr>
        <p:txBody>
          <a:bodyPr wrap="square" lIns="0" tIns="0" rIns="0" bIns="0" rtlCol="0" anchor="t"/>
          <a:lstStyle/>
          <a:p>
            <a:pPr indent="0" marL="0">
              <a:buNone/>
            </a:pPr>
            <a:r>
              <a:rPr lang="en-US" sz="1200" dirty="0">
                <a:solidFill>
                  <a:srgbClr val="5B6678"/>
                </a:solidFill>
                <a:latin typeface="Segoe UI" pitchFamily="34" charset="0"/>
                <a:ea typeface="Segoe UI" pitchFamily="34" charset="-122"/>
                <a:cs typeface="Segoe UI" pitchFamily="34" charset="-120"/>
              </a:rPr>
              <a:t>(-8.9, 5)</a:t>
            </a:r>
            <a:endParaRPr lang="en-US" sz="1200" dirty="0"/>
          </a:p>
        </p:txBody>
      </p:sp>
      <p:sp>
        <p:nvSpPr>
          <p:cNvPr id="11" name="Text 8"/>
          <p:cNvSpPr txBox="1"/>
          <p:nvPr/>
        </p:nvSpPr>
        <p:spPr>
          <a:xfrm>
            <a:off x="5468112" y="4727448"/>
            <a:ext cx="1097280" cy="256032"/>
          </a:xfrm>
          <a:prstGeom prst="rect">
            <a:avLst/>
          </a:prstGeom>
          <a:noFill/>
          <a:ln/>
        </p:spPr>
        <p:txBody>
          <a:bodyPr wrap="square" lIns="0" tIns="0" rIns="0" bIns="0" rtlCol="0" anchor="t"/>
          <a:lstStyle/>
          <a:p>
            <a:pPr algn="r" indent="0" marL="0">
              <a:buNone/>
            </a:pPr>
            <a:r>
              <a:rPr lang="en-US" sz="1200" dirty="0">
                <a:solidFill>
                  <a:srgbClr val="5B6678"/>
                </a:solidFill>
                <a:latin typeface="Segoe UI" pitchFamily="34" charset="0"/>
                <a:ea typeface="Segoe UI" pitchFamily="34" charset="-122"/>
                <a:cs typeface="Segoe UI" pitchFamily="34" charset="-120"/>
              </a:rPr>
              <a:t>(8.9, -5)</a:t>
            </a:r>
            <a:endParaRPr lang="en-US" sz="1200" dirty="0"/>
          </a:p>
        </p:txBody>
      </p:sp>
      <p:sp>
        <p:nvSpPr>
          <p:cNvPr id="12" name="Shape 9"/>
          <p:cNvSpPr/>
          <p:nvPr/>
        </p:nvSpPr>
        <p:spPr>
          <a:xfrm>
            <a:off x="6903720" y="1783080"/>
            <a:ext cx="0" cy="3291840"/>
          </a:xfrm>
          <a:prstGeom prst="line">
            <a:avLst/>
          </a:prstGeom>
          <a:noFill/>
          <a:ln w="15875">
            <a:solidFill>
              <a:srgbClr val="18202E"/>
            </a:solidFill>
            <a:prstDash val="solid"/>
            <a:headEnd type="triangle"/>
            <a:tailEnd type="triangle"/>
          </a:ln>
        </p:spPr>
      </p:sp>
      <p:sp>
        <p:nvSpPr>
          <p:cNvPr id="13" name="Text 10"/>
          <p:cNvSpPr txBox="1"/>
          <p:nvPr/>
        </p:nvSpPr>
        <p:spPr>
          <a:xfrm>
            <a:off x="7040880" y="3154680"/>
            <a:ext cx="731520" cy="548640"/>
          </a:xfrm>
          <a:prstGeom prst="rect">
            <a:avLst/>
          </a:prstGeom>
          <a:noFill/>
          <a:ln/>
        </p:spPr>
        <p:txBody>
          <a:bodyPr wrap="square" lIns="0" tIns="0" rIns="0" bIns="0" rtlCol="0" anchor="t"/>
          <a:lstStyle/>
          <a:p>
            <a:pPr indent="0" marL="0">
              <a:buNone/>
            </a:pPr>
            <a:r>
              <a:rPr lang="en-US" sz="1300" b="1" dirty="0">
                <a:solidFill>
                  <a:srgbClr val="18202E"/>
                </a:solidFill>
                <a:latin typeface="Segoe UI" pitchFamily="34" charset="0"/>
                <a:ea typeface="Segoe UI" pitchFamily="34" charset="-122"/>
                <a:cs typeface="Segoe UI" pitchFamily="34" charset="-120"/>
              </a:rPr>
              <a:t>10</a:t>
            </a:r>
            <a:endParaRPr lang="en-US" sz="1300" dirty="0"/>
          </a:p>
          <a:p>
            <a:pPr indent="0" marL="0">
              <a:buNone/>
            </a:pPr>
            <a:r>
              <a:rPr lang="en-US" sz="1300" dirty="0">
                <a:solidFill>
                  <a:srgbClr val="18202E"/>
                </a:solidFill>
                <a:latin typeface="Segoe UI" pitchFamily="34" charset="0"/>
                <a:ea typeface="Segoe UI" pitchFamily="34" charset="-122"/>
                <a:cs typeface="Segoe UI" pitchFamily="34" charset="-120"/>
              </a:rPr>
              <a:t>units</a:t>
            </a:r>
            <a:endParaRPr lang="en-US" sz="1300" dirty="0"/>
          </a:p>
        </p:txBody>
      </p:sp>
      <p:sp>
        <p:nvSpPr>
          <p:cNvPr id="14" name="Shape 11"/>
          <p:cNvSpPr/>
          <p:nvPr/>
        </p:nvSpPr>
        <p:spPr>
          <a:xfrm>
            <a:off x="822960" y="5303520"/>
            <a:ext cx="5852160" cy="0"/>
          </a:xfrm>
          <a:prstGeom prst="line">
            <a:avLst/>
          </a:prstGeom>
          <a:noFill/>
          <a:ln w="15875">
            <a:solidFill>
              <a:srgbClr val="18202E"/>
            </a:solidFill>
            <a:prstDash val="solid"/>
            <a:headEnd type="triangle"/>
            <a:tailEnd type="triangle"/>
          </a:ln>
        </p:spPr>
      </p:sp>
      <p:sp>
        <p:nvSpPr>
          <p:cNvPr id="15" name="Text 12"/>
          <p:cNvSpPr txBox="1"/>
          <p:nvPr/>
        </p:nvSpPr>
        <p:spPr>
          <a:xfrm>
            <a:off x="822960" y="5394960"/>
            <a:ext cx="5852160" cy="274320"/>
          </a:xfrm>
          <a:prstGeom prst="rect">
            <a:avLst/>
          </a:prstGeom>
          <a:noFill/>
          <a:ln/>
        </p:spPr>
        <p:txBody>
          <a:bodyPr wrap="square" lIns="0" tIns="0" rIns="0" bIns="0" rtlCol="0" anchor="t"/>
          <a:lstStyle/>
          <a:p>
            <a:pPr algn="ctr" indent="0" marL="0">
              <a:buNone/>
            </a:pPr>
            <a:r>
              <a:rPr lang="en-US" sz="1300" b="1" dirty="0">
                <a:solidFill>
                  <a:srgbClr val="18202E"/>
                </a:solidFill>
                <a:latin typeface="Segoe UI" pitchFamily="34" charset="0"/>
                <a:ea typeface="Segoe UI" pitchFamily="34" charset="-122"/>
                <a:cs typeface="Segoe UI" pitchFamily="34" charset="-120"/>
              </a:rPr>
              <a:t>17.8 units</a:t>
            </a:r>
            <a:pPr algn="ctr" indent="0" marL="0">
              <a:buNone/>
            </a:pPr>
            <a:r>
              <a:rPr lang="en-US" sz="1300" dirty="0">
                <a:solidFill>
                  <a:srgbClr val="18202E"/>
                </a:solidFill>
                <a:latin typeface="Segoe UI" pitchFamily="34" charset="0"/>
                <a:ea typeface="Segoe UI" pitchFamily="34" charset="-122"/>
                <a:cs typeface="Segoe UI" pitchFamily="34" charset="-120"/>
              </a:rPr>
              <a:t> (10 × 16 ÷ 9)</a:t>
            </a:r>
            <a:endParaRPr lang="en-US" sz="1300" dirty="0"/>
          </a:p>
        </p:txBody>
      </p:sp>
      <p:sp>
        <p:nvSpPr>
          <p:cNvPr id="16" name="Shape 13"/>
          <p:cNvSpPr/>
          <p:nvPr/>
        </p:nvSpPr>
        <p:spPr>
          <a:xfrm>
            <a:off x="8092440" y="1783080"/>
            <a:ext cx="3550615" cy="868680"/>
          </a:xfrm>
          <a:prstGeom prst="rect">
            <a:avLst/>
          </a:prstGeom>
          <a:solidFill>
            <a:srgbClr val="F0F3F7"/>
          </a:solidFill>
          <a:ln/>
        </p:spPr>
      </p:sp>
      <p:sp>
        <p:nvSpPr>
          <p:cNvPr id="17" name="Text 14"/>
          <p:cNvSpPr txBox="1"/>
          <p:nvPr/>
        </p:nvSpPr>
        <p:spPr>
          <a:xfrm>
            <a:off x="8293608" y="1929384"/>
            <a:ext cx="3184855" cy="612648"/>
          </a:xfrm>
          <a:prstGeom prst="rect">
            <a:avLst/>
          </a:prstGeom>
          <a:noFill/>
          <a:ln/>
        </p:spPr>
        <p:txBody>
          <a:bodyPr wrap="square" lIns="0" tIns="0" rIns="0" bIns="0" rtlCol="0" anchor="t"/>
          <a:lstStyle/>
          <a:p>
            <a:pPr indent="0" marL="0">
              <a:buNone/>
            </a:pPr>
            <a:r>
              <a:rPr lang="en-US" sz="1400" dirty="0">
                <a:solidFill>
                  <a:srgbClr val="18202E"/>
                </a:solidFill>
                <a:latin typeface="Consolas" pitchFamily="34" charset="0"/>
                <a:ea typeface="Consolas" pitchFamily="34" charset="-122"/>
                <a:cs typeface="Consolas" pitchFamily="34" charset="-120"/>
              </a:rPr>
              <a:t>height = 2 × size</a:t>
            </a:r>
            <a:endParaRPr lang="en-US" sz="1400" dirty="0"/>
          </a:p>
          <a:p>
            <a:pPr indent="0" marL="0">
              <a:buNone/>
            </a:pPr>
            <a:r>
              <a:rPr lang="en-US" sz="1400" dirty="0">
                <a:solidFill>
                  <a:srgbClr val="18202E"/>
                </a:solidFill>
                <a:latin typeface="Consolas" pitchFamily="34" charset="0"/>
                <a:ea typeface="Consolas" pitchFamily="34" charset="-122"/>
                <a:cs typeface="Consolas" pitchFamily="34" charset="-120"/>
              </a:rPr>
              <a:t>width  = 2 × size × aspect</a:t>
            </a:r>
            <a:endParaRPr lang="en-US" sz="1400" dirty="0"/>
          </a:p>
        </p:txBody>
      </p:sp>
      <p:sp>
        <p:nvSpPr>
          <p:cNvPr id="18" name="Text 15"/>
          <p:cNvSpPr txBox="1"/>
          <p:nvPr/>
        </p:nvSpPr>
        <p:spPr>
          <a:xfrm>
            <a:off x="8092440" y="2834640"/>
            <a:ext cx="3550615" cy="594360"/>
          </a:xfrm>
          <a:prstGeom prst="rect">
            <a:avLst/>
          </a:prstGeom>
          <a:noFill/>
          <a:ln/>
        </p:spPr>
        <p:txBody>
          <a:bodyPr wrap="square" lIns="0" tIns="0" rIns="0" bIns="0" rtlCol="0" anchor="t"/>
          <a:lstStyle/>
          <a:p>
            <a:pPr indent="0" marL="0">
              <a:buNone/>
            </a:pPr>
            <a:r>
              <a:rPr lang="en-US" sz="1600" b="1" dirty="0">
                <a:solidFill>
                  <a:srgbClr val="18202E"/>
                </a:solidFill>
                <a:latin typeface="Segoe UI" pitchFamily="34" charset="0"/>
                <a:ea typeface="Segoe UI" pitchFamily="34" charset="-122"/>
                <a:cs typeface="Segoe UI" pitchFamily="34" charset="-120"/>
              </a:rPr>
              <a:t>Size 5 at 16:9</a:t>
            </a:r>
            <a:endParaRPr lang="en-US" sz="1600" dirty="0"/>
          </a:p>
          <a:p>
            <a:pPr indent="0" marL="0">
              <a:buNone/>
            </a:pPr>
            <a:r>
              <a:rPr lang="en-US" sz="1600" dirty="0">
                <a:solidFill>
                  <a:srgbClr val="18202E"/>
                </a:solidFill>
                <a:latin typeface="Segoe UI" pitchFamily="34" charset="0"/>
                <a:ea typeface="Segoe UI" pitchFamily="34" charset="-122"/>
                <a:cs typeface="Segoe UI" pitchFamily="34" charset="-120"/>
              </a:rPr>
              <a:t>10 units tall, 17.8 wide</a:t>
            </a:r>
            <a:endParaRPr lang="en-US" sz="1600" dirty="0"/>
          </a:p>
        </p:txBody>
      </p:sp>
      <p:sp>
        <p:nvSpPr>
          <p:cNvPr id="19" name="Text 16"/>
          <p:cNvSpPr txBox="1"/>
          <p:nvPr/>
        </p:nvSpPr>
        <p:spPr>
          <a:xfrm>
            <a:off x="8092440" y="3657600"/>
            <a:ext cx="3550615" cy="23774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364255"/>
                </a:solidFill>
                <a:latin typeface="Segoe UI" pitchFamily="34" charset="0"/>
                <a:ea typeface="Segoe UI" pitchFamily="34" charset="-122"/>
                <a:cs typeface="Segoe UI" pitchFamily="34" charset="-120"/>
              </a:rPr>
              <a:t>Orthographic: the same scale at any distance.</a:t>
            </a:r>
            <a:endParaRPr lang="en-US" sz="1500" dirty="0"/>
          </a:p>
          <a:p>
            <a:pPr marL="203200" indent="-203200">
              <a:spcAft>
                <a:spcPts val="800"/>
              </a:spcAft>
              <a:buSzPct val="100000"/>
              <a:buChar char="•"/>
            </a:pPr>
            <a:r>
              <a:rPr lang="en-US" sz="1500" dirty="0">
                <a:solidFill>
                  <a:srgbClr val="364255"/>
                </a:solidFill>
                <a:latin typeface="Segoe UI" pitchFamily="34" charset="0"/>
                <a:ea typeface="Segoe UI" pitchFamily="34" charset="-122"/>
                <a:cs typeface="Segoe UI" pitchFamily="34" charset="-120"/>
              </a:rPr>
              <a:t>Aspect changes the width only: keep the Game view at 16:9.</a:t>
            </a:r>
            <a:endParaRPr lang="en-US" sz="1500" dirty="0"/>
          </a:p>
          <a:p>
            <a:pPr marL="203200" indent="-203200">
              <a:spcAft>
                <a:spcPts val="800"/>
              </a:spcAft>
              <a:buSzPct val="100000"/>
              <a:buChar char="•"/>
            </a:pPr>
            <a:r>
              <a:rPr lang="en-US" sz="1500" dirty="0">
                <a:solidFill>
                  <a:srgbClr val="364255"/>
                </a:solidFill>
                <a:latin typeface="Segoe UI" pitchFamily="34" charset="0"/>
                <a:ea typeface="Segoe UI" pitchFamily="34" charset="-122"/>
                <a:cs typeface="Segoe UI" pitchFamily="34" charset="-120"/>
              </a:rPr>
              <a:t>The camera is an ordinary GameObject at (0, 0, -10).</a:t>
            </a:r>
            <a:endParaRPr lang="en-US" sz="15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4 · 2D SPACE</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What draws in front</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45920"/>
            <a:ext cx="3423818" cy="1417320"/>
          </a:xfrm>
          <a:prstGeom prst="rect">
            <a:avLst/>
          </a:prstGeom>
          <a:solidFill>
            <a:srgbClr val="F0F3F7"/>
          </a:solidFill>
          <a:ln/>
        </p:spPr>
      </p:sp>
      <p:sp>
        <p:nvSpPr>
          <p:cNvPr id="7" name="Text 4"/>
          <p:cNvSpPr txBox="1"/>
          <p:nvPr/>
        </p:nvSpPr>
        <p:spPr>
          <a:xfrm>
            <a:off x="777240" y="1810512"/>
            <a:ext cx="2966618" cy="384048"/>
          </a:xfrm>
          <a:prstGeom prst="rect">
            <a:avLst/>
          </a:prstGeom>
          <a:noFill/>
          <a:ln/>
        </p:spPr>
        <p:txBody>
          <a:bodyPr wrap="square" lIns="0" tIns="0" rIns="0" bIns="0" rtlCol="0" anchor="t"/>
          <a:lstStyle/>
          <a:p>
            <a:pPr indent="0" marL="0">
              <a:buNone/>
            </a:pPr>
            <a:r>
              <a:rPr lang="en-US" sz="1900" dirty="0">
                <a:solidFill>
                  <a:srgbClr val="2354A6"/>
                </a:solidFill>
                <a:latin typeface="Consolas" pitchFamily="34" charset="0"/>
                <a:ea typeface="Consolas" pitchFamily="34" charset="-122"/>
                <a:cs typeface="Consolas" pitchFamily="34" charset="-120"/>
              </a:rPr>
              <a:t>1  </a:t>
            </a:r>
            <a:pPr indent="0" marL="0">
              <a:buNone/>
            </a:pPr>
            <a:r>
              <a:rPr lang="en-US" sz="1900" dirty="0">
                <a:solidFill>
                  <a:srgbClr val="18202E"/>
                </a:solidFill>
                <a:latin typeface="Segoe UI Semibold" pitchFamily="34" charset="0"/>
                <a:ea typeface="Segoe UI Semibold" pitchFamily="34" charset="-122"/>
                <a:cs typeface="Segoe UI Semibold" pitchFamily="34" charset="-120"/>
              </a:rPr>
              <a:t>Sorting layer</a:t>
            </a:r>
            <a:endParaRPr lang="en-US" sz="1900" dirty="0"/>
          </a:p>
        </p:txBody>
      </p:sp>
      <p:sp>
        <p:nvSpPr>
          <p:cNvPr id="8" name="Text 5"/>
          <p:cNvSpPr txBox="1"/>
          <p:nvPr/>
        </p:nvSpPr>
        <p:spPr>
          <a:xfrm>
            <a:off x="777240" y="2240280"/>
            <a:ext cx="2966618" cy="731520"/>
          </a:xfrm>
          <a:prstGeom prst="rect">
            <a:avLst/>
          </a:prstGeom>
          <a:noFill/>
          <a:ln/>
        </p:spPr>
        <p:txBody>
          <a:bodyPr wrap="square" lIns="0" tIns="0" rIns="0" bIns="0" rtlCol="0" anchor="t"/>
          <a:lstStyle/>
          <a:p>
            <a:pPr indent="0" marL="0">
              <a:buNone/>
            </a:pPr>
            <a:r>
              <a:rPr lang="en-US" sz="1400" dirty="0">
                <a:solidFill>
                  <a:srgbClr val="364255"/>
                </a:solidFill>
                <a:latin typeface="Segoe UI" pitchFamily="34" charset="0"/>
                <a:ea typeface="Segoe UI" pitchFamily="34" charset="-122"/>
                <a:cs typeface="Segoe UI" pitchFamily="34" charset="-120"/>
              </a:rPr>
              <a:t>A named, ordered list for the project. Earlier layers draw behind.</a:t>
            </a:r>
            <a:endParaRPr lang="en-US" sz="1400" dirty="0"/>
          </a:p>
        </p:txBody>
      </p:sp>
      <p:sp>
        <p:nvSpPr>
          <p:cNvPr id="9" name="Shape 6"/>
          <p:cNvSpPr/>
          <p:nvPr/>
        </p:nvSpPr>
        <p:spPr>
          <a:xfrm>
            <a:off x="4036466" y="2354580"/>
            <a:ext cx="283464" cy="0"/>
          </a:xfrm>
          <a:prstGeom prst="line">
            <a:avLst/>
          </a:prstGeom>
          <a:noFill/>
          <a:ln w="22225">
            <a:solidFill>
              <a:srgbClr val="2354A6"/>
            </a:solidFill>
            <a:prstDash val="solid"/>
            <a:tailEnd type="triangle"/>
          </a:ln>
        </p:spPr>
      </p:sp>
      <p:sp>
        <p:nvSpPr>
          <p:cNvPr id="10" name="Shape 7"/>
          <p:cNvSpPr/>
          <p:nvPr/>
        </p:nvSpPr>
        <p:spPr>
          <a:xfrm>
            <a:off x="4383938" y="1645920"/>
            <a:ext cx="3423818" cy="1417320"/>
          </a:xfrm>
          <a:prstGeom prst="rect">
            <a:avLst/>
          </a:prstGeom>
          <a:solidFill>
            <a:srgbClr val="F0F3F7"/>
          </a:solidFill>
          <a:ln/>
        </p:spPr>
      </p:sp>
      <p:sp>
        <p:nvSpPr>
          <p:cNvPr id="11" name="Text 8"/>
          <p:cNvSpPr txBox="1"/>
          <p:nvPr/>
        </p:nvSpPr>
        <p:spPr>
          <a:xfrm>
            <a:off x="4612538" y="1810512"/>
            <a:ext cx="2966618" cy="384048"/>
          </a:xfrm>
          <a:prstGeom prst="rect">
            <a:avLst/>
          </a:prstGeom>
          <a:noFill/>
          <a:ln/>
        </p:spPr>
        <p:txBody>
          <a:bodyPr wrap="square" lIns="0" tIns="0" rIns="0" bIns="0" rtlCol="0" anchor="t"/>
          <a:lstStyle/>
          <a:p>
            <a:pPr indent="0" marL="0">
              <a:buNone/>
            </a:pPr>
            <a:r>
              <a:rPr lang="en-US" sz="1900" dirty="0">
                <a:solidFill>
                  <a:srgbClr val="2354A6"/>
                </a:solidFill>
                <a:latin typeface="Consolas" pitchFamily="34" charset="0"/>
                <a:ea typeface="Consolas" pitchFamily="34" charset="-122"/>
                <a:cs typeface="Consolas" pitchFamily="34" charset="-120"/>
              </a:rPr>
              <a:t>2  </a:t>
            </a:r>
            <a:pPr indent="0" marL="0">
              <a:buNone/>
            </a:pPr>
            <a:r>
              <a:rPr lang="en-US" sz="1900" dirty="0">
                <a:solidFill>
                  <a:srgbClr val="18202E"/>
                </a:solidFill>
                <a:latin typeface="Segoe UI Semibold" pitchFamily="34" charset="0"/>
                <a:ea typeface="Segoe UI Semibold" pitchFamily="34" charset="-122"/>
                <a:cs typeface="Segoe UI Semibold" pitchFamily="34" charset="-120"/>
              </a:rPr>
              <a:t>Order in Layer</a:t>
            </a:r>
            <a:endParaRPr lang="en-US" sz="1900" dirty="0"/>
          </a:p>
        </p:txBody>
      </p:sp>
      <p:sp>
        <p:nvSpPr>
          <p:cNvPr id="12" name="Text 9"/>
          <p:cNvSpPr txBox="1"/>
          <p:nvPr/>
        </p:nvSpPr>
        <p:spPr>
          <a:xfrm>
            <a:off x="4612538" y="2240280"/>
            <a:ext cx="2966618" cy="731520"/>
          </a:xfrm>
          <a:prstGeom prst="rect">
            <a:avLst/>
          </a:prstGeom>
          <a:noFill/>
          <a:ln/>
        </p:spPr>
        <p:txBody>
          <a:bodyPr wrap="square" lIns="0" tIns="0" rIns="0" bIns="0" rtlCol="0" anchor="t"/>
          <a:lstStyle/>
          <a:p>
            <a:pPr indent="0" marL="0">
              <a:buNone/>
            </a:pPr>
            <a:r>
              <a:rPr lang="en-US" sz="1400" dirty="0">
                <a:solidFill>
                  <a:srgbClr val="364255"/>
                </a:solidFill>
                <a:latin typeface="Segoe UI" pitchFamily="34" charset="0"/>
                <a:ea typeface="Segoe UI" pitchFamily="34" charset="-122"/>
                <a:cs typeface="Segoe UI" pitchFamily="34" charset="-120"/>
              </a:rPr>
              <a:t>An integer on each renderer. Higher draws in front.</a:t>
            </a:r>
            <a:endParaRPr lang="en-US" sz="1400" dirty="0"/>
          </a:p>
        </p:txBody>
      </p:sp>
      <p:sp>
        <p:nvSpPr>
          <p:cNvPr id="13" name="Shape 10"/>
          <p:cNvSpPr/>
          <p:nvPr/>
        </p:nvSpPr>
        <p:spPr>
          <a:xfrm>
            <a:off x="7871765" y="2354580"/>
            <a:ext cx="283464" cy="0"/>
          </a:xfrm>
          <a:prstGeom prst="line">
            <a:avLst/>
          </a:prstGeom>
          <a:noFill/>
          <a:ln w="22225">
            <a:solidFill>
              <a:srgbClr val="2354A6"/>
            </a:solidFill>
            <a:prstDash val="solid"/>
            <a:tailEnd type="triangle"/>
          </a:ln>
        </p:spPr>
      </p:sp>
      <p:sp>
        <p:nvSpPr>
          <p:cNvPr id="14" name="Shape 11"/>
          <p:cNvSpPr/>
          <p:nvPr/>
        </p:nvSpPr>
        <p:spPr>
          <a:xfrm>
            <a:off x="8219237" y="1645920"/>
            <a:ext cx="3423818" cy="1417320"/>
          </a:xfrm>
          <a:prstGeom prst="roundRect">
            <a:avLst>
              <a:gd name="adj" fmla="val 3871"/>
            </a:avLst>
          </a:prstGeom>
          <a:solidFill>
            <a:srgbClr val="FFFFFF"/>
          </a:solidFill>
          <a:ln w="15875">
            <a:solidFill>
              <a:srgbClr val="5B6678"/>
            </a:solidFill>
            <a:prstDash val="dash"/>
          </a:ln>
        </p:spPr>
      </p:sp>
      <p:sp>
        <p:nvSpPr>
          <p:cNvPr id="15" name="Text 12"/>
          <p:cNvSpPr txBox="1"/>
          <p:nvPr/>
        </p:nvSpPr>
        <p:spPr>
          <a:xfrm>
            <a:off x="8447837" y="1810512"/>
            <a:ext cx="2966618" cy="384048"/>
          </a:xfrm>
          <a:prstGeom prst="rect">
            <a:avLst/>
          </a:prstGeom>
          <a:noFill/>
          <a:ln/>
        </p:spPr>
        <p:txBody>
          <a:bodyPr wrap="square" lIns="0" tIns="0" rIns="0" bIns="0" rtlCol="0" anchor="t"/>
          <a:lstStyle/>
          <a:p>
            <a:pPr indent="0" marL="0">
              <a:buNone/>
            </a:pPr>
            <a:r>
              <a:rPr lang="en-US" sz="1900" dirty="0">
                <a:solidFill>
                  <a:srgbClr val="2354A6"/>
                </a:solidFill>
                <a:latin typeface="Consolas" pitchFamily="34" charset="0"/>
                <a:ea typeface="Consolas" pitchFamily="34" charset="-122"/>
                <a:cs typeface="Consolas" pitchFamily="34" charset="-120"/>
              </a:rPr>
              <a:t>3  </a:t>
            </a:r>
            <a:pPr indent="0" marL="0">
              <a:buNone/>
            </a:pPr>
            <a:r>
              <a:rPr lang="en-US" sz="1900" dirty="0">
                <a:solidFill>
                  <a:srgbClr val="5B6678"/>
                </a:solidFill>
                <a:latin typeface="Segoe UI Semibold" pitchFamily="34" charset="0"/>
                <a:ea typeface="Segoe UI Semibold" pitchFamily="34" charset="-122"/>
                <a:cs typeface="Segoe UI Semibold" pitchFamily="34" charset="-120"/>
              </a:rPr>
              <a:t>Distance to camera</a:t>
            </a:r>
            <a:endParaRPr lang="en-US" sz="1900" dirty="0"/>
          </a:p>
        </p:txBody>
      </p:sp>
      <p:sp>
        <p:nvSpPr>
          <p:cNvPr id="16" name="Text 13"/>
          <p:cNvSpPr txBox="1"/>
          <p:nvPr/>
        </p:nvSpPr>
        <p:spPr>
          <a:xfrm>
            <a:off x="8447837" y="2240280"/>
            <a:ext cx="2966618" cy="731520"/>
          </a:xfrm>
          <a:prstGeom prst="rect">
            <a:avLst/>
          </a:prstGeom>
          <a:noFill/>
          <a:ln/>
        </p:spPr>
        <p:txBody>
          <a:bodyPr wrap="square" lIns="0" tIns="0" rIns="0" bIns="0" rtlCol="0" anchor="t"/>
          <a:lstStyle/>
          <a:p>
            <a:pPr indent="0" marL="0">
              <a:buNone/>
            </a:pPr>
            <a:r>
              <a:rPr lang="en-US" sz="1400" dirty="0">
                <a:solidFill>
                  <a:srgbClr val="364255"/>
                </a:solidFill>
                <a:latin typeface="Segoe UI" pitchFamily="34" charset="0"/>
                <a:ea typeface="Segoe UI" pitchFamily="34" charset="-122"/>
                <a:cs typeface="Segoe UI" pitchFamily="34" charset="-120"/>
              </a:rPr>
              <a:t>Last-resort tiebreak. Don't rely on it: keep z = 0.</a:t>
            </a:r>
            <a:endParaRPr lang="en-US" sz="1400" dirty="0"/>
          </a:p>
        </p:txBody>
      </p:sp>
      <p:sp>
        <p:nvSpPr>
          <p:cNvPr id="17" name="Shape 14"/>
          <p:cNvSpPr/>
          <p:nvPr/>
        </p:nvSpPr>
        <p:spPr>
          <a:xfrm>
            <a:off x="914400" y="3611880"/>
            <a:ext cx="1325880" cy="1325880"/>
          </a:xfrm>
          <a:prstGeom prst="rect">
            <a:avLst/>
          </a:prstGeom>
          <a:solidFill>
            <a:srgbClr val="C9CFD8"/>
          </a:solidFill>
          <a:ln/>
        </p:spPr>
      </p:sp>
      <p:sp>
        <p:nvSpPr>
          <p:cNvPr id="18" name="Shape 15"/>
          <p:cNvSpPr/>
          <p:nvPr/>
        </p:nvSpPr>
        <p:spPr>
          <a:xfrm>
            <a:off x="1600200" y="4206240"/>
            <a:ext cx="1325880" cy="1325880"/>
          </a:xfrm>
          <a:prstGeom prst="rect">
            <a:avLst/>
          </a:prstGeom>
          <a:solidFill>
            <a:srgbClr val="D2453A"/>
          </a:solidFill>
          <a:ln/>
        </p:spPr>
      </p:sp>
      <p:sp>
        <p:nvSpPr>
          <p:cNvPr id="19" name="Text 16"/>
          <p:cNvSpPr txBox="1"/>
          <p:nvPr/>
        </p:nvSpPr>
        <p:spPr>
          <a:xfrm>
            <a:off x="3246120" y="4069080"/>
            <a:ext cx="2743200" cy="1097280"/>
          </a:xfrm>
          <a:prstGeom prst="rect">
            <a:avLst/>
          </a:prstGeom>
          <a:noFill/>
          <a:ln/>
        </p:spPr>
        <p:txBody>
          <a:bodyPr wrap="square" lIns="0" tIns="0" rIns="0" bIns="0" rtlCol="0" anchor="t"/>
          <a:lstStyle/>
          <a:p>
            <a:pPr indent="0" marL="0">
              <a:spcAft>
                <a:spcPts val="800"/>
              </a:spcAft>
              <a:buNone/>
            </a:pPr>
            <a:r>
              <a:rPr lang="en-US" sz="1400" b="1" dirty="0">
                <a:solidFill>
                  <a:srgbClr val="364255"/>
                </a:solidFill>
                <a:latin typeface="Segoe UI" pitchFamily="34" charset="0"/>
                <a:ea typeface="Segoe UI" pitchFamily="34" charset="-122"/>
                <a:cs typeface="Segoe UI" pitchFamily="34" charset="-120"/>
              </a:rPr>
              <a:t>Crate</a:t>
            </a:r>
            <a:pPr indent="0" marL="0">
              <a:buNone/>
            </a:pPr>
            <a:r>
              <a:rPr lang="en-US" sz="1400" dirty="0">
                <a:solidFill>
                  <a:srgbClr val="364255"/>
                </a:solidFill>
                <a:latin typeface="Segoe UI" pitchFamily="34" charset="0"/>
                <a:ea typeface="Segoe UI" pitchFamily="34" charset="-122"/>
                <a:cs typeface="Segoe UI" pitchFamily="34" charset="-120"/>
              </a:rPr>
              <a:t>   Order in Layer 0</a:t>
            </a:r>
            <a:endParaRPr lang="en-US" sz="1400" dirty="0"/>
          </a:p>
          <a:p>
            <a:pPr indent="0" marL="0">
              <a:spcAft>
                <a:spcPts val="800"/>
              </a:spcAft>
              <a:buNone/>
            </a:pPr>
            <a:r>
              <a:rPr lang="en-US" sz="1400" b="1" dirty="0">
                <a:solidFill>
                  <a:srgbClr val="D2453A"/>
                </a:solidFill>
                <a:latin typeface="Segoe UI" pitchFamily="34" charset="0"/>
                <a:ea typeface="Segoe UI" pitchFamily="34" charset="-122"/>
                <a:cs typeface="Segoe UI" pitchFamily="34" charset="-120"/>
              </a:rPr>
              <a:t>Crate2</a:t>
            </a:r>
            <a:pPr indent="0" marL="0">
              <a:buNone/>
            </a:pPr>
            <a:r>
              <a:rPr lang="en-US" sz="1400" dirty="0">
                <a:solidFill>
                  <a:srgbClr val="364255"/>
                </a:solidFill>
                <a:latin typeface="Segoe UI" pitchFamily="34" charset="0"/>
                <a:ea typeface="Segoe UI" pitchFamily="34" charset="-122"/>
                <a:cs typeface="Segoe UI" pitchFamily="34" charset="-120"/>
              </a:rPr>
              <a:t>  Order in Layer 1: in front</a:t>
            </a:r>
            <a:endParaRPr lang="en-US" sz="1400" dirty="0"/>
          </a:p>
        </p:txBody>
      </p:sp>
      <p:sp>
        <p:nvSpPr>
          <p:cNvPr id="20" name="Shape 17"/>
          <p:cNvSpPr/>
          <p:nvPr/>
        </p:nvSpPr>
        <p:spPr>
          <a:xfrm>
            <a:off x="6245352" y="3611880"/>
            <a:ext cx="5394960" cy="1600200"/>
          </a:xfrm>
          <a:prstGeom prst="rect">
            <a:avLst/>
          </a:prstGeom>
          <a:solidFill>
            <a:srgbClr val="FBF0DC"/>
          </a:solidFill>
          <a:ln/>
        </p:spPr>
      </p:sp>
      <p:sp>
        <p:nvSpPr>
          <p:cNvPr id="21" name="Text 18"/>
          <p:cNvSpPr txBox="1"/>
          <p:nvPr/>
        </p:nvSpPr>
        <p:spPr>
          <a:xfrm>
            <a:off x="6492240" y="3749040"/>
            <a:ext cx="4937760" cy="365760"/>
          </a:xfrm>
          <a:prstGeom prst="rect">
            <a:avLst/>
          </a:prstGeom>
          <a:noFill/>
          <a:ln/>
        </p:spPr>
        <p:txBody>
          <a:bodyPr wrap="square" lIns="0" tIns="0" rIns="0" bIns="0" rtlCol="0" anchor="t"/>
          <a:lstStyle/>
          <a:p>
            <a:pPr indent="0" marL="0">
              <a:buNone/>
            </a:pPr>
            <a:r>
              <a:rPr lang="en-US" sz="1800" dirty="0">
                <a:solidFill>
                  <a:srgbClr val="8A5200"/>
                </a:solidFill>
                <a:latin typeface="Segoe UI Semibold" pitchFamily="34" charset="0"/>
                <a:ea typeface="Segoe UI Semibold" pitchFamily="34" charset="-122"/>
                <a:cs typeface="Segoe UI Semibold" pitchFamily="34" charset="-120"/>
              </a:rPr>
              <a:t>Sorting layers are not layers</a:t>
            </a:r>
            <a:endParaRPr lang="en-US" sz="1800" dirty="0"/>
          </a:p>
        </p:txBody>
      </p:sp>
      <p:sp>
        <p:nvSpPr>
          <p:cNvPr id="22" name="Text 19"/>
          <p:cNvSpPr txBox="1"/>
          <p:nvPr/>
        </p:nvSpPr>
        <p:spPr>
          <a:xfrm>
            <a:off x="6492240" y="4160520"/>
            <a:ext cx="4937760" cy="960120"/>
          </a:xfrm>
          <a:prstGeom prst="rect">
            <a:avLst/>
          </a:prstGeom>
          <a:noFill/>
          <a:ln/>
        </p:spPr>
        <p:txBody>
          <a:bodyPr wrap="square" lIns="0" tIns="0" rIns="0" bIns="0" rtlCol="0" anchor="t"/>
          <a:lstStyle/>
          <a:p>
            <a:pPr indent="0" marL="0">
              <a:buNone/>
            </a:pPr>
            <a:r>
              <a:rPr lang="en-US" sz="1500" dirty="0">
                <a:solidFill>
                  <a:srgbClr val="364255"/>
                </a:solidFill>
                <a:latin typeface="Segoe UI" pitchFamily="34" charset="0"/>
                <a:ea typeface="Segoe UI" pitchFamily="34" charset="-122"/>
                <a:cs typeface="Segoe UI" pitchFamily="34" charset="-120"/>
              </a:rPr>
              <a:t>A GameObject's layer filters physics and rendering. Sorting layers only decide drawing order. Same word, different lists.</a:t>
            </a:r>
            <a:endParaRPr lang="en-US" sz="1500" dirty="0"/>
          </a:p>
        </p:txBody>
      </p:sp>
      <p:sp>
        <p:nvSpPr>
          <p:cNvPr id="23" name="Text 20"/>
          <p:cNvSpPr txBox="1"/>
          <p:nvPr/>
        </p:nvSpPr>
        <p:spPr>
          <a:xfrm>
            <a:off x="6245352" y="5440680"/>
            <a:ext cx="5394960" cy="411480"/>
          </a:xfrm>
          <a:prstGeom prst="rect">
            <a:avLst/>
          </a:prstGeom>
          <a:noFill/>
          <a:ln/>
        </p:spPr>
        <p:txBody>
          <a:bodyPr wrap="square" lIns="0" tIns="0" rIns="0" bIns="0" rtlCol="0" anchor="t"/>
          <a:lstStyle/>
          <a:p>
            <a:pPr indent="0" marL="0">
              <a:buNone/>
            </a:pPr>
            <a:r>
              <a:rPr lang="en-US" sz="1700" b="1" dirty="0">
                <a:solidFill>
                  <a:srgbClr val="18202E"/>
                </a:solidFill>
                <a:latin typeface="Segoe UI" pitchFamily="34" charset="0"/>
                <a:ea typeface="Segoe UI" pitchFamily="34" charset="-122"/>
                <a:cs typeface="Segoe UI" pitchFamily="34" charset="-120"/>
              </a:rPr>
              <a:t>Keep z at 0 and set the order explicitly.</a:t>
            </a:r>
            <a:endParaRPr lang="en-US" sz="17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5 · THE PROJECT ON DISK</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Three folders are the project</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00200"/>
            <a:ext cx="5394960" cy="3474720"/>
          </a:xfrm>
          <a:prstGeom prst="rect">
            <a:avLst/>
          </a:prstGeom>
          <a:solidFill>
            <a:srgbClr val="E7F3EC"/>
          </a:solidFill>
          <a:ln/>
        </p:spPr>
      </p:sp>
      <p:sp>
        <p:nvSpPr>
          <p:cNvPr id="7" name="Text 4"/>
          <p:cNvSpPr txBox="1"/>
          <p:nvPr/>
        </p:nvSpPr>
        <p:spPr>
          <a:xfrm>
            <a:off x="822960" y="1755648"/>
            <a:ext cx="4846320" cy="411480"/>
          </a:xfrm>
          <a:prstGeom prst="rect">
            <a:avLst/>
          </a:prstGeom>
          <a:noFill/>
          <a:ln/>
        </p:spPr>
        <p:txBody>
          <a:bodyPr wrap="square" lIns="0" tIns="0" rIns="0" bIns="0" rtlCol="0" anchor="t"/>
          <a:lstStyle/>
          <a:p>
            <a:pPr indent="0" marL="0">
              <a:buNone/>
            </a:pPr>
            <a:r>
              <a:rPr lang="en-US" sz="2100" dirty="0">
                <a:solidFill>
                  <a:srgbClr val="1D6F43"/>
                </a:solidFill>
                <a:latin typeface="Segoe UI Semibold" pitchFamily="34" charset="0"/>
                <a:ea typeface="Segoe UI Semibold" pitchFamily="34" charset="-122"/>
                <a:cs typeface="Segoe UI Semibold" pitchFamily="34" charset="-120"/>
              </a:rPr>
              <a:t>The project</a:t>
            </a:r>
            <a:endParaRPr lang="en-US" sz="2100" dirty="0"/>
          </a:p>
        </p:txBody>
      </p:sp>
      <p:sp>
        <p:nvSpPr>
          <p:cNvPr id="8" name="Text 5"/>
          <p:cNvSpPr txBox="1"/>
          <p:nvPr/>
        </p:nvSpPr>
        <p:spPr>
          <a:xfrm>
            <a:off x="822960" y="2157984"/>
            <a:ext cx="4846320" cy="274320"/>
          </a:xfrm>
          <a:prstGeom prst="rect">
            <a:avLst/>
          </a:prstGeom>
          <a:noFill/>
          <a:ln/>
        </p:spPr>
        <p:txBody>
          <a:bodyPr wrap="square" lIns="0" tIns="0" rIns="0" bIns="0" rtlCol="0" anchor="t"/>
          <a:lstStyle/>
          <a:p>
            <a:pPr indent="0" marL="0">
              <a:buNone/>
            </a:pPr>
            <a:r>
              <a:rPr lang="en-US" sz="1300" dirty="0">
                <a:solidFill>
                  <a:srgbClr val="5B6678"/>
                </a:solidFill>
                <a:latin typeface="Segoe UI" pitchFamily="34" charset="0"/>
                <a:ea typeface="Segoe UI" pitchFamily="34" charset="-122"/>
                <a:cs typeface="Segoe UI" pitchFamily="34" charset="-120"/>
              </a:rPr>
              <a:t>keep, commit, submit</a:t>
            </a:r>
            <a:endParaRPr lang="en-US" sz="1300" dirty="0"/>
          </a:p>
        </p:txBody>
      </p:sp>
      <p:sp>
        <p:nvSpPr>
          <p:cNvPr id="9" name="Text 6"/>
          <p:cNvSpPr txBox="1"/>
          <p:nvPr/>
        </p:nvSpPr>
        <p:spPr>
          <a:xfrm>
            <a:off x="822960" y="2606040"/>
            <a:ext cx="4846320" cy="457200"/>
          </a:xfrm>
          <a:prstGeom prst="roundRect">
            <a:avLst>
              <a:gd name="adj" fmla="val 12000"/>
            </a:avLst>
          </a:prstGeom>
          <a:solidFill>
            <a:srgbClr val="FFFFFF"/>
          </a:solidFill>
          <a:ln w="12700">
            <a:solidFill>
              <a:srgbClr val="A6D2B8"/>
            </a:solidFill>
          </a:ln>
        </p:spPr>
        <p:txBody>
          <a:bodyPr wrap="square" lIns="0" tIns="0" rIns="0" bIns="0" rtlCol="0" anchor="ctr"/>
          <a:lstStyle/>
          <a:p>
            <a:pPr algn="ctr" indent="0" marL="0">
              <a:buNone/>
            </a:pPr>
            <a:r>
              <a:rPr lang="en-US" sz="1600" dirty="0">
                <a:solidFill>
                  <a:srgbClr val="18202E"/>
                </a:solidFill>
                <a:latin typeface="Consolas" pitchFamily="34" charset="0"/>
                <a:ea typeface="Consolas" pitchFamily="34" charset="-122"/>
                <a:cs typeface="Consolas" pitchFamily="34" charset="-120"/>
              </a:rPr>
              <a:t>Assets/   (+ every .meta)</a:t>
            </a:r>
            <a:endParaRPr lang="en-US" sz="1600" dirty="0"/>
          </a:p>
        </p:txBody>
      </p:sp>
      <p:sp>
        <p:nvSpPr>
          <p:cNvPr id="10" name="Text 7"/>
          <p:cNvSpPr txBox="1"/>
          <p:nvPr/>
        </p:nvSpPr>
        <p:spPr>
          <a:xfrm>
            <a:off x="822960" y="3172968"/>
            <a:ext cx="4846320" cy="457200"/>
          </a:xfrm>
          <a:prstGeom prst="roundRect">
            <a:avLst>
              <a:gd name="adj" fmla="val 12000"/>
            </a:avLst>
          </a:prstGeom>
          <a:solidFill>
            <a:srgbClr val="FFFFFF"/>
          </a:solidFill>
          <a:ln w="12700">
            <a:solidFill>
              <a:srgbClr val="A6D2B8"/>
            </a:solidFill>
          </a:ln>
        </p:spPr>
        <p:txBody>
          <a:bodyPr wrap="square" lIns="0" tIns="0" rIns="0" bIns="0" rtlCol="0" anchor="ctr"/>
          <a:lstStyle/>
          <a:p>
            <a:pPr algn="ctr" indent="0" marL="0">
              <a:buNone/>
            </a:pPr>
            <a:r>
              <a:rPr lang="en-US" sz="1600" dirty="0">
                <a:solidFill>
                  <a:srgbClr val="18202E"/>
                </a:solidFill>
                <a:latin typeface="Consolas" pitchFamily="34" charset="0"/>
                <a:ea typeface="Consolas" pitchFamily="34" charset="-122"/>
                <a:cs typeface="Consolas" pitchFamily="34" charset="-120"/>
              </a:rPr>
              <a:t>Packages/</a:t>
            </a:r>
            <a:endParaRPr lang="en-US" sz="1600" dirty="0"/>
          </a:p>
        </p:txBody>
      </p:sp>
      <p:sp>
        <p:nvSpPr>
          <p:cNvPr id="11" name="Text 8"/>
          <p:cNvSpPr txBox="1"/>
          <p:nvPr/>
        </p:nvSpPr>
        <p:spPr>
          <a:xfrm>
            <a:off x="822960" y="3739896"/>
            <a:ext cx="4846320" cy="457200"/>
          </a:xfrm>
          <a:prstGeom prst="roundRect">
            <a:avLst>
              <a:gd name="adj" fmla="val 12000"/>
            </a:avLst>
          </a:prstGeom>
          <a:solidFill>
            <a:srgbClr val="FFFFFF"/>
          </a:solidFill>
          <a:ln w="12700">
            <a:solidFill>
              <a:srgbClr val="A6D2B8"/>
            </a:solidFill>
          </a:ln>
        </p:spPr>
        <p:txBody>
          <a:bodyPr wrap="square" lIns="0" tIns="0" rIns="0" bIns="0" rtlCol="0" anchor="ctr"/>
          <a:lstStyle/>
          <a:p>
            <a:pPr algn="ctr" indent="0" marL="0">
              <a:buNone/>
            </a:pPr>
            <a:r>
              <a:rPr lang="en-US" sz="1600" dirty="0">
                <a:solidFill>
                  <a:srgbClr val="18202E"/>
                </a:solidFill>
                <a:latin typeface="Consolas" pitchFamily="34" charset="0"/>
                <a:ea typeface="Consolas" pitchFamily="34" charset="-122"/>
                <a:cs typeface="Consolas" pitchFamily="34" charset="-120"/>
              </a:rPr>
              <a:t>ProjectSettings/</a:t>
            </a:r>
            <a:endParaRPr lang="en-US" sz="1600" dirty="0"/>
          </a:p>
        </p:txBody>
      </p:sp>
      <p:sp>
        <p:nvSpPr>
          <p:cNvPr id="12" name="Text 9"/>
          <p:cNvSpPr txBox="1"/>
          <p:nvPr/>
        </p:nvSpPr>
        <p:spPr>
          <a:xfrm>
            <a:off x="822960" y="4389120"/>
            <a:ext cx="4846320" cy="457200"/>
          </a:xfrm>
          <a:prstGeom prst="rect">
            <a:avLst/>
          </a:prstGeom>
          <a:noFill/>
          <a:ln/>
        </p:spPr>
        <p:txBody>
          <a:bodyPr wrap="square" lIns="0" tIns="0" rIns="0" bIns="0" rtlCol="0" anchor="t"/>
          <a:lstStyle/>
          <a:p>
            <a:pPr indent="0" marL="0">
              <a:buNone/>
            </a:pPr>
            <a:r>
              <a:rPr lang="en-US" sz="2200" dirty="0">
                <a:solidFill>
                  <a:srgbClr val="1D6F43"/>
                </a:solidFill>
                <a:latin typeface="Segoe UI Semibold" pitchFamily="34" charset="0"/>
                <a:ea typeface="Segoe UI Semibold" pitchFamily="34" charset="-122"/>
                <a:cs typeface="Segoe UI Semibold" pitchFamily="34" charset="-120"/>
              </a:rPr>
              <a:t>a few MB</a:t>
            </a:r>
            <a:endParaRPr lang="en-US" sz="2200" dirty="0"/>
          </a:p>
        </p:txBody>
      </p:sp>
      <p:sp>
        <p:nvSpPr>
          <p:cNvPr id="13" name="Shape 10"/>
          <p:cNvSpPr/>
          <p:nvPr/>
        </p:nvSpPr>
        <p:spPr>
          <a:xfrm>
            <a:off x="6245352" y="1600200"/>
            <a:ext cx="5394960" cy="3474720"/>
          </a:xfrm>
          <a:prstGeom prst="rect">
            <a:avLst/>
          </a:prstGeom>
          <a:solidFill>
            <a:srgbClr val="F0F3F7"/>
          </a:solidFill>
          <a:ln/>
        </p:spPr>
      </p:sp>
      <p:sp>
        <p:nvSpPr>
          <p:cNvPr id="14" name="Text 11"/>
          <p:cNvSpPr txBox="1"/>
          <p:nvPr/>
        </p:nvSpPr>
        <p:spPr>
          <a:xfrm>
            <a:off x="6519672" y="1755648"/>
            <a:ext cx="4846320" cy="411480"/>
          </a:xfrm>
          <a:prstGeom prst="rect">
            <a:avLst/>
          </a:prstGeom>
          <a:noFill/>
          <a:ln/>
        </p:spPr>
        <p:txBody>
          <a:bodyPr wrap="square" lIns="0" tIns="0" rIns="0" bIns="0" rtlCol="0" anchor="t"/>
          <a:lstStyle/>
          <a:p>
            <a:pPr indent="0" marL="0">
              <a:buNone/>
            </a:pPr>
            <a:r>
              <a:rPr lang="en-US" sz="2100" dirty="0">
                <a:solidFill>
                  <a:srgbClr val="364255"/>
                </a:solidFill>
                <a:latin typeface="Segoe UI Semibold" pitchFamily="34" charset="0"/>
                <a:ea typeface="Segoe UI Semibold" pitchFamily="34" charset="-122"/>
                <a:cs typeface="Segoe UI Semibold" pitchFamily="34" charset="-120"/>
              </a:rPr>
              <a:t>Regenerable</a:t>
            </a:r>
            <a:endParaRPr lang="en-US" sz="2100" dirty="0"/>
          </a:p>
        </p:txBody>
      </p:sp>
      <p:sp>
        <p:nvSpPr>
          <p:cNvPr id="15" name="Text 12"/>
          <p:cNvSpPr txBox="1"/>
          <p:nvPr/>
        </p:nvSpPr>
        <p:spPr>
          <a:xfrm>
            <a:off x="6519672" y="2157984"/>
            <a:ext cx="4846320" cy="274320"/>
          </a:xfrm>
          <a:prstGeom prst="rect">
            <a:avLst/>
          </a:prstGeom>
          <a:noFill/>
          <a:ln/>
        </p:spPr>
        <p:txBody>
          <a:bodyPr wrap="square" lIns="0" tIns="0" rIns="0" bIns="0" rtlCol="0" anchor="t"/>
          <a:lstStyle/>
          <a:p>
            <a:pPr indent="0" marL="0">
              <a:buNone/>
            </a:pPr>
            <a:r>
              <a:rPr lang="en-US" sz="1300" dirty="0">
                <a:solidFill>
                  <a:srgbClr val="5B6678"/>
                </a:solidFill>
                <a:latin typeface="Segoe UI" pitchFamily="34" charset="0"/>
                <a:ea typeface="Segoe UI" pitchFamily="34" charset="-122"/>
                <a:cs typeface="Segoe UI" pitchFamily="34" charset="-120"/>
              </a:rPr>
              <a:t>never commit or submit</a:t>
            </a:r>
            <a:endParaRPr lang="en-US" sz="1300" dirty="0"/>
          </a:p>
        </p:txBody>
      </p:sp>
      <p:sp>
        <p:nvSpPr>
          <p:cNvPr id="16" name="Text 13"/>
          <p:cNvSpPr txBox="1"/>
          <p:nvPr/>
        </p:nvSpPr>
        <p:spPr>
          <a:xfrm>
            <a:off x="6519672" y="2606040"/>
            <a:ext cx="2359152" cy="457200"/>
          </a:xfrm>
          <a:prstGeom prst="roundRect">
            <a:avLst>
              <a:gd name="adj" fmla="val 12000"/>
            </a:avLst>
          </a:prstGeom>
          <a:solidFill>
            <a:srgbClr val="FFFFFF"/>
          </a:solidFill>
          <a:ln w="12700">
            <a:solidFill>
              <a:srgbClr val="D5DBE3"/>
            </a:solidFill>
          </a:ln>
        </p:spPr>
        <p:txBody>
          <a:bodyPr wrap="square" lIns="0" tIns="0" rIns="0" bIns="0" rtlCol="0" anchor="ctr"/>
          <a:lstStyle/>
          <a:p>
            <a:pPr algn="ctr" indent="0" marL="0">
              <a:buNone/>
            </a:pPr>
            <a:r>
              <a:rPr lang="en-US" sz="1500" dirty="0">
                <a:solidFill>
                  <a:srgbClr val="5B6678"/>
                </a:solidFill>
                <a:latin typeface="Consolas" pitchFamily="34" charset="0"/>
                <a:ea typeface="Consolas" pitchFamily="34" charset="-122"/>
                <a:cs typeface="Consolas" pitchFamily="34" charset="-120"/>
              </a:rPr>
              <a:t>Library/</a:t>
            </a:r>
            <a:endParaRPr lang="en-US" sz="1500" dirty="0"/>
          </a:p>
        </p:txBody>
      </p:sp>
      <p:sp>
        <p:nvSpPr>
          <p:cNvPr id="17" name="Text 14"/>
          <p:cNvSpPr txBox="1"/>
          <p:nvPr/>
        </p:nvSpPr>
        <p:spPr>
          <a:xfrm>
            <a:off x="9006840" y="2606040"/>
            <a:ext cx="2359152" cy="457200"/>
          </a:xfrm>
          <a:prstGeom prst="roundRect">
            <a:avLst>
              <a:gd name="adj" fmla="val 12000"/>
            </a:avLst>
          </a:prstGeom>
          <a:solidFill>
            <a:srgbClr val="FFFFFF"/>
          </a:solidFill>
          <a:ln w="12700">
            <a:solidFill>
              <a:srgbClr val="D5DBE3"/>
            </a:solidFill>
          </a:ln>
        </p:spPr>
        <p:txBody>
          <a:bodyPr wrap="square" lIns="0" tIns="0" rIns="0" bIns="0" rtlCol="0" anchor="ctr"/>
          <a:lstStyle/>
          <a:p>
            <a:pPr algn="ctr" indent="0" marL="0">
              <a:buNone/>
            </a:pPr>
            <a:r>
              <a:rPr lang="en-US" sz="1500" dirty="0">
                <a:solidFill>
                  <a:srgbClr val="5B6678"/>
                </a:solidFill>
                <a:latin typeface="Consolas" pitchFamily="34" charset="0"/>
                <a:ea typeface="Consolas" pitchFamily="34" charset="-122"/>
                <a:cs typeface="Consolas" pitchFamily="34" charset="-120"/>
              </a:rPr>
              <a:t>Temp/</a:t>
            </a:r>
            <a:endParaRPr lang="en-US" sz="1500" dirty="0"/>
          </a:p>
        </p:txBody>
      </p:sp>
      <p:sp>
        <p:nvSpPr>
          <p:cNvPr id="18" name="Text 15"/>
          <p:cNvSpPr txBox="1"/>
          <p:nvPr/>
        </p:nvSpPr>
        <p:spPr>
          <a:xfrm>
            <a:off x="6519672" y="3172968"/>
            <a:ext cx="2359152" cy="457200"/>
          </a:xfrm>
          <a:prstGeom prst="roundRect">
            <a:avLst>
              <a:gd name="adj" fmla="val 12000"/>
            </a:avLst>
          </a:prstGeom>
          <a:solidFill>
            <a:srgbClr val="FFFFFF"/>
          </a:solidFill>
          <a:ln w="12700">
            <a:solidFill>
              <a:srgbClr val="D5DBE3"/>
            </a:solidFill>
          </a:ln>
        </p:spPr>
        <p:txBody>
          <a:bodyPr wrap="square" lIns="0" tIns="0" rIns="0" bIns="0" rtlCol="0" anchor="ctr"/>
          <a:lstStyle/>
          <a:p>
            <a:pPr algn="ctr" indent="0" marL="0">
              <a:buNone/>
            </a:pPr>
            <a:r>
              <a:rPr lang="en-US" sz="1500" dirty="0">
                <a:solidFill>
                  <a:srgbClr val="5B6678"/>
                </a:solidFill>
                <a:latin typeface="Consolas" pitchFamily="34" charset="0"/>
                <a:ea typeface="Consolas" pitchFamily="34" charset="-122"/>
                <a:cs typeface="Consolas" pitchFamily="34" charset="-120"/>
              </a:rPr>
              <a:t>Logs/</a:t>
            </a:r>
            <a:endParaRPr lang="en-US" sz="1500" dirty="0"/>
          </a:p>
        </p:txBody>
      </p:sp>
      <p:sp>
        <p:nvSpPr>
          <p:cNvPr id="19" name="Text 16"/>
          <p:cNvSpPr txBox="1"/>
          <p:nvPr/>
        </p:nvSpPr>
        <p:spPr>
          <a:xfrm>
            <a:off x="9006840" y="3172968"/>
            <a:ext cx="2359152" cy="457200"/>
          </a:xfrm>
          <a:prstGeom prst="roundRect">
            <a:avLst>
              <a:gd name="adj" fmla="val 12000"/>
            </a:avLst>
          </a:prstGeom>
          <a:solidFill>
            <a:srgbClr val="FFFFFF"/>
          </a:solidFill>
          <a:ln w="12700">
            <a:solidFill>
              <a:srgbClr val="D5DBE3"/>
            </a:solidFill>
          </a:ln>
        </p:spPr>
        <p:txBody>
          <a:bodyPr wrap="square" lIns="0" tIns="0" rIns="0" bIns="0" rtlCol="0" anchor="ctr"/>
          <a:lstStyle/>
          <a:p>
            <a:pPr algn="ctr" indent="0" marL="0">
              <a:buNone/>
            </a:pPr>
            <a:r>
              <a:rPr lang="en-US" sz="1500" dirty="0">
                <a:solidFill>
                  <a:srgbClr val="5B6678"/>
                </a:solidFill>
                <a:latin typeface="Consolas" pitchFamily="34" charset="0"/>
                <a:ea typeface="Consolas" pitchFamily="34" charset="-122"/>
                <a:cs typeface="Consolas" pitchFamily="34" charset="-120"/>
              </a:rPr>
              <a:t>obj/</a:t>
            </a:r>
            <a:endParaRPr lang="en-US" sz="1500" dirty="0"/>
          </a:p>
        </p:txBody>
      </p:sp>
      <p:sp>
        <p:nvSpPr>
          <p:cNvPr id="20" name="Text 17"/>
          <p:cNvSpPr txBox="1"/>
          <p:nvPr/>
        </p:nvSpPr>
        <p:spPr>
          <a:xfrm>
            <a:off x="6519672" y="3739896"/>
            <a:ext cx="2359152" cy="457200"/>
          </a:xfrm>
          <a:prstGeom prst="roundRect">
            <a:avLst>
              <a:gd name="adj" fmla="val 12000"/>
            </a:avLst>
          </a:prstGeom>
          <a:solidFill>
            <a:srgbClr val="FFFFFF"/>
          </a:solidFill>
          <a:ln w="12700">
            <a:solidFill>
              <a:srgbClr val="D5DBE3"/>
            </a:solidFill>
          </a:ln>
        </p:spPr>
        <p:txBody>
          <a:bodyPr wrap="square" lIns="0" tIns="0" rIns="0" bIns="0" rtlCol="0" anchor="ctr"/>
          <a:lstStyle/>
          <a:p>
            <a:pPr algn="ctr" indent="0" marL="0">
              <a:buNone/>
            </a:pPr>
            <a:r>
              <a:rPr lang="en-US" sz="1500" dirty="0">
                <a:solidFill>
                  <a:srgbClr val="5B6678"/>
                </a:solidFill>
                <a:latin typeface="Consolas" pitchFamily="34" charset="0"/>
                <a:ea typeface="Consolas" pitchFamily="34" charset="-122"/>
                <a:cs typeface="Consolas" pitchFamily="34" charset="-120"/>
              </a:rPr>
              <a:t>UserSettings/</a:t>
            </a:r>
            <a:endParaRPr lang="en-US" sz="1500" dirty="0"/>
          </a:p>
        </p:txBody>
      </p:sp>
      <p:sp>
        <p:nvSpPr>
          <p:cNvPr id="21" name="Text 18"/>
          <p:cNvSpPr txBox="1"/>
          <p:nvPr/>
        </p:nvSpPr>
        <p:spPr>
          <a:xfrm>
            <a:off x="9006840" y="3739896"/>
            <a:ext cx="2359152" cy="457200"/>
          </a:xfrm>
          <a:prstGeom prst="roundRect">
            <a:avLst>
              <a:gd name="adj" fmla="val 12000"/>
            </a:avLst>
          </a:prstGeom>
          <a:solidFill>
            <a:srgbClr val="FFFFFF"/>
          </a:solidFill>
          <a:ln w="12700">
            <a:solidFill>
              <a:srgbClr val="D5DBE3"/>
            </a:solidFill>
          </a:ln>
        </p:spPr>
        <p:txBody>
          <a:bodyPr wrap="square" lIns="0" tIns="0" rIns="0" bIns="0" rtlCol="0" anchor="ctr"/>
          <a:lstStyle/>
          <a:p>
            <a:pPr algn="ctr" indent="0" marL="0">
              <a:buNone/>
            </a:pPr>
            <a:r>
              <a:rPr lang="en-US" sz="1500" dirty="0">
                <a:solidFill>
                  <a:srgbClr val="5B6678"/>
                </a:solidFill>
                <a:latin typeface="Consolas" pitchFamily="34" charset="0"/>
                <a:ea typeface="Consolas" pitchFamily="34" charset="-122"/>
                <a:cs typeface="Consolas" pitchFamily="34" charset="-120"/>
              </a:rPr>
              <a:t>*.sln  *.csproj</a:t>
            </a:r>
            <a:endParaRPr lang="en-US" sz="1500" dirty="0"/>
          </a:p>
        </p:txBody>
      </p:sp>
      <p:sp>
        <p:nvSpPr>
          <p:cNvPr id="22" name="Text 19"/>
          <p:cNvSpPr txBox="1"/>
          <p:nvPr/>
        </p:nvSpPr>
        <p:spPr>
          <a:xfrm>
            <a:off x="6519672" y="4389120"/>
            <a:ext cx="4846320" cy="457200"/>
          </a:xfrm>
          <a:prstGeom prst="rect">
            <a:avLst/>
          </a:prstGeom>
          <a:noFill/>
          <a:ln/>
        </p:spPr>
        <p:txBody>
          <a:bodyPr wrap="square" lIns="0" tIns="0" rIns="0" bIns="0" rtlCol="0" anchor="t"/>
          <a:lstStyle/>
          <a:p>
            <a:pPr indent="0" marL="0">
              <a:buNone/>
            </a:pPr>
            <a:r>
              <a:rPr lang="en-US" sz="2200" dirty="0">
                <a:solidFill>
                  <a:srgbClr val="364255"/>
                </a:solidFill>
                <a:latin typeface="Segoe UI Semibold" pitchFamily="34" charset="0"/>
                <a:ea typeface="Segoe UI Semibold" pitchFamily="34" charset="-122"/>
                <a:cs typeface="Segoe UI Semibold" pitchFamily="34" charset="-120"/>
              </a:rPr>
              <a:t>hundreds of MB</a:t>
            </a:r>
            <a:endParaRPr lang="en-US" sz="2200" dirty="0"/>
          </a:p>
        </p:txBody>
      </p:sp>
      <p:sp>
        <p:nvSpPr>
          <p:cNvPr id="23" name="Text 20"/>
          <p:cNvSpPr txBox="1"/>
          <p:nvPr/>
        </p:nvSpPr>
        <p:spPr>
          <a:xfrm>
            <a:off x="548640" y="5303520"/>
            <a:ext cx="11094415" cy="365760"/>
          </a:xfrm>
          <a:prstGeom prst="rect">
            <a:avLst/>
          </a:prstGeom>
          <a:noFill/>
          <a:ln/>
        </p:spPr>
        <p:txBody>
          <a:bodyPr wrap="square" lIns="0" tIns="0" rIns="0" bIns="0" rtlCol="0" anchor="t"/>
          <a:lstStyle/>
          <a:p>
            <a:pPr indent="0" marL="0">
              <a:buNone/>
            </a:pPr>
            <a:r>
              <a:rPr lang="en-US" sz="1600" dirty="0">
                <a:solidFill>
                  <a:srgbClr val="364255"/>
                </a:solidFill>
                <a:latin typeface="Consolas" pitchFamily="34" charset="0"/>
                <a:ea typeface="Consolas" pitchFamily="34" charset="-122"/>
                <a:cs typeface="Consolas" pitchFamily="34" charset="-120"/>
              </a:rPr>
              <a:t>Library/</a:t>
            </a:r>
            <a:pPr indent="0" marL="0">
              <a:buNone/>
            </a:pPr>
            <a:r>
              <a:rPr lang="en-US" sz="1600" dirty="0">
                <a:solidFill>
                  <a:srgbClr val="364255"/>
                </a:solidFill>
                <a:latin typeface="Segoe UI" pitchFamily="34" charset="0"/>
                <a:ea typeface="Segoe UI" pitchFamily="34" charset="-122"/>
                <a:cs typeface="Segoe UI" pitchFamily="34" charset="-120"/>
              </a:rPr>
              <a:t> is like bin/ and obj/ in .NET: delete it and Unity rebuilds it from Assets. It costs minutes, not work.</a:t>
            </a:r>
            <a:endParaRPr lang="en-US" sz="1600" dirty="0"/>
          </a:p>
        </p:txBody>
      </p:sp>
      <p:sp>
        <p:nvSpPr>
          <p:cNvPr id="24" name="Text 21"/>
          <p:cNvSpPr txBox="1"/>
          <p:nvPr/>
        </p:nvSpPr>
        <p:spPr>
          <a:xfrm>
            <a:off x="548640" y="5742432"/>
            <a:ext cx="11094415" cy="365760"/>
          </a:xfrm>
          <a:prstGeom prst="rect">
            <a:avLst/>
          </a:prstGeom>
          <a:noFill/>
          <a:ln/>
        </p:spPr>
        <p:txBody>
          <a:bodyPr wrap="square" lIns="0" tIns="0" rIns="0" bIns="0" rtlCol="0" anchor="t"/>
          <a:lstStyle/>
          <a:p>
            <a:pPr indent="0" marL="0">
              <a:buNone/>
            </a:pPr>
            <a:r>
              <a:rPr lang="en-US" sz="1600" b="1" dirty="0">
                <a:solidFill>
                  <a:srgbClr val="18202E"/>
                </a:solidFill>
                <a:latin typeface="Segoe UI" pitchFamily="34" charset="0"/>
                <a:ea typeface="Segoe UI" pitchFamily="34" charset="-122"/>
                <a:cs typeface="Segoe UI" pitchFamily="34" charset="-120"/>
              </a:rPr>
              <a:t>A submission of hundreds of MB means Library is inside.</a:t>
            </a:r>
            <a:endParaRPr lang="en-US" sz="16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5 · THE PROJECT ON DISK</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Every asset has a .meta file</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Text 3"/>
          <p:cNvSpPr txBox="1"/>
          <p:nvPr/>
        </p:nvSpPr>
        <p:spPr>
          <a:xfrm>
            <a:off x="548640" y="1645920"/>
            <a:ext cx="2194560" cy="457200"/>
          </a:xfrm>
          <a:prstGeom prst="roundRect">
            <a:avLst>
              <a:gd name="adj" fmla="val 12000"/>
            </a:avLst>
          </a:prstGeom>
          <a:solidFill>
            <a:srgbClr val="FFFFFF"/>
          </a:solidFill>
          <a:ln w="12700">
            <a:solidFill>
              <a:srgbClr val="D5DBE3"/>
            </a:solidFill>
          </a:ln>
        </p:spPr>
        <p:txBody>
          <a:bodyPr wrap="square" lIns="0" tIns="0" rIns="0" bIns="0" rtlCol="0" anchor="ctr"/>
          <a:lstStyle/>
          <a:p>
            <a:pPr algn="ctr" indent="0" marL="0">
              <a:buNone/>
            </a:pPr>
            <a:r>
              <a:rPr lang="en-US" sz="1500" dirty="0">
                <a:solidFill>
                  <a:srgbClr val="18202E"/>
                </a:solidFill>
                <a:latin typeface="Consolas" pitchFamily="34" charset="0"/>
                <a:ea typeface="Consolas" pitchFamily="34" charset="-122"/>
                <a:cs typeface="Consolas" pitchFamily="34" charset="-120"/>
              </a:rPr>
              <a:t>player.png</a:t>
            </a:r>
            <a:endParaRPr lang="en-US" sz="1500" dirty="0"/>
          </a:p>
        </p:txBody>
      </p:sp>
      <p:sp>
        <p:nvSpPr>
          <p:cNvPr id="7" name="Text 4"/>
          <p:cNvSpPr txBox="1"/>
          <p:nvPr/>
        </p:nvSpPr>
        <p:spPr>
          <a:xfrm>
            <a:off x="2926080" y="1645920"/>
            <a:ext cx="3017520" cy="457200"/>
          </a:xfrm>
          <a:prstGeom prst="roundRect">
            <a:avLst>
              <a:gd name="adj" fmla="val 12000"/>
            </a:avLst>
          </a:prstGeom>
          <a:solidFill>
            <a:srgbClr val="E9EFF9"/>
          </a:solidFill>
          <a:ln/>
        </p:spPr>
        <p:txBody>
          <a:bodyPr wrap="square" lIns="0" tIns="0" rIns="0" bIns="0" rtlCol="0" anchor="ctr"/>
          <a:lstStyle/>
          <a:p>
            <a:pPr algn="ctr" indent="0" marL="0">
              <a:buNone/>
            </a:pPr>
            <a:r>
              <a:rPr lang="en-US" sz="1500" dirty="0">
                <a:solidFill>
                  <a:srgbClr val="2354A6"/>
                </a:solidFill>
                <a:latin typeface="Consolas" pitchFamily="34" charset="0"/>
                <a:ea typeface="Consolas" pitchFamily="34" charset="-122"/>
                <a:cs typeface="Consolas" pitchFamily="34" charset="-120"/>
              </a:rPr>
              <a:t>player.png.meta</a:t>
            </a:r>
            <a:endParaRPr lang="en-US" sz="1500" dirty="0"/>
          </a:p>
        </p:txBody>
      </p:sp>
      <p:sp>
        <p:nvSpPr>
          <p:cNvPr id="8" name="Shape 5"/>
          <p:cNvSpPr/>
          <p:nvPr/>
        </p:nvSpPr>
        <p:spPr>
          <a:xfrm>
            <a:off x="548640" y="2286000"/>
            <a:ext cx="5394960" cy="1417320"/>
          </a:xfrm>
          <a:prstGeom prst="rect">
            <a:avLst/>
          </a:prstGeom>
          <a:solidFill>
            <a:srgbClr val="F0F3F7"/>
          </a:solidFill>
          <a:ln/>
        </p:spPr>
      </p:sp>
      <p:sp>
        <p:nvSpPr>
          <p:cNvPr id="9" name="Text 6"/>
          <p:cNvSpPr txBox="1"/>
          <p:nvPr/>
        </p:nvSpPr>
        <p:spPr>
          <a:xfrm>
            <a:off x="749808" y="2432304"/>
            <a:ext cx="5029200" cy="1161288"/>
          </a:xfrm>
          <a:prstGeom prst="rect">
            <a:avLst/>
          </a:prstGeom>
          <a:noFill/>
          <a:ln/>
        </p:spPr>
        <p:txBody>
          <a:bodyPr wrap="square" lIns="0" tIns="0" rIns="0" bIns="0" rtlCol="0" anchor="t"/>
          <a:lstStyle/>
          <a:p>
            <a:pPr indent="0" marL="0">
              <a:buNone/>
            </a:pPr>
            <a:r>
              <a:rPr lang="en-US" sz="1300" dirty="0">
                <a:solidFill>
                  <a:srgbClr val="18202E"/>
                </a:solidFill>
                <a:latin typeface="Consolas" pitchFamily="34" charset="0"/>
                <a:ea typeface="Consolas" pitchFamily="34" charset="-122"/>
                <a:cs typeface="Consolas" pitchFamily="34" charset="-120"/>
              </a:rPr>
              <a:t>fileFormatVersion: 2</a:t>
            </a:r>
            <a:endParaRPr lang="en-US" sz="1300" dirty="0"/>
          </a:p>
          <a:p>
            <a:pPr indent="0" marL="0">
              <a:buNone/>
            </a:pPr>
            <a:r>
              <a:rPr lang="en-US" sz="1300" dirty="0">
                <a:solidFill>
                  <a:srgbClr val="18202E"/>
                </a:solidFill>
                <a:latin typeface="Consolas" pitchFamily="34" charset="0"/>
                <a:ea typeface="Consolas" pitchFamily="34" charset="-122"/>
                <a:cs typeface="Consolas" pitchFamily="34" charset="-120"/>
              </a:rPr>
              <a:t>guid: 8f3c1b2a4d5e6f708192a3b4c5d6e7f8</a:t>
            </a:r>
            <a:endParaRPr lang="en-US" sz="1300" dirty="0"/>
          </a:p>
          <a:p>
            <a:pPr indent="0" marL="0">
              <a:buNone/>
            </a:pPr>
            <a:r>
              <a:rPr lang="en-US" sz="1300" dirty="0">
                <a:solidFill>
                  <a:srgbClr val="18202E"/>
                </a:solidFill>
                <a:latin typeface="Consolas" pitchFamily="34" charset="0"/>
                <a:ea typeface="Consolas" pitchFamily="34" charset="-122"/>
                <a:cs typeface="Consolas" pitchFamily="34" charset="-120"/>
              </a:rPr>
              <a:t>TextureImporter:</a:t>
            </a:r>
            <a:endParaRPr lang="en-US" sz="1300" dirty="0"/>
          </a:p>
          <a:p>
            <a:pPr indent="0" marL="0">
              <a:buNone/>
            </a:pPr>
            <a:r>
              <a:rPr lang="en-US" sz="1300" dirty="0">
                <a:solidFill>
                  <a:srgbClr val="18202E"/>
                </a:solidFill>
                <a:latin typeface="Consolas" pitchFamily="34" charset="0"/>
                <a:ea typeface="Consolas" pitchFamily="34" charset="-122"/>
                <a:cs typeface="Consolas" pitchFamily="34" charset="-120"/>
              </a:rPr>
              <a:t>  spritePixelsToUnits: 18</a:t>
            </a:r>
            <a:endParaRPr lang="en-US" sz="1300" dirty="0"/>
          </a:p>
        </p:txBody>
      </p:sp>
      <p:sp>
        <p:nvSpPr>
          <p:cNvPr id="10" name="Text 7"/>
          <p:cNvSpPr txBox="1"/>
          <p:nvPr/>
        </p:nvSpPr>
        <p:spPr>
          <a:xfrm>
            <a:off x="548640" y="3886200"/>
            <a:ext cx="5394960" cy="320040"/>
          </a:xfrm>
          <a:prstGeom prst="rect">
            <a:avLst/>
          </a:prstGeom>
          <a:noFill/>
          <a:ln/>
        </p:spPr>
        <p:txBody>
          <a:bodyPr wrap="square" lIns="0" tIns="0" rIns="0" bIns="0" rtlCol="0" anchor="t"/>
          <a:lstStyle/>
          <a:p>
            <a:pPr indent="0" marL="0">
              <a:buNone/>
            </a:pPr>
            <a:r>
              <a:rPr lang="en-US" sz="1400" dirty="0">
                <a:solidFill>
                  <a:srgbClr val="364255"/>
                </a:solidFill>
                <a:latin typeface="Segoe UI" pitchFamily="34" charset="0"/>
                <a:ea typeface="Segoe UI" pitchFamily="34" charset="-122"/>
                <a:cs typeface="Segoe UI" pitchFamily="34" charset="-120"/>
              </a:rPr>
              <a:t>In the scene file, a reference is the GUID, never the path:</a:t>
            </a:r>
            <a:endParaRPr lang="en-US" sz="1400" dirty="0"/>
          </a:p>
        </p:txBody>
      </p:sp>
      <p:sp>
        <p:nvSpPr>
          <p:cNvPr id="11" name="Shape 8"/>
          <p:cNvSpPr/>
          <p:nvPr/>
        </p:nvSpPr>
        <p:spPr>
          <a:xfrm>
            <a:off x="548640" y="4251960"/>
            <a:ext cx="5394960" cy="566928"/>
          </a:xfrm>
          <a:prstGeom prst="rect">
            <a:avLst/>
          </a:prstGeom>
          <a:solidFill>
            <a:srgbClr val="F0F3F7"/>
          </a:solidFill>
          <a:ln/>
        </p:spPr>
      </p:sp>
      <p:sp>
        <p:nvSpPr>
          <p:cNvPr id="12" name="Text 9"/>
          <p:cNvSpPr txBox="1"/>
          <p:nvPr/>
        </p:nvSpPr>
        <p:spPr>
          <a:xfrm>
            <a:off x="749808" y="4398264"/>
            <a:ext cx="5029200" cy="310896"/>
          </a:xfrm>
          <a:prstGeom prst="rect">
            <a:avLst/>
          </a:prstGeom>
          <a:noFill/>
          <a:ln/>
        </p:spPr>
        <p:txBody>
          <a:bodyPr wrap="square" lIns="0" tIns="0" rIns="0" bIns="0" rtlCol="0" anchor="t"/>
          <a:lstStyle/>
          <a:p>
            <a:pPr indent="0" marL="0">
              <a:buNone/>
            </a:pPr>
            <a:r>
              <a:rPr lang="en-US" sz="1300" dirty="0">
                <a:solidFill>
                  <a:srgbClr val="18202E"/>
                </a:solidFill>
                <a:latin typeface="Consolas" pitchFamily="34" charset="0"/>
                <a:ea typeface="Consolas" pitchFamily="34" charset="-122"/>
                <a:cs typeface="Consolas" pitchFamily="34" charset="-120"/>
              </a:rPr>
              <a:t>m_Sprite: {fileID: 21300000, guid: 8f3c1b2a…, type: 3}</a:t>
            </a:r>
            <a:endParaRPr lang="en-US" sz="1300" dirty="0"/>
          </a:p>
        </p:txBody>
      </p:sp>
      <p:sp>
        <p:nvSpPr>
          <p:cNvPr id="13" name="Text 10"/>
          <p:cNvSpPr txBox="1"/>
          <p:nvPr/>
        </p:nvSpPr>
        <p:spPr>
          <a:xfrm>
            <a:off x="548640" y="4983480"/>
            <a:ext cx="5394960" cy="640080"/>
          </a:xfrm>
          <a:prstGeom prst="rect">
            <a:avLst/>
          </a:prstGeom>
          <a:noFill/>
          <a:ln/>
        </p:spPr>
        <p:txBody>
          <a:bodyPr wrap="square" lIns="0" tIns="0" rIns="0" bIns="0" rtlCol="0" anchor="t"/>
          <a:lstStyle/>
          <a:p>
            <a:pPr indent="0" marL="0">
              <a:buNone/>
            </a:pPr>
            <a:r>
              <a:rPr lang="en-US" sz="1400" dirty="0">
                <a:solidFill>
                  <a:srgbClr val="5B6678"/>
                </a:solidFill>
                <a:latin typeface="Segoe UI" pitchFamily="34" charset="0"/>
                <a:ea typeface="Segoe UI" pitchFamily="34" charset="-122"/>
                <a:cs typeface="Segoe UI" pitchFamily="34" charset="-120"/>
              </a:rPr>
              <a:t>The .meta holds the import settings and the GUID, the asset's permanent identity.</a:t>
            </a:r>
            <a:endParaRPr lang="en-US" sz="1400" dirty="0"/>
          </a:p>
        </p:txBody>
      </p:sp>
      <p:sp>
        <p:nvSpPr>
          <p:cNvPr id="14" name="Shape 11"/>
          <p:cNvSpPr/>
          <p:nvPr/>
        </p:nvSpPr>
        <p:spPr>
          <a:xfrm>
            <a:off x="6309360" y="1645920"/>
            <a:ext cx="5333695" cy="1600200"/>
          </a:xfrm>
          <a:prstGeom prst="rect">
            <a:avLst/>
          </a:prstGeom>
          <a:solidFill>
            <a:srgbClr val="E7F3EC"/>
          </a:solidFill>
          <a:ln/>
        </p:spPr>
      </p:sp>
      <p:sp>
        <p:nvSpPr>
          <p:cNvPr id="15" name="Text 12"/>
          <p:cNvSpPr txBox="1"/>
          <p:nvPr/>
        </p:nvSpPr>
        <p:spPr>
          <a:xfrm>
            <a:off x="6583680" y="1810512"/>
            <a:ext cx="4785055" cy="384048"/>
          </a:xfrm>
          <a:prstGeom prst="rect">
            <a:avLst/>
          </a:prstGeom>
          <a:noFill/>
          <a:ln/>
        </p:spPr>
        <p:txBody>
          <a:bodyPr wrap="square" lIns="0" tIns="0" rIns="0" bIns="0" rtlCol="0" anchor="t"/>
          <a:lstStyle/>
          <a:p>
            <a:pPr indent="0" marL="0">
              <a:buNone/>
            </a:pPr>
            <a:r>
              <a:rPr lang="en-US" sz="1800" dirty="0">
                <a:solidFill>
                  <a:srgbClr val="1D6F43"/>
                </a:solidFill>
                <a:latin typeface="Segoe UI Semibold" pitchFamily="34" charset="0"/>
                <a:ea typeface="Segoe UI Semibold" pitchFamily="34" charset="-122"/>
                <a:cs typeface="Segoe UI Semibold" pitchFamily="34" charset="-120"/>
              </a:rPr>
              <a:t>Rename or move in the Project window</a:t>
            </a:r>
            <a:endParaRPr lang="en-US" sz="1800" dirty="0"/>
          </a:p>
        </p:txBody>
      </p:sp>
      <p:sp>
        <p:nvSpPr>
          <p:cNvPr id="16" name="Text 13"/>
          <p:cNvSpPr txBox="1"/>
          <p:nvPr/>
        </p:nvSpPr>
        <p:spPr>
          <a:xfrm>
            <a:off x="6583680" y="2286000"/>
            <a:ext cx="4785055" cy="868680"/>
          </a:xfrm>
          <a:prstGeom prst="rect">
            <a:avLst/>
          </a:prstGeom>
          <a:noFill/>
          <a:ln/>
        </p:spPr>
        <p:txBody>
          <a:bodyPr wrap="square" lIns="0" tIns="0" rIns="0" bIns="0" rtlCol="0" anchor="t"/>
          <a:lstStyle/>
          <a:p>
            <a:pPr indent="0" marL="0">
              <a:buNone/>
            </a:pPr>
            <a:r>
              <a:rPr lang="en-US" sz="1600" dirty="0">
                <a:solidFill>
                  <a:srgbClr val="364255"/>
                </a:solidFill>
                <a:latin typeface="Segoe UI" pitchFamily="34" charset="0"/>
                <a:ea typeface="Segoe UI" pitchFamily="34" charset="-122"/>
                <a:cs typeface="Segoe UI" pitchFamily="34" charset="-120"/>
              </a:rPr>
              <a:t>Unity moves the .meta too. The GUID stays and every reference keeps working.</a:t>
            </a:r>
            <a:endParaRPr lang="en-US" sz="1600" dirty="0"/>
          </a:p>
        </p:txBody>
      </p:sp>
      <p:sp>
        <p:nvSpPr>
          <p:cNvPr id="17" name="Shape 14"/>
          <p:cNvSpPr/>
          <p:nvPr/>
        </p:nvSpPr>
        <p:spPr>
          <a:xfrm>
            <a:off x="6309360" y="3474720"/>
            <a:ext cx="5333695" cy="1920240"/>
          </a:xfrm>
          <a:prstGeom prst="rect">
            <a:avLst/>
          </a:prstGeom>
          <a:solidFill>
            <a:srgbClr val="FBE4E1"/>
          </a:solidFill>
          <a:ln/>
        </p:spPr>
      </p:sp>
      <p:sp>
        <p:nvSpPr>
          <p:cNvPr id="18" name="Text 15"/>
          <p:cNvSpPr txBox="1"/>
          <p:nvPr/>
        </p:nvSpPr>
        <p:spPr>
          <a:xfrm>
            <a:off x="6583680" y="3639312"/>
            <a:ext cx="4785055" cy="384048"/>
          </a:xfrm>
          <a:prstGeom prst="rect">
            <a:avLst/>
          </a:prstGeom>
          <a:noFill/>
          <a:ln/>
        </p:spPr>
        <p:txBody>
          <a:bodyPr wrap="square" lIns="0" tIns="0" rIns="0" bIns="0" rtlCol="0" anchor="t"/>
          <a:lstStyle/>
          <a:p>
            <a:pPr indent="0" marL="0">
              <a:buNone/>
            </a:pPr>
            <a:r>
              <a:rPr lang="en-US" sz="1800" dirty="0">
                <a:solidFill>
                  <a:srgbClr val="A3261D"/>
                </a:solidFill>
                <a:latin typeface="Segoe UI Semibold" pitchFamily="34" charset="0"/>
                <a:ea typeface="Segoe UI Semibold" pitchFamily="34" charset="-122"/>
                <a:cs typeface="Segoe UI Semibold" pitchFamily="34" charset="-120"/>
              </a:rPr>
              <a:t>Rename or move in Explorer</a:t>
            </a:r>
            <a:endParaRPr lang="en-US" sz="1800" dirty="0"/>
          </a:p>
        </p:txBody>
      </p:sp>
      <p:sp>
        <p:nvSpPr>
          <p:cNvPr id="19" name="Text 16"/>
          <p:cNvSpPr txBox="1"/>
          <p:nvPr/>
        </p:nvSpPr>
        <p:spPr>
          <a:xfrm>
            <a:off x="6583680" y="4114800"/>
            <a:ext cx="4785055" cy="1188720"/>
          </a:xfrm>
          <a:prstGeom prst="rect">
            <a:avLst/>
          </a:prstGeom>
          <a:noFill/>
          <a:ln/>
        </p:spPr>
        <p:txBody>
          <a:bodyPr wrap="square" lIns="0" tIns="0" rIns="0" bIns="0" rtlCol="0" anchor="t"/>
          <a:lstStyle/>
          <a:p>
            <a:pPr indent="0" marL="0">
              <a:buNone/>
            </a:pPr>
            <a:r>
              <a:rPr lang="en-US" sz="1600" dirty="0">
                <a:solidFill>
                  <a:srgbClr val="364255"/>
                </a:solidFill>
                <a:latin typeface="Segoe UI" pitchFamily="34" charset="0"/>
                <a:ea typeface="Segoe UI" pitchFamily="34" charset="-122"/>
                <a:cs typeface="Segoe UI" pitchFamily="34" charset="-120"/>
              </a:rPr>
              <a:t>The .meta stays behind, Unity makes a new GUID, and every reference breaks: magenta sprites, Missing slots.</a:t>
            </a:r>
            <a:endParaRPr lang="en-US" sz="1600" dirty="0"/>
          </a:p>
        </p:txBody>
      </p:sp>
      <p:sp>
        <p:nvSpPr>
          <p:cNvPr id="20" name="Text 17"/>
          <p:cNvSpPr txBox="1"/>
          <p:nvPr/>
        </p:nvSpPr>
        <p:spPr>
          <a:xfrm>
            <a:off x="548640" y="5806440"/>
            <a:ext cx="11094415" cy="384048"/>
          </a:xfrm>
          <a:prstGeom prst="rect">
            <a:avLst/>
          </a:prstGeom>
          <a:noFill/>
          <a:ln/>
        </p:spPr>
        <p:txBody>
          <a:bodyPr wrap="square" lIns="0" tIns="0" rIns="0" bIns="0" rtlCol="0" anchor="t"/>
          <a:lstStyle/>
          <a:p>
            <a:pPr indent="0" marL="0">
              <a:buNone/>
            </a:pPr>
            <a:r>
              <a:rPr lang="en-US" sz="1800" b="1" dirty="0">
                <a:solidFill>
                  <a:srgbClr val="18202E"/>
                </a:solidFill>
                <a:latin typeface="Segoe UI" pitchFamily="34" charset="0"/>
                <a:ea typeface="Segoe UI" pitchFamily="34" charset="-122"/>
                <a:cs typeface="Segoe UI" pitchFamily="34" charset="-120"/>
              </a:rPr>
              <a:t>Manage assets inside Unity, never in Explorer.</a:t>
            </a:r>
            <a:endParaRPr lang="en-US" sz="18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5 · THE PROJECT ON DISK</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Text files, one version, one repository</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00200"/>
            <a:ext cx="3557930" cy="3520440"/>
          </a:xfrm>
          <a:prstGeom prst="rect">
            <a:avLst/>
          </a:prstGeom>
          <a:solidFill>
            <a:srgbClr val="F0F3F7"/>
          </a:solidFill>
          <a:ln/>
        </p:spPr>
      </p:sp>
      <p:sp>
        <p:nvSpPr>
          <p:cNvPr id="7" name="Shape 4"/>
          <p:cNvSpPr/>
          <p:nvPr/>
        </p:nvSpPr>
        <p:spPr>
          <a:xfrm>
            <a:off x="4316882" y="1600200"/>
            <a:ext cx="3557930" cy="3520440"/>
          </a:xfrm>
          <a:prstGeom prst="rect">
            <a:avLst/>
          </a:prstGeom>
          <a:solidFill>
            <a:srgbClr val="F0F3F7"/>
          </a:solidFill>
          <a:ln/>
        </p:spPr>
      </p:sp>
      <p:sp>
        <p:nvSpPr>
          <p:cNvPr id="8" name="Shape 5"/>
          <p:cNvSpPr/>
          <p:nvPr/>
        </p:nvSpPr>
        <p:spPr>
          <a:xfrm>
            <a:off x="8085125" y="1600200"/>
            <a:ext cx="3557930" cy="3520440"/>
          </a:xfrm>
          <a:prstGeom prst="rect">
            <a:avLst/>
          </a:prstGeom>
          <a:solidFill>
            <a:srgbClr val="F0F3F7"/>
          </a:solidFill>
          <a:ln/>
        </p:spPr>
      </p:sp>
      <p:sp>
        <p:nvSpPr>
          <p:cNvPr id="9" name="Text 6"/>
          <p:cNvSpPr txBox="1"/>
          <p:nvPr/>
        </p:nvSpPr>
        <p:spPr>
          <a:xfrm>
            <a:off x="822960" y="1783080"/>
            <a:ext cx="3009290" cy="384048"/>
          </a:xfrm>
          <a:prstGeom prst="rect">
            <a:avLst/>
          </a:prstGeom>
          <a:noFill/>
          <a:ln/>
        </p:spPr>
        <p:txBody>
          <a:bodyPr wrap="square" lIns="0" tIns="0" rIns="0" bIns="0" rtlCol="0" anchor="t"/>
          <a:lstStyle/>
          <a:p>
            <a:pPr indent="0" marL="0">
              <a:buNone/>
            </a:pPr>
            <a:r>
              <a:rPr lang="en-US" sz="2000" dirty="0">
                <a:solidFill>
                  <a:srgbClr val="18202E"/>
                </a:solidFill>
                <a:latin typeface="Segoe UI Semibold" pitchFamily="34" charset="0"/>
                <a:ea typeface="Segoe UI Semibold" pitchFamily="34" charset="-122"/>
                <a:cs typeface="Segoe UI Semibold" pitchFamily="34" charset="-120"/>
              </a:rPr>
              <a:t>Force Text</a:t>
            </a:r>
            <a:endParaRPr lang="en-US" sz="2000" dirty="0"/>
          </a:p>
        </p:txBody>
      </p:sp>
      <p:sp>
        <p:nvSpPr>
          <p:cNvPr id="10" name="Text 7"/>
          <p:cNvSpPr txBox="1"/>
          <p:nvPr/>
        </p:nvSpPr>
        <p:spPr>
          <a:xfrm>
            <a:off x="822960" y="2240280"/>
            <a:ext cx="3009290" cy="1097280"/>
          </a:xfrm>
          <a:prstGeom prst="rect">
            <a:avLst/>
          </a:prstGeom>
          <a:noFill/>
          <a:ln/>
        </p:spPr>
        <p:txBody>
          <a:bodyPr wrap="square" lIns="0" tIns="0" rIns="0" bIns="0" rtlCol="0" anchor="t"/>
          <a:lstStyle/>
          <a:p>
            <a:pPr indent="0" marL="0">
              <a:buNone/>
            </a:pPr>
            <a:r>
              <a:rPr lang="en-US" sz="1500" dirty="0">
                <a:solidFill>
                  <a:srgbClr val="364255"/>
                </a:solidFill>
                <a:latin typeface="Segoe UI" pitchFamily="34" charset="0"/>
                <a:ea typeface="Segoe UI" pitchFamily="34" charset="-122"/>
                <a:cs typeface="Segoe UI" pitchFamily="34" charset="-120"/>
              </a:rPr>
              <a:t>Scenes, prefabs and settings are saved as YAML text, so Git shows a change as one line:</a:t>
            </a:r>
            <a:endParaRPr lang="en-US" sz="1500" dirty="0"/>
          </a:p>
        </p:txBody>
      </p:sp>
      <p:sp>
        <p:nvSpPr>
          <p:cNvPr id="11" name="Shape 8"/>
          <p:cNvSpPr/>
          <p:nvPr/>
        </p:nvSpPr>
        <p:spPr>
          <a:xfrm>
            <a:off x="731520" y="3337560"/>
            <a:ext cx="3192170" cy="384048"/>
          </a:xfrm>
          <a:prstGeom prst="rect">
            <a:avLst/>
          </a:prstGeom>
          <a:solidFill>
            <a:srgbClr val="FBE4E1"/>
          </a:solidFill>
          <a:ln/>
        </p:spPr>
      </p:sp>
      <p:sp>
        <p:nvSpPr>
          <p:cNvPr id="12" name="Text 9"/>
          <p:cNvSpPr txBox="1"/>
          <p:nvPr/>
        </p:nvSpPr>
        <p:spPr>
          <a:xfrm>
            <a:off x="822960" y="3337560"/>
            <a:ext cx="3009290" cy="384048"/>
          </a:xfrm>
          <a:prstGeom prst="rect">
            <a:avLst/>
          </a:prstGeom>
          <a:noFill/>
          <a:ln/>
        </p:spPr>
        <p:txBody>
          <a:bodyPr wrap="square" lIns="0" tIns="0" rIns="0" bIns="0" rtlCol="0" anchor="ctr"/>
          <a:lstStyle/>
          <a:p>
            <a:pPr indent="0" marL="0">
              <a:buNone/>
            </a:pPr>
            <a:r>
              <a:rPr lang="en-US" sz="1300" dirty="0">
                <a:solidFill>
                  <a:srgbClr val="A3261D"/>
                </a:solidFill>
                <a:latin typeface="Consolas" pitchFamily="34" charset="0"/>
                <a:ea typeface="Consolas" pitchFamily="34" charset="-122"/>
                <a:cs typeface="Consolas" pitchFamily="34" charset="-120"/>
              </a:rPr>
              <a:t>- m_LocalPosition: {x: 2, …}</a:t>
            </a:r>
            <a:endParaRPr lang="en-US" sz="1300" dirty="0"/>
          </a:p>
        </p:txBody>
      </p:sp>
      <p:sp>
        <p:nvSpPr>
          <p:cNvPr id="13" name="Shape 10"/>
          <p:cNvSpPr/>
          <p:nvPr/>
        </p:nvSpPr>
        <p:spPr>
          <a:xfrm>
            <a:off x="731520" y="3749040"/>
            <a:ext cx="3192170" cy="384048"/>
          </a:xfrm>
          <a:prstGeom prst="rect">
            <a:avLst/>
          </a:prstGeom>
          <a:solidFill>
            <a:srgbClr val="E7F3EC"/>
          </a:solidFill>
          <a:ln/>
        </p:spPr>
      </p:sp>
      <p:sp>
        <p:nvSpPr>
          <p:cNvPr id="14" name="Text 11"/>
          <p:cNvSpPr txBox="1"/>
          <p:nvPr/>
        </p:nvSpPr>
        <p:spPr>
          <a:xfrm>
            <a:off x="822960" y="3749040"/>
            <a:ext cx="3009290" cy="384048"/>
          </a:xfrm>
          <a:prstGeom prst="rect">
            <a:avLst/>
          </a:prstGeom>
          <a:noFill/>
          <a:ln/>
        </p:spPr>
        <p:txBody>
          <a:bodyPr wrap="square" lIns="0" tIns="0" rIns="0" bIns="0" rtlCol="0" anchor="ctr"/>
          <a:lstStyle/>
          <a:p>
            <a:pPr indent="0" marL="0">
              <a:buNone/>
            </a:pPr>
            <a:r>
              <a:rPr lang="en-US" sz="1300" dirty="0">
                <a:solidFill>
                  <a:srgbClr val="1D6F43"/>
                </a:solidFill>
                <a:latin typeface="Consolas" pitchFamily="34" charset="0"/>
                <a:ea typeface="Consolas" pitchFamily="34" charset="-122"/>
                <a:cs typeface="Consolas" pitchFamily="34" charset="-120"/>
              </a:rPr>
              <a:t>+ m_LocalPosition: {x: 3, …}</a:t>
            </a:r>
            <a:endParaRPr lang="en-US" sz="1300" dirty="0"/>
          </a:p>
        </p:txBody>
      </p:sp>
      <p:sp>
        <p:nvSpPr>
          <p:cNvPr id="15" name="Text 12"/>
          <p:cNvSpPr txBox="1"/>
          <p:nvPr/>
        </p:nvSpPr>
        <p:spPr>
          <a:xfrm>
            <a:off x="4591202" y="1783080"/>
            <a:ext cx="3009290" cy="384048"/>
          </a:xfrm>
          <a:prstGeom prst="rect">
            <a:avLst/>
          </a:prstGeom>
          <a:noFill/>
          <a:ln/>
        </p:spPr>
        <p:txBody>
          <a:bodyPr wrap="square" lIns="0" tIns="0" rIns="0" bIns="0" rtlCol="0" anchor="t"/>
          <a:lstStyle/>
          <a:p>
            <a:pPr indent="0" marL="0">
              <a:buNone/>
            </a:pPr>
            <a:r>
              <a:rPr lang="en-US" sz="2000" dirty="0">
                <a:solidFill>
                  <a:srgbClr val="18202E"/>
                </a:solidFill>
                <a:latin typeface="Segoe UI Semibold" pitchFamily="34" charset="0"/>
                <a:ea typeface="Segoe UI Semibold" pitchFamily="34" charset="-122"/>
                <a:cs typeface="Segoe UI Semibold" pitchFamily="34" charset="-120"/>
              </a:rPr>
              <a:t>One editor version</a:t>
            </a:r>
            <a:endParaRPr lang="en-US" sz="2000" dirty="0"/>
          </a:p>
        </p:txBody>
      </p:sp>
      <p:sp>
        <p:nvSpPr>
          <p:cNvPr id="16" name="Text 13"/>
          <p:cNvSpPr txBox="1"/>
          <p:nvPr/>
        </p:nvSpPr>
        <p:spPr>
          <a:xfrm>
            <a:off x="4591202" y="2240280"/>
            <a:ext cx="3009290" cy="3200400"/>
          </a:xfrm>
          <a:prstGeom prst="rect">
            <a:avLst/>
          </a:prstGeom>
          <a:noFill/>
          <a:ln/>
        </p:spPr>
        <p:txBody>
          <a:bodyPr wrap="square" lIns="0" tIns="0" rIns="0" bIns="0" rtlCol="0" anchor="t"/>
          <a:lstStyle/>
          <a:p>
            <a:pPr indent="0" marL="0">
              <a:spcAft>
                <a:spcPts val="1000"/>
              </a:spcAft>
              <a:buNone/>
            </a:pPr>
            <a:r>
              <a:rPr lang="en-US" sz="1500" dirty="0">
                <a:solidFill>
                  <a:srgbClr val="364255"/>
                </a:solidFill>
                <a:latin typeface="Consolas" pitchFamily="34" charset="0"/>
                <a:ea typeface="Consolas" pitchFamily="34" charset="-122"/>
                <a:cs typeface="Consolas" pitchFamily="34" charset="-120"/>
              </a:rPr>
              <a:t>ProjectVersion.txt</a:t>
            </a:r>
            <a:pPr indent="0" marL="0">
              <a:buNone/>
            </a:pPr>
            <a:r>
              <a:rPr lang="en-US" sz="1500" dirty="0">
                <a:solidFill>
                  <a:srgbClr val="364255"/>
                </a:solidFill>
                <a:latin typeface="Segoe UI" pitchFamily="34" charset="0"/>
                <a:ea typeface="Segoe UI" pitchFamily="34" charset="-122"/>
                <a:cs typeface="Segoe UI" pitchFamily="34" charset="-120"/>
              </a:rPr>
              <a:t> names the owner: </a:t>
            </a:r>
            <a:pPr indent="0" marL="0">
              <a:buNone/>
            </a:pPr>
            <a:r>
              <a:rPr lang="en-US" sz="1500" dirty="0">
                <a:solidFill>
                  <a:srgbClr val="364255"/>
                </a:solidFill>
                <a:latin typeface="Consolas" pitchFamily="34" charset="0"/>
                <a:ea typeface="Consolas" pitchFamily="34" charset="-122"/>
                <a:cs typeface="Consolas" pitchFamily="34" charset="-120"/>
              </a:rPr>
              <a:t>6000.6.x</a:t>
            </a:r>
            <a:pPr indent="0" marL="0">
              <a:buNone/>
            </a:pPr>
            <a:r>
              <a:rPr lang="en-US" sz="1500" dirty="0">
                <a:solidFill>
                  <a:srgbClr val="364255"/>
                </a:solidFill>
                <a:latin typeface="Segoe UI" pitchFamily="34" charset="0"/>
                <a:ea typeface="Segoe UI" pitchFamily="34" charset="-122"/>
                <a:cs typeface="Segoe UI" pitchFamily="34" charset="-120"/>
              </a:rPr>
              <a:t>.</a:t>
            </a:r>
            <a:endParaRPr lang="en-US" sz="1500" dirty="0"/>
          </a:p>
          <a:p>
            <a:pPr indent="0" marL="0">
              <a:spcAft>
                <a:spcPts val="1000"/>
              </a:spcAft>
              <a:buNone/>
            </a:pPr>
            <a:r>
              <a:rPr lang="en-US" sz="1500" dirty="0">
                <a:solidFill>
                  <a:srgbClr val="364255"/>
                </a:solidFill>
                <a:latin typeface="Segoe UI" pitchFamily="34" charset="0"/>
                <a:ea typeface="Segoe UI" pitchFamily="34" charset="-122"/>
                <a:cs typeface="Segoe UI" pitchFamily="34" charset="-120"/>
              </a:rPr>
              <a:t>A newer editor upgrades the files one way; there is no downgrade.</a:t>
            </a:r>
            <a:endParaRPr lang="en-US" sz="1500" dirty="0"/>
          </a:p>
          <a:p>
            <a:pPr indent="0" marL="0">
              <a:spcAft>
                <a:spcPts val="1000"/>
              </a:spcAft>
              <a:buNone/>
            </a:pPr>
            <a:r>
              <a:rPr lang="en-US" sz="1500" dirty="0">
                <a:solidFill>
                  <a:srgbClr val="364255"/>
                </a:solidFill>
                <a:latin typeface="Segoe UI" pitchFamily="34" charset="0"/>
                <a:ea typeface="Segoe UI" pitchFamily="34" charset="-122"/>
                <a:cs typeface="Segoe UI" pitchFamily="34" charset="-120"/>
              </a:rPr>
              <a:t>An upgrade dialog is an alarm, not a formality.</a:t>
            </a:r>
            <a:endParaRPr lang="en-US" sz="1500" dirty="0"/>
          </a:p>
        </p:txBody>
      </p:sp>
      <p:sp>
        <p:nvSpPr>
          <p:cNvPr id="17" name="Text 14"/>
          <p:cNvSpPr txBox="1"/>
          <p:nvPr/>
        </p:nvSpPr>
        <p:spPr>
          <a:xfrm>
            <a:off x="8359445" y="1783080"/>
            <a:ext cx="3009290" cy="384048"/>
          </a:xfrm>
          <a:prstGeom prst="rect">
            <a:avLst/>
          </a:prstGeom>
          <a:noFill/>
          <a:ln/>
        </p:spPr>
        <p:txBody>
          <a:bodyPr wrap="square" lIns="0" tIns="0" rIns="0" bIns="0" rtlCol="0" anchor="t"/>
          <a:lstStyle/>
          <a:p>
            <a:pPr indent="0" marL="0">
              <a:buNone/>
            </a:pPr>
            <a:r>
              <a:rPr lang="en-US" sz="2000" dirty="0">
                <a:solidFill>
                  <a:srgbClr val="18202E"/>
                </a:solidFill>
                <a:latin typeface="Segoe UI Semibold" pitchFamily="34" charset="0"/>
                <a:ea typeface="Segoe UI Semibold" pitchFamily="34" charset="-122"/>
                <a:cs typeface="Segoe UI Semibold" pitchFamily="34" charset="-120"/>
              </a:rPr>
              <a:t>One repository</a:t>
            </a:r>
            <a:endParaRPr lang="en-US" sz="2000" dirty="0"/>
          </a:p>
        </p:txBody>
      </p:sp>
      <p:sp>
        <p:nvSpPr>
          <p:cNvPr id="18" name="Text 15"/>
          <p:cNvSpPr txBox="1"/>
          <p:nvPr/>
        </p:nvSpPr>
        <p:spPr>
          <a:xfrm>
            <a:off x="8359445" y="2240280"/>
            <a:ext cx="3009290" cy="914400"/>
          </a:xfrm>
          <a:prstGeom prst="rect">
            <a:avLst/>
          </a:prstGeom>
          <a:noFill/>
          <a:ln/>
        </p:spPr>
        <p:txBody>
          <a:bodyPr wrap="square" lIns="0" tIns="0" rIns="0" bIns="0" rtlCol="0" anchor="t"/>
          <a:lstStyle/>
          <a:p>
            <a:pPr indent="0" marL="0">
              <a:buNone/>
            </a:pPr>
            <a:r>
              <a:rPr lang="en-US" sz="1500" dirty="0">
                <a:solidFill>
                  <a:srgbClr val="364255"/>
                </a:solidFill>
                <a:latin typeface="Segoe UI" pitchFamily="34" charset="0"/>
                <a:ea typeface="Segoe UI" pitchFamily="34" charset="-122"/>
                <a:cs typeface="Segoe UI" pitchFamily="34" charset="-120"/>
              </a:rPr>
              <a:t>PlatformerLab, private on GitHub, .gitignore: Unity. Every work session:</a:t>
            </a:r>
            <a:endParaRPr lang="en-US" sz="1500" dirty="0"/>
          </a:p>
        </p:txBody>
      </p:sp>
      <p:sp>
        <p:nvSpPr>
          <p:cNvPr id="19" name="Shape 16"/>
          <p:cNvSpPr/>
          <p:nvPr/>
        </p:nvSpPr>
        <p:spPr>
          <a:xfrm>
            <a:off x="8313725" y="3154680"/>
            <a:ext cx="3100730" cy="1600200"/>
          </a:xfrm>
          <a:prstGeom prst="rect">
            <a:avLst/>
          </a:prstGeom>
          <a:solidFill>
            <a:srgbClr val="FFFFFF"/>
          </a:solidFill>
          <a:ln/>
        </p:spPr>
      </p:sp>
      <p:sp>
        <p:nvSpPr>
          <p:cNvPr id="20" name="Text 17"/>
          <p:cNvSpPr txBox="1"/>
          <p:nvPr/>
        </p:nvSpPr>
        <p:spPr>
          <a:xfrm>
            <a:off x="8514893" y="3300984"/>
            <a:ext cx="2734970" cy="1344168"/>
          </a:xfrm>
          <a:prstGeom prst="rect">
            <a:avLst/>
          </a:prstGeom>
          <a:noFill/>
          <a:ln/>
        </p:spPr>
        <p:txBody>
          <a:bodyPr wrap="square" lIns="0" tIns="0" rIns="0" bIns="0" rtlCol="0" anchor="t"/>
          <a:lstStyle/>
          <a:p>
            <a:pPr indent="0" marL="0">
              <a:buNone/>
            </a:pPr>
            <a:r>
              <a:rPr lang="en-US" sz="1500" dirty="0">
                <a:solidFill>
                  <a:srgbClr val="18202E"/>
                </a:solidFill>
                <a:latin typeface="Consolas" pitchFamily="34" charset="0"/>
                <a:ea typeface="Consolas" pitchFamily="34" charset="-122"/>
                <a:cs typeface="Consolas" pitchFamily="34" charset="-120"/>
              </a:rPr>
              <a:t>git pull</a:t>
            </a:r>
            <a:endParaRPr lang="en-US" sz="1500" dirty="0"/>
          </a:p>
          <a:p>
            <a:pPr indent="0" marL="0">
              <a:buNone/>
            </a:pPr>
            <a:r>
              <a:rPr lang="en-US" sz="1500" dirty="0">
                <a:solidFill>
                  <a:srgbClr val="18202E"/>
                </a:solidFill>
                <a:latin typeface="Consolas" pitchFamily="34" charset="0"/>
                <a:ea typeface="Consolas" pitchFamily="34" charset="-122"/>
                <a:cs typeface="Consolas" pitchFamily="34" charset="-120"/>
              </a:rPr>
              <a:t>git add .</a:t>
            </a:r>
            <a:endParaRPr lang="en-US" sz="1500" dirty="0"/>
          </a:p>
          <a:p>
            <a:pPr indent="0" marL="0">
              <a:buNone/>
            </a:pPr>
            <a:r>
              <a:rPr lang="en-US" sz="1500" dirty="0">
                <a:solidFill>
                  <a:srgbClr val="18202E"/>
                </a:solidFill>
                <a:latin typeface="Consolas" pitchFamily="34" charset="0"/>
                <a:ea typeface="Consolas" pitchFamily="34" charset="-122"/>
                <a:cs typeface="Consolas" pitchFamily="34" charset="-120"/>
              </a:rPr>
              <a:t>git commit -m "…"</a:t>
            </a:r>
            <a:endParaRPr lang="en-US" sz="1500" dirty="0"/>
          </a:p>
          <a:p>
            <a:pPr indent="0" marL="0">
              <a:buNone/>
            </a:pPr>
            <a:r>
              <a:rPr lang="en-US" sz="1500" dirty="0">
                <a:solidFill>
                  <a:srgbClr val="18202E"/>
                </a:solidFill>
                <a:latin typeface="Consolas" pitchFamily="34" charset="0"/>
                <a:ea typeface="Consolas" pitchFamily="34" charset="-122"/>
                <a:cs typeface="Consolas" pitchFamily="34" charset="-120"/>
              </a:rPr>
              <a:t>git push</a:t>
            </a:r>
            <a:endParaRPr lang="en-US" sz="1500" dirty="0"/>
          </a:p>
        </p:txBody>
      </p:sp>
      <p:sp>
        <p:nvSpPr>
          <p:cNvPr id="21" name="Text 18"/>
          <p:cNvSpPr txBox="1"/>
          <p:nvPr/>
        </p:nvSpPr>
        <p:spPr>
          <a:xfrm>
            <a:off x="548640" y="5349240"/>
            <a:ext cx="11094415" cy="384048"/>
          </a:xfrm>
          <a:prstGeom prst="rect">
            <a:avLst/>
          </a:prstGeom>
          <a:noFill/>
          <a:ln/>
        </p:spPr>
        <p:txBody>
          <a:bodyPr wrap="square" lIns="0" tIns="0" rIns="0" bIns="0" rtlCol="0" anchor="t"/>
          <a:lstStyle/>
          <a:p>
            <a:pPr indent="0" marL="0">
              <a:buNone/>
            </a:pPr>
            <a:r>
              <a:rPr lang="en-US" sz="1700" dirty="0">
                <a:solidFill>
                  <a:srgbClr val="364255"/>
                </a:solidFill>
                <a:latin typeface="Segoe UI" pitchFamily="34" charset="0"/>
                <a:ea typeface="Segoe UI" pitchFamily="34" charset="-122"/>
                <a:cs typeface="Segoe UI" pitchFamily="34" charset="-120"/>
              </a:rPr>
              <a:t>Commit at clean moments: scene saved, Console free of errors.</a:t>
            </a:r>
            <a:endParaRPr lang="en-US" sz="17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200" b="1" spc="150" kern="0" dirty="0">
                <a:solidFill>
                  <a:srgbClr val="2354A6"/>
                </a:solidFill>
                <a:latin typeface="Segoe UI" pitchFamily="34" charset="0"/>
                <a:ea typeface="Segoe UI" pitchFamily="34" charset="-122"/>
                <a:cs typeface="Segoe UI" pitchFamily="34" charset="-120"/>
              </a:rPr>
              <a:t>WEEK 1</a:t>
            </a:r>
            <a:endParaRPr lang="en-US" sz="1200" dirty="0"/>
          </a:p>
        </p:txBody>
      </p:sp>
      <p:sp>
        <p:nvSpPr>
          <p:cNvPr id="3" name="Text 1"/>
          <p:cNvSpPr txBox="1"/>
          <p:nvPr/>
        </p:nvSpPr>
        <p:spPr>
          <a:xfrm>
            <a:off x="548640" y="640080"/>
            <a:ext cx="11094415" cy="685800"/>
          </a:xfrm>
          <a:prstGeom prst="rect">
            <a:avLst/>
          </a:prstGeom>
          <a:noFill/>
          <a:ln/>
        </p:spPr>
        <p:txBody>
          <a:bodyPr wrap="square" lIns="0" tIns="0" rIns="0" bIns="0" rtlCol="0" anchor="ctr"/>
          <a:lstStyle/>
          <a:p>
            <a:pPr indent="0" marL="0">
              <a:buNone/>
            </a:pPr>
            <a:r>
              <a:rPr lang="en-US" sz="3000" dirty="0">
                <a:solidFill>
                  <a:srgbClr val="18202E"/>
                </a:solidFill>
                <a:latin typeface="Segoe UI Semibold" pitchFamily="34" charset="0"/>
                <a:ea typeface="Segoe UI Semibold" pitchFamily="34" charset="-122"/>
                <a:cs typeface="Segoe UI Semibold" pitchFamily="34" charset="-120"/>
              </a:rPr>
              <a:t>Now, in the lab</a:t>
            </a:r>
            <a:endParaRPr lang="en-US" sz="3000" dirty="0"/>
          </a:p>
        </p:txBody>
      </p:sp>
      <p:sp>
        <p:nvSpPr>
          <p:cNvPr id="4" name="Text 2"/>
          <p:cNvSpPr txBox="1"/>
          <p:nvPr/>
        </p:nvSpPr>
        <p:spPr>
          <a:xfrm>
            <a:off x="548640" y="6400800"/>
            <a:ext cx="3657600" cy="256032"/>
          </a:xfrm>
          <a:prstGeom prst="rect">
            <a:avLst/>
          </a:prstGeom>
          <a:noFill/>
          <a:ln/>
        </p:spPr>
        <p:txBody>
          <a:bodyPr wrap="square" lIns="0" tIns="0" rIns="0" bIns="0" rtlCol="0" anchor="t"/>
          <a:lstStyle/>
          <a:p>
            <a:pPr indent="0" marL="0">
              <a:buNone/>
            </a:pPr>
            <a:r>
              <a:rPr lang="en-US" sz="1000" dirty="0">
                <a:solidFill>
                  <a:srgbClr val="5B6678"/>
                </a:solidFill>
                <a:latin typeface="Segoe UI" pitchFamily="34" charset="0"/>
                <a:ea typeface="Segoe UI" pitchFamily="34" charset="-122"/>
                <a:cs typeface="Segoe UI" pitchFamily="34" charset="-120"/>
              </a:rPr>
              <a:t>Multimedia · Week 1</a:t>
            </a:r>
            <a:endParaRPr lang="en-US" sz="1000" dirty="0"/>
          </a:p>
        </p:txBody>
      </p:sp>
      <p:sp>
        <p:nvSpPr>
          <p:cNvPr id="6" name="Shape 3"/>
          <p:cNvSpPr/>
          <p:nvPr/>
        </p:nvSpPr>
        <p:spPr>
          <a:xfrm>
            <a:off x="548640" y="1600200"/>
            <a:ext cx="6400800" cy="4069080"/>
          </a:xfrm>
          <a:prstGeom prst="rect">
            <a:avLst/>
          </a:prstGeom>
          <a:solidFill>
            <a:srgbClr val="F0F3F7"/>
          </a:solidFill>
          <a:ln/>
        </p:spPr>
      </p:sp>
      <p:sp>
        <p:nvSpPr>
          <p:cNvPr id="7" name="Text 4"/>
          <p:cNvSpPr txBox="1"/>
          <p:nvPr/>
        </p:nvSpPr>
        <p:spPr>
          <a:xfrm>
            <a:off x="822960" y="1783080"/>
            <a:ext cx="5852160" cy="411480"/>
          </a:xfrm>
          <a:prstGeom prst="rect">
            <a:avLst/>
          </a:prstGeom>
          <a:noFill/>
          <a:ln/>
        </p:spPr>
        <p:txBody>
          <a:bodyPr wrap="square" lIns="0" tIns="0" rIns="0" bIns="0" rtlCol="0" anchor="t"/>
          <a:lstStyle/>
          <a:p>
            <a:pPr indent="0" marL="0">
              <a:buNone/>
            </a:pPr>
            <a:r>
              <a:rPr lang="en-US" sz="2200" dirty="0">
                <a:solidFill>
                  <a:srgbClr val="18202E"/>
                </a:solidFill>
                <a:latin typeface="Segoe UI Semibold" pitchFamily="34" charset="0"/>
                <a:ea typeface="Segoe UI Semibold" pitchFamily="34" charset="-122"/>
                <a:cs typeface="Segoe UI Semibold" pitchFamily="34" charset="-120"/>
              </a:rPr>
              <a:t>Tutorial 1</a:t>
            </a:r>
            <a:endParaRPr lang="en-US" sz="2200" dirty="0"/>
          </a:p>
        </p:txBody>
      </p:sp>
      <p:sp>
        <p:nvSpPr>
          <p:cNvPr id="8" name="Text 5"/>
          <p:cNvSpPr txBox="1"/>
          <p:nvPr/>
        </p:nvSpPr>
        <p:spPr>
          <a:xfrm>
            <a:off x="822960" y="2377440"/>
            <a:ext cx="365760" cy="457200"/>
          </a:xfrm>
          <a:prstGeom prst="rect">
            <a:avLst/>
          </a:prstGeom>
          <a:noFill/>
          <a:ln/>
        </p:spPr>
        <p:txBody>
          <a:bodyPr wrap="square" lIns="0" tIns="0" rIns="0" bIns="0" rtlCol="0" anchor="t"/>
          <a:lstStyle/>
          <a:p>
            <a:pPr indent="0" marL="0">
              <a:buNone/>
            </a:pPr>
            <a:r>
              <a:rPr lang="en-US" sz="1800" b="1" dirty="0">
                <a:solidFill>
                  <a:srgbClr val="2354A6"/>
                </a:solidFill>
                <a:latin typeface="Consolas" pitchFamily="34" charset="0"/>
                <a:ea typeface="Consolas" pitchFamily="34" charset="-122"/>
                <a:cs typeface="Consolas" pitchFamily="34" charset="-120"/>
              </a:rPr>
              <a:t>1</a:t>
            </a:r>
            <a:endParaRPr lang="en-US" sz="1800" dirty="0"/>
          </a:p>
        </p:txBody>
      </p:sp>
      <p:sp>
        <p:nvSpPr>
          <p:cNvPr id="9" name="Text 6"/>
          <p:cNvSpPr txBox="1"/>
          <p:nvPr/>
        </p:nvSpPr>
        <p:spPr>
          <a:xfrm>
            <a:off x="1280160" y="2395728"/>
            <a:ext cx="5394960" cy="548640"/>
          </a:xfrm>
          <a:prstGeom prst="rect">
            <a:avLst/>
          </a:prstGeom>
          <a:noFill/>
          <a:ln/>
        </p:spPr>
        <p:txBody>
          <a:bodyPr wrap="square" lIns="0" tIns="0" rIns="0" bIns="0" rtlCol="0" anchor="t"/>
          <a:lstStyle/>
          <a:p>
            <a:pPr indent="0" marL="0">
              <a:buNone/>
            </a:pPr>
            <a:r>
              <a:rPr lang="en-US" sz="1600" dirty="0">
                <a:solidFill>
                  <a:srgbClr val="18202E"/>
                </a:solidFill>
                <a:latin typeface="Segoe UI" pitchFamily="34" charset="0"/>
                <a:ea typeface="Segoe UI" pitchFamily="34" charset="-122"/>
                <a:cs typeface="Segoe UI" pitchFamily="34" charset="-120"/>
              </a:rPr>
              <a:t>Configure Git</a:t>
            </a:r>
            <a:endParaRPr lang="en-US" sz="1600" dirty="0"/>
          </a:p>
        </p:txBody>
      </p:sp>
      <p:sp>
        <p:nvSpPr>
          <p:cNvPr id="10" name="Text 7"/>
          <p:cNvSpPr txBox="1"/>
          <p:nvPr/>
        </p:nvSpPr>
        <p:spPr>
          <a:xfrm>
            <a:off x="822960" y="2999232"/>
            <a:ext cx="365760" cy="457200"/>
          </a:xfrm>
          <a:prstGeom prst="rect">
            <a:avLst/>
          </a:prstGeom>
          <a:noFill/>
          <a:ln/>
        </p:spPr>
        <p:txBody>
          <a:bodyPr wrap="square" lIns="0" tIns="0" rIns="0" bIns="0" rtlCol="0" anchor="t"/>
          <a:lstStyle/>
          <a:p>
            <a:pPr indent="0" marL="0">
              <a:buNone/>
            </a:pPr>
            <a:r>
              <a:rPr lang="en-US" sz="1800" b="1" dirty="0">
                <a:solidFill>
                  <a:srgbClr val="2354A6"/>
                </a:solidFill>
                <a:latin typeface="Consolas" pitchFamily="34" charset="0"/>
                <a:ea typeface="Consolas" pitchFamily="34" charset="-122"/>
                <a:cs typeface="Consolas" pitchFamily="34" charset="-120"/>
              </a:rPr>
              <a:t>2</a:t>
            </a:r>
            <a:endParaRPr lang="en-US" sz="1800" dirty="0"/>
          </a:p>
        </p:txBody>
      </p:sp>
      <p:sp>
        <p:nvSpPr>
          <p:cNvPr id="11" name="Text 8"/>
          <p:cNvSpPr txBox="1"/>
          <p:nvPr/>
        </p:nvSpPr>
        <p:spPr>
          <a:xfrm>
            <a:off x="1280160" y="3017520"/>
            <a:ext cx="5394960" cy="548640"/>
          </a:xfrm>
          <a:prstGeom prst="rect">
            <a:avLst/>
          </a:prstGeom>
          <a:noFill/>
          <a:ln/>
        </p:spPr>
        <p:txBody>
          <a:bodyPr wrap="square" lIns="0" tIns="0" rIns="0" bIns="0" rtlCol="0" anchor="t"/>
          <a:lstStyle/>
          <a:p>
            <a:pPr indent="0" marL="0">
              <a:buNone/>
            </a:pPr>
            <a:r>
              <a:rPr lang="en-US" sz="1600" dirty="0">
                <a:solidFill>
                  <a:srgbClr val="18202E"/>
                </a:solidFill>
                <a:latin typeface="Segoe UI" pitchFamily="34" charset="0"/>
                <a:ea typeface="Segoe UI" pitchFamily="34" charset="-122"/>
                <a:cs typeface="Segoe UI" pitchFamily="34" charset="-120"/>
              </a:rPr>
              <a:t>Create PlatformerLab: Universal 2D, 6000.6.x</a:t>
            </a:r>
            <a:endParaRPr lang="en-US" sz="1600" dirty="0"/>
          </a:p>
        </p:txBody>
      </p:sp>
      <p:sp>
        <p:nvSpPr>
          <p:cNvPr id="12" name="Text 9"/>
          <p:cNvSpPr txBox="1"/>
          <p:nvPr/>
        </p:nvSpPr>
        <p:spPr>
          <a:xfrm>
            <a:off x="822960" y="3621024"/>
            <a:ext cx="365760" cy="457200"/>
          </a:xfrm>
          <a:prstGeom prst="rect">
            <a:avLst/>
          </a:prstGeom>
          <a:noFill/>
          <a:ln/>
        </p:spPr>
        <p:txBody>
          <a:bodyPr wrap="square" lIns="0" tIns="0" rIns="0" bIns="0" rtlCol="0" anchor="t"/>
          <a:lstStyle/>
          <a:p>
            <a:pPr indent="0" marL="0">
              <a:buNone/>
            </a:pPr>
            <a:r>
              <a:rPr lang="en-US" sz="1800" b="1" dirty="0">
                <a:solidFill>
                  <a:srgbClr val="2354A6"/>
                </a:solidFill>
                <a:latin typeface="Consolas" pitchFamily="34" charset="0"/>
                <a:ea typeface="Consolas" pitchFamily="34" charset="-122"/>
                <a:cs typeface="Consolas" pitchFamily="34" charset="-120"/>
              </a:rPr>
              <a:t>3</a:t>
            </a:r>
            <a:endParaRPr lang="en-US" sz="1800" dirty="0"/>
          </a:p>
        </p:txBody>
      </p:sp>
      <p:sp>
        <p:nvSpPr>
          <p:cNvPr id="13" name="Text 10"/>
          <p:cNvSpPr txBox="1"/>
          <p:nvPr/>
        </p:nvSpPr>
        <p:spPr>
          <a:xfrm>
            <a:off x="1280160" y="3639312"/>
            <a:ext cx="5394960" cy="548640"/>
          </a:xfrm>
          <a:prstGeom prst="rect">
            <a:avLst/>
          </a:prstGeom>
          <a:noFill/>
          <a:ln/>
        </p:spPr>
        <p:txBody>
          <a:bodyPr wrap="square" lIns="0" tIns="0" rIns="0" bIns="0" rtlCol="0" anchor="t"/>
          <a:lstStyle/>
          <a:p>
            <a:pPr indent="0" marL="0">
              <a:buNone/>
            </a:pPr>
            <a:r>
              <a:rPr lang="en-US" sz="1600" dirty="0">
                <a:solidFill>
                  <a:srgbClr val="18202E"/>
                </a:solidFill>
                <a:latin typeface="Segoe UI" pitchFamily="34" charset="0"/>
                <a:ea typeface="Segoe UI" pitchFamily="34" charset="-122"/>
                <a:cs typeface="Segoe UI" pitchFamily="34" charset="-120"/>
              </a:rPr>
              <a:t>Create a private GitHub repository (.gitignore: Unity)</a:t>
            </a:r>
            <a:endParaRPr lang="en-US" sz="1600" dirty="0"/>
          </a:p>
        </p:txBody>
      </p:sp>
      <p:sp>
        <p:nvSpPr>
          <p:cNvPr id="14" name="Text 11"/>
          <p:cNvSpPr txBox="1"/>
          <p:nvPr/>
        </p:nvSpPr>
        <p:spPr>
          <a:xfrm>
            <a:off x="822960" y="4242816"/>
            <a:ext cx="365760" cy="457200"/>
          </a:xfrm>
          <a:prstGeom prst="rect">
            <a:avLst/>
          </a:prstGeom>
          <a:noFill/>
          <a:ln/>
        </p:spPr>
        <p:txBody>
          <a:bodyPr wrap="square" lIns="0" tIns="0" rIns="0" bIns="0" rtlCol="0" anchor="t"/>
          <a:lstStyle/>
          <a:p>
            <a:pPr indent="0" marL="0">
              <a:buNone/>
            </a:pPr>
            <a:r>
              <a:rPr lang="en-US" sz="1800" b="1" dirty="0">
                <a:solidFill>
                  <a:srgbClr val="2354A6"/>
                </a:solidFill>
                <a:latin typeface="Consolas" pitchFamily="34" charset="0"/>
                <a:ea typeface="Consolas" pitchFamily="34" charset="-122"/>
                <a:cs typeface="Consolas" pitchFamily="34" charset="-120"/>
              </a:rPr>
              <a:t>4</a:t>
            </a:r>
            <a:endParaRPr lang="en-US" sz="1800" dirty="0"/>
          </a:p>
        </p:txBody>
      </p:sp>
      <p:sp>
        <p:nvSpPr>
          <p:cNvPr id="15" name="Text 12"/>
          <p:cNvSpPr txBox="1"/>
          <p:nvPr/>
        </p:nvSpPr>
        <p:spPr>
          <a:xfrm>
            <a:off x="1280160" y="4261104"/>
            <a:ext cx="5394960" cy="548640"/>
          </a:xfrm>
          <a:prstGeom prst="rect">
            <a:avLst/>
          </a:prstGeom>
          <a:noFill/>
          <a:ln/>
        </p:spPr>
        <p:txBody>
          <a:bodyPr wrap="square" lIns="0" tIns="0" rIns="0" bIns="0" rtlCol="0" anchor="t"/>
          <a:lstStyle/>
          <a:p>
            <a:pPr indent="0" marL="0">
              <a:buNone/>
            </a:pPr>
            <a:r>
              <a:rPr lang="en-US" sz="1600" dirty="0">
                <a:solidFill>
                  <a:srgbClr val="18202E"/>
                </a:solidFill>
                <a:latin typeface="Segoe UI" pitchFamily="34" charset="0"/>
                <a:ea typeface="Segoe UI" pitchFamily="34" charset="-122"/>
                <a:cs typeface="Segoe UI" pitchFamily="34" charset="-120"/>
              </a:rPr>
              <a:t>Connect the project and push it</a:t>
            </a:r>
            <a:endParaRPr lang="en-US" sz="1600" dirty="0"/>
          </a:p>
        </p:txBody>
      </p:sp>
      <p:sp>
        <p:nvSpPr>
          <p:cNvPr id="16" name="Text 13"/>
          <p:cNvSpPr txBox="1"/>
          <p:nvPr/>
        </p:nvSpPr>
        <p:spPr>
          <a:xfrm>
            <a:off x="822960" y="4864608"/>
            <a:ext cx="365760" cy="457200"/>
          </a:xfrm>
          <a:prstGeom prst="rect">
            <a:avLst/>
          </a:prstGeom>
          <a:noFill/>
          <a:ln/>
        </p:spPr>
        <p:txBody>
          <a:bodyPr wrap="square" lIns="0" tIns="0" rIns="0" bIns="0" rtlCol="0" anchor="t"/>
          <a:lstStyle/>
          <a:p>
            <a:pPr indent="0" marL="0">
              <a:buNone/>
            </a:pPr>
            <a:r>
              <a:rPr lang="en-US" sz="1800" b="1" dirty="0">
                <a:solidFill>
                  <a:srgbClr val="2354A6"/>
                </a:solidFill>
                <a:latin typeface="Consolas" pitchFamily="34" charset="0"/>
                <a:ea typeface="Consolas" pitchFamily="34" charset="-122"/>
                <a:cs typeface="Consolas" pitchFamily="34" charset="-120"/>
              </a:rPr>
              <a:t>5</a:t>
            </a:r>
            <a:endParaRPr lang="en-US" sz="1800" dirty="0"/>
          </a:p>
        </p:txBody>
      </p:sp>
      <p:sp>
        <p:nvSpPr>
          <p:cNvPr id="17" name="Text 14"/>
          <p:cNvSpPr txBox="1"/>
          <p:nvPr/>
        </p:nvSpPr>
        <p:spPr>
          <a:xfrm>
            <a:off x="1280160" y="4882896"/>
            <a:ext cx="5394960" cy="548640"/>
          </a:xfrm>
          <a:prstGeom prst="rect">
            <a:avLst/>
          </a:prstGeom>
          <a:noFill/>
          <a:ln/>
        </p:spPr>
        <p:txBody>
          <a:bodyPr wrap="square" lIns="0" tIns="0" rIns="0" bIns="0" rtlCol="0" anchor="t"/>
          <a:lstStyle/>
          <a:p>
            <a:pPr indent="0" marL="0">
              <a:buNone/>
            </a:pPr>
            <a:r>
              <a:rPr lang="en-US" sz="1600" dirty="0">
                <a:solidFill>
                  <a:srgbClr val="18202E"/>
                </a:solidFill>
                <a:latin typeface="Segoe UI" pitchFamily="34" charset="0"/>
                <a:ea typeface="Segoe UI" pitchFamily="34" charset="-122"/>
                <a:cs typeface="Segoe UI" pitchFamily="34" charset="-120"/>
              </a:rPr>
              <a:t>A scratch scene: objects, draw order, parenting, camera, Play mode</a:t>
            </a:r>
            <a:endParaRPr lang="en-US" sz="1600" dirty="0"/>
          </a:p>
        </p:txBody>
      </p:sp>
      <p:sp>
        <p:nvSpPr>
          <p:cNvPr id="18" name="Shape 15"/>
          <p:cNvSpPr/>
          <p:nvPr/>
        </p:nvSpPr>
        <p:spPr>
          <a:xfrm>
            <a:off x="7223760" y="1600200"/>
            <a:ext cx="4419295" cy="4069080"/>
          </a:xfrm>
          <a:prstGeom prst="rect">
            <a:avLst/>
          </a:prstGeom>
          <a:solidFill>
            <a:srgbClr val="E9EFF9"/>
          </a:solidFill>
          <a:ln/>
        </p:spPr>
      </p:sp>
      <p:sp>
        <p:nvSpPr>
          <p:cNvPr id="19" name="Text 16"/>
          <p:cNvSpPr txBox="1"/>
          <p:nvPr/>
        </p:nvSpPr>
        <p:spPr>
          <a:xfrm>
            <a:off x="7498080" y="1783080"/>
            <a:ext cx="3931920" cy="411480"/>
          </a:xfrm>
          <a:prstGeom prst="rect">
            <a:avLst/>
          </a:prstGeom>
          <a:noFill/>
          <a:ln/>
        </p:spPr>
        <p:txBody>
          <a:bodyPr wrap="square" lIns="0" tIns="0" rIns="0" bIns="0" rtlCol="0" anchor="t"/>
          <a:lstStyle/>
          <a:p>
            <a:pPr indent="0" marL="0">
              <a:buNone/>
            </a:pPr>
            <a:r>
              <a:rPr lang="en-US" sz="2100" dirty="0">
                <a:solidFill>
                  <a:srgbClr val="18202E"/>
                </a:solidFill>
                <a:latin typeface="Segoe UI Semibold" pitchFamily="34" charset="0"/>
                <a:ea typeface="Segoe UI Semibold" pitchFamily="34" charset="-122"/>
                <a:cs typeface="Segoe UI Semibold" pitchFamily="34" charset="-120"/>
              </a:rPr>
              <a:t>Exercise 1, at home</a:t>
            </a:r>
            <a:endParaRPr lang="en-US" sz="2100" dirty="0"/>
          </a:p>
        </p:txBody>
      </p:sp>
      <p:sp>
        <p:nvSpPr>
          <p:cNvPr id="20" name="Text 17"/>
          <p:cNvSpPr txBox="1"/>
          <p:nvPr/>
        </p:nvSpPr>
        <p:spPr>
          <a:xfrm>
            <a:off x="7498080" y="2212848"/>
            <a:ext cx="3931920" cy="320040"/>
          </a:xfrm>
          <a:prstGeom prst="rect">
            <a:avLst/>
          </a:prstGeom>
          <a:noFill/>
          <a:ln/>
        </p:spPr>
        <p:txBody>
          <a:bodyPr wrap="square" lIns="0" tIns="0" rIns="0" bIns="0" rtlCol="0" anchor="t"/>
          <a:lstStyle/>
          <a:p>
            <a:pPr indent="0" marL="0">
              <a:buNone/>
            </a:pPr>
            <a:r>
              <a:rPr lang="en-US" sz="1500" dirty="0">
                <a:solidFill>
                  <a:srgbClr val="2354A6"/>
                </a:solidFill>
                <a:latin typeface="Segoe UI" pitchFamily="34" charset="0"/>
                <a:ea typeface="Segoe UI" pitchFamily="34" charset="-122"/>
                <a:cs typeface="Segoe UI" pitchFamily="34" charset="-120"/>
              </a:rPr>
              <a:t>The project's starting state</a:t>
            </a:r>
            <a:endParaRPr lang="en-US" sz="1500" dirty="0"/>
          </a:p>
        </p:txBody>
      </p:sp>
      <p:sp>
        <p:nvSpPr>
          <p:cNvPr id="21" name="Text 18"/>
          <p:cNvSpPr txBox="1"/>
          <p:nvPr/>
        </p:nvSpPr>
        <p:spPr>
          <a:xfrm>
            <a:off x="7498080" y="2697480"/>
            <a:ext cx="3931920" cy="283464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364255"/>
                </a:solidFill>
                <a:latin typeface="Segoe UI" pitchFamily="34" charset="0"/>
                <a:ea typeface="Segoe UI" pitchFamily="34" charset="-122"/>
                <a:cs typeface="Segoe UI" pitchFamily="34" charset="-120"/>
              </a:rPr>
              <a:t>Folders: Audio, Prefabs, Scenes, Scripts, Sprites</a:t>
            </a:r>
            <a:endParaRPr lang="en-US" sz="1500" dirty="0"/>
          </a:p>
          <a:p>
            <a:pPr marL="203200" indent="-203200">
              <a:spcAft>
                <a:spcPts val="1000"/>
              </a:spcAft>
              <a:buSzPct val="100000"/>
              <a:buChar char="•"/>
            </a:pPr>
            <a:r>
              <a:rPr lang="en-US" sz="1500" dirty="0">
                <a:solidFill>
                  <a:srgbClr val="364255"/>
                </a:solidFill>
                <a:latin typeface="Segoe UI" pitchFamily="34" charset="0"/>
                <a:ea typeface="Segoe UI" pitchFamily="34" charset="-122"/>
                <a:cs typeface="Segoe UI" pitchFamily="34" charset="-120"/>
              </a:rPr>
              <a:t>Scene Level01; camera Orthographic, Size 5</a:t>
            </a:r>
            <a:endParaRPr lang="en-US" sz="1500" dirty="0"/>
          </a:p>
          <a:p>
            <a:pPr marL="203200" indent="-203200">
              <a:spcAft>
                <a:spcPts val="1000"/>
              </a:spcAft>
              <a:buSzPct val="100000"/>
              <a:buChar char="•"/>
            </a:pPr>
            <a:r>
              <a:rPr lang="en-US" sz="1500" dirty="0">
                <a:solidFill>
                  <a:srgbClr val="364255"/>
                </a:solidFill>
                <a:latin typeface="Segoe UI" pitchFamily="34" charset="0"/>
                <a:ea typeface="Segoe UI" pitchFamily="34" charset="-122"/>
                <a:cs typeface="Segoe UI" pitchFamily="34" charset="-120"/>
              </a:rPr>
              <a:t>Ground and Player placeholders; Player tag</a:t>
            </a:r>
            <a:endParaRPr lang="en-US" sz="1500" dirty="0"/>
          </a:p>
          <a:p>
            <a:pPr marL="203200" indent="-203200">
              <a:spcAft>
                <a:spcPts val="1000"/>
              </a:spcAft>
              <a:buSzPct val="100000"/>
              <a:buChar char="•"/>
            </a:pPr>
            <a:r>
              <a:rPr lang="en-US" sz="1500" dirty="0">
                <a:solidFill>
                  <a:srgbClr val="364255"/>
                </a:solidFill>
                <a:latin typeface="Segoe UI" pitchFamily="34" charset="0"/>
                <a:ea typeface="Segoe UI" pitchFamily="34" charset="-122"/>
                <a:cs typeface="Segoe UI" pitchFamily="34" charset="-120"/>
              </a:rPr>
              <a:t>Commit and push after each part</a:t>
            </a:r>
            <a:endParaRPr lang="en-US" sz="1500" dirty="0"/>
          </a:p>
        </p:txBody>
      </p:sp>
      <p:sp>
        <p:nvSpPr>
          <p:cNvPr id="22" name="Text 19"/>
          <p:cNvSpPr txBox="1"/>
          <p:nvPr/>
        </p:nvSpPr>
        <p:spPr>
          <a:xfrm>
            <a:off x="548640" y="5852160"/>
            <a:ext cx="11094415" cy="384048"/>
          </a:xfrm>
          <a:prstGeom prst="rect">
            <a:avLst/>
          </a:prstGeom>
          <a:noFill/>
          <a:ln/>
        </p:spPr>
        <p:txBody>
          <a:bodyPr wrap="square" lIns="0" tIns="0" rIns="0" bIns="0" rtlCol="0" anchor="t"/>
          <a:lstStyle/>
          <a:p>
            <a:pPr indent="0" marL="0">
              <a:buNone/>
            </a:pPr>
            <a:r>
              <a:rPr lang="en-US" sz="1700" dirty="0">
                <a:solidFill>
                  <a:srgbClr val="364255"/>
                </a:solidFill>
                <a:latin typeface="Segoe UI" pitchFamily="34" charset="0"/>
                <a:ea typeface="Segoe UI" pitchFamily="34" charset="-122"/>
                <a:cs typeface="Segoe UI" pitchFamily="34" charset="-120"/>
              </a:rPr>
              <a:t>Next week: assets, tilemaps and the first script.</a:t>
            </a:r>
            <a:endParaRPr lang="en-US" sz="1700" dirty="0"/>
          </a:p>
        </p:txBody>
      </p:sp>
      <p:sp>
        <p:nvSpPr>
          <p:cNvPr id="25" name="Slide Number Placeholder 0"/>
          <p:cNvSpPr>
            <a:spLocks noGrp="1"/>
          </p:cNvSpPr>
          <p:nvPr>
            <p:ph type="sldNum" sz="quarter" idx="4294967295"/>
          </p:nvPr>
        </p:nvSpPr>
        <p:spPr>
          <a:xfrm>
            <a:off x="10908792" y="640080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678"/>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8202E"/>
        </a:solidFill>
      </p:bgPr>
    </p:bg>
    <p:spTree>
      <p:nvGrpSpPr>
        <p:cNvPr id="1" name=""/>
        <p:cNvGrpSpPr/>
        <p:nvPr/>
      </p:nvGrpSpPr>
      <p:grpSpPr>
        <a:xfrm>
          <a:off x="0" y="0"/>
          <a:ext cx="0" cy="0"/>
          <a:chOff x="0" y="0"/>
          <a:chExt cx="0" cy="0"/>
        </a:xfrm>
      </p:grpSpPr>
      <p:sp>
        <p:nvSpPr>
          <p:cNvPr id="2" name="Text 0"/>
          <p:cNvSpPr txBox="1"/>
          <p:nvPr/>
        </p:nvSpPr>
        <p:spPr>
          <a:xfrm>
            <a:off x="731520" y="457200"/>
            <a:ext cx="5486400" cy="274320"/>
          </a:xfrm>
          <a:prstGeom prst="rect">
            <a:avLst/>
          </a:prstGeom>
          <a:noFill/>
          <a:ln/>
        </p:spPr>
        <p:txBody>
          <a:bodyPr wrap="square" lIns="0" tIns="0" rIns="0" bIns="0" rtlCol="0" anchor="t"/>
          <a:lstStyle/>
          <a:p>
            <a:pPr indent="0" marL="0">
              <a:buNone/>
            </a:pPr>
            <a:r>
              <a:rPr lang="en-US" sz="1200" b="1" spc="200" kern="0" dirty="0">
                <a:solidFill>
                  <a:srgbClr val="88AFF0"/>
                </a:solidFill>
                <a:latin typeface="Segoe UI" pitchFamily="34" charset="0"/>
                <a:ea typeface="Segoe UI" pitchFamily="34" charset="-122"/>
                <a:cs typeface="Segoe UI" pitchFamily="34" charset="-120"/>
              </a:rPr>
              <a:t>WEEK 1</a:t>
            </a:r>
            <a:endParaRPr lang="en-US" sz="1200" dirty="0"/>
          </a:p>
        </p:txBody>
      </p:sp>
      <p:sp>
        <p:nvSpPr>
          <p:cNvPr id="3" name="Text 1"/>
          <p:cNvSpPr txBox="1"/>
          <p:nvPr/>
        </p:nvSpPr>
        <p:spPr>
          <a:xfrm>
            <a:off x="731520" y="731520"/>
            <a:ext cx="10515600" cy="731520"/>
          </a:xfrm>
          <a:prstGeom prst="rect">
            <a:avLst/>
          </a:prstGeom>
          <a:noFill/>
          <a:ln/>
        </p:spPr>
        <p:txBody>
          <a:bodyPr wrap="square" lIns="0" tIns="0" rIns="0" bIns="0" rtlCol="0" anchor="ctr"/>
          <a:lstStyle/>
          <a:p>
            <a:pPr indent="0" marL="0">
              <a:buNone/>
            </a:pPr>
            <a:r>
              <a:rPr lang="en-US" sz="3800" dirty="0">
                <a:solidFill>
                  <a:srgbClr val="FFFFFF"/>
                </a:solidFill>
                <a:latin typeface="Segoe UI Semibold" pitchFamily="34" charset="0"/>
                <a:ea typeface="Segoe UI Semibold" pitchFamily="34" charset="-122"/>
                <a:cs typeface="Segoe UI Semibold" pitchFamily="34" charset="-120"/>
              </a:rPr>
              <a:t>Rules of the week</a:t>
            </a:r>
            <a:endParaRPr lang="en-US" sz="3800" dirty="0"/>
          </a:p>
        </p:txBody>
      </p:sp>
      <p:sp>
        <p:nvSpPr>
          <p:cNvPr id="4" name="Text 2"/>
          <p:cNvSpPr txBox="1"/>
          <p:nvPr/>
        </p:nvSpPr>
        <p:spPr>
          <a:xfrm>
            <a:off x="731520" y="1828800"/>
            <a:ext cx="411480" cy="411480"/>
          </a:xfrm>
          <a:prstGeom prst="rect">
            <a:avLst/>
          </a:prstGeom>
          <a:noFill/>
          <a:ln/>
        </p:spPr>
        <p:txBody>
          <a:bodyPr wrap="square" lIns="0" tIns="0" rIns="0" bIns="0" rtlCol="0" anchor="t"/>
          <a:lstStyle/>
          <a:p>
            <a:pPr indent="0" marL="0">
              <a:buNone/>
            </a:pPr>
            <a:r>
              <a:rPr lang="en-US" sz="1800" b="1" dirty="0">
                <a:solidFill>
                  <a:srgbClr val="88AFF0"/>
                </a:solidFill>
                <a:latin typeface="Consolas" pitchFamily="34" charset="0"/>
                <a:ea typeface="Consolas" pitchFamily="34" charset="-122"/>
                <a:cs typeface="Consolas" pitchFamily="34" charset="-120"/>
              </a:rPr>
              <a:t>1</a:t>
            </a:r>
            <a:endParaRPr lang="en-US" sz="1800" dirty="0"/>
          </a:p>
        </p:txBody>
      </p:sp>
      <p:sp>
        <p:nvSpPr>
          <p:cNvPr id="5" name="Text 3"/>
          <p:cNvSpPr txBox="1"/>
          <p:nvPr/>
        </p:nvSpPr>
        <p:spPr>
          <a:xfrm>
            <a:off x="1234440" y="1847088"/>
            <a:ext cx="4754880" cy="731520"/>
          </a:xfrm>
          <a:prstGeom prst="rect">
            <a:avLst/>
          </a:prstGeom>
          <a:noFill/>
          <a:ln/>
        </p:spPr>
        <p:txBody>
          <a:bodyPr wrap="square" lIns="0" tIns="0" rIns="0" bIns="0" rtlCol="0" anchor="t"/>
          <a:lstStyle/>
          <a:p>
            <a:pPr indent="0" marL="0">
              <a:buNone/>
            </a:pPr>
            <a:r>
              <a:rPr lang="en-US" sz="1700" dirty="0">
                <a:solidFill>
                  <a:srgbClr val="E3E8F0"/>
                </a:solidFill>
                <a:latin typeface="Segoe UI" pitchFamily="34" charset="0"/>
                <a:ea typeface="Segoe UI" pitchFamily="34" charset="-122"/>
                <a:cs typeface="Segoe UI" pitchFamily="34" charset="-120"/>
              </a:rPr>
              <a:t>Per second, not per frame: multiply rates by Time.deltaTime.</a:t>
            </a:r>
            <a:endParaRPr lang="en-US" sz="1700" dirty="0"/>
          </a:p>
        </p:txBody>
      </p:sp>
      <p:sp>
        <p:nvSpPr>
          <p:cNvPr id="6" name="Text 4"/>
          <p:cNvSpPr txBox="1"/>
          <p:nvPr/>
        </p:nvSpPr>
        <p:spPr>
          <a:xfrm>
            <a:off x="731520" y="2697480"/>
            <a:ext cx="411480" cy="411480"/>
          </a:xfrm>
          <a:prstGeom prst="rect">
            <a:avLst/>
          </a:prstGeom>
          <a:noFill/>
          <a:ln/>
        </p:spPr>
        <p:txBody>
          <a:bodyPr wrap="square" lIns="0" tIns="0" rIns="0" bIns="0" rtlCol="0" anchor="t"/>
          <a:lstStyle/>
          <a:p>
            <a:pPr indent="0" marL="0">
              <a:buNone/>
            </a:pPr>
            <a:r>
              <a:rPr lang="en-US" sz="1800" b="1" dirty="0">
                <a:solidFill>
                  <a:srgbClr val="88AFF0"/>
                </a:solidFill>
                <a:latin typeface="Consolas" pitchFamily="34" charset="0"/>
                <a:ea typeface="Consolas" pitchFamily="34" charset="-122"/>
                <a:cs typeface="Consolas" pitchFamily="34" charset="-120"/>
              </a:rPr>
              <a:t>2</a:t>
            </a:r>
            <a:endParaRPr lang="en-US" sz="1800" dirty="0"/>
          </a:p>
        </p:txBody>
      </p:sp>
      <p:sp>
        <p:nvSpPr>
          <p:cNvPr id="7" name="Text 5"/>
          <p:cNvSpPr txBox="1"/>
          <p:nvPr/>
        </p:nvSpPr>
        <p:spPr>
          <a:xfrm>
            <a:off x="1234440" y="2715768"/>
            <a:ext cx="4754880" cy="731520"/>
          </a:xfrm>
          <a:prstGeom prst="rect">
            <a:avLst/>
          </a:prstGeom>
          <a:noFill/>
          <a:ln/>
        </p:spPr>
        <p:txBody>
          <a:bodyPr wrap="square" lIns="0" tIns="0" rIns="0" bIns="0" rtlCol="0" anchor="t"/>
          <a:lstStyle/>
          <a:p>
            <a:pPr indent="0" marL="0">
              <a:buNone/>
            </a:pPr>
            <a:r>
              <a:rPr lang="en-US" sz="1700" dirty="0">
                <a:solidFill>
                  <a:srgbClr val="E3E8F0"/>
                </a:solidFill>
                <a:latin typeface="Segoe UI" pitchFamily="34" charset="0"/>
                <a:ea typeface="Segoe UI" pitchFamily="34" charset="-122"/>
                <a:cs typeface="Segoe UI" pitchFamily="34" charset="-120"/>
              </a:rPr>
              <a:t>The Hierarchy is the scene; the Project window is the disk.</a:t>
            </a:r>
            <a:endParaRPr lang="en-US" sz="1700" dirty="0"/>
          </a:p>
        </p:txBody>
      </p:sp>
      <p:sp>
        <p:nvSpPr>
          <p:cNvPr id="8" name="Text 6"/>
          <p:cNvSpPr txBox="1"/>
          <p:nvPr/>
        </p:nvSpPr>
        <p:spPr>
          <a:xfrm>
            <a:off x="731520" y="3566160"/>
            <a:ext cx="411480" cy="411480"/>
          </a:xfrm>
          <a:prstGeom prst="rect">
            <a:avLst/>
          </a:prstGeom>
          <a:noFill/>
          <a:ln/>
        </p:spPr>
        <p:txBody>
          <a:bodyPr wrap="square" lIns="0" tIns="0" rIns="0" bIns="0" rtlCol="0" anchor="t"/>
          <a:lstStyle/>
          <a:p>
            <a:pPr indent="0" marL="0">
              <a:buNone/>
            </a:pPr>
            <a:r>
              <a:rPr lang="en-US" sz="1800" b="1" dirty="0">
                <a:solidFill>
                  <a:srgbClr val="88AFF0"/>
                </a:solidFill>
                <a:latin typeface="Consolas" pitchFamily="34" charset="0"/>
                <a:ea typeface="Consolas" pitchFamily="34" charset="-122"/>
                <a:cs typeface="Consolas" pitchFamily="34" charset="-120"/>
              </a:rPr>
              <a:t>3</a:t>
            </a:r>
            <a:endParaRPr lang="en-US" sz="1800" dirty="0"/>
          </a:p>
        </p:txBody>
      </p:sp>
      <p:sp>
        <p:nvSpPr>
          <p:cNvPr id="9" name="Text 7"/>
          <p:cNvSpPr txBox="1"/>
          <p:nvPr/>
        </p:nvSpPr>
        <p:spPr>
          <a:xfrm>
            <a:off x="1234440" y="3584448"/>
            <a:ext cx="4754880" cy="731520"/>
          </a:xfrm>
          <a:prstGeom prst="rect">
            <a:avLst/>
          </a:prstGeom>
          <a:noFill/>
          <a:ln/>
        </p:spPr>
        <p:txBody>
          <a:bodyPr wrap="square" lIns="0" tIns="0" rIns="0" bIns="0" rtlCol="0" anchor="t"/>
          <a:lstStyle/>
          <a:p>
            <a:pPr indent="0" marL="0">
              <a:buNone/>
            </a:pPr>
            <a:r>
              <a:rPr lang="en-US" sz="1700" dirty="0">
                <a:solidFill>
                  <a:srgbClr val="E3E8F0"/>
                </a:solidFill>
                <a:latin typeface="Segoe UI" pitchFamily="34" charset="0"/>
                <a:ea typeface="Segoe UI" pitchFamily="34" charset="-122"/>
                <a:cs typeface="Segoe UI" pitchFamily="34" charset="-120"/>
              </a:rPr>
              <a:t>Not in the Game view? The player never sees it.</a:t>
            </a:r>
            <a:endParaRPr lang="en-US" sz="1700" dirty="0"/>
          </a:p>
        </p:txBody>
      </p:sp>
      <p:sp>
        <p:nvSpPr>
          <p:cNvPr id="10" name="Text 8"/>
          <p:cNvSpPr txBox="1"/>
          <p:nvPr/>
        </p:nvSpPr>
        <p:spPr>
          <a:xfrm>
            <a:off x="731520" y="4434840"/>
            <a:ext cx="411480" cy="411480"/>
          </a:xfrm>
          <a:prstGeom prst="rect">
            <a:avLst/>
          </a:prstGeom>
          <a:noFill/>
          <a:ln/>
        </p:spPr>
        <p:txBody>
          <a:bodyPr wrap="square" lIns="0" tIns="0" rIns="0" bIns="0" rtlCol="0" anchor="t"/>
          <a:lstStyle/>
          <a:p>
            <a:pPr indent="0" marL="0">
              <a:buNone/>
            </a:pPr>
            <a:r>
              <a:rPr lang="en-US" sz="1800" b="1" dirty="0">
                <a:solidFill>
                  <a:srgbClr val="88AFF0"/>
                </a:solidFill>
                <a:latin typeface="Consolas" pitchFamily="34" charset="0"/>
                <a:ea typeface="Consolas" pitchFamily="34" charset="-122"/>
                <a:cs typeface="Consolas" pitchFamily="34" charset="-120"/>
              </a:rPr>
              <a:t>4</a:t>
            </a:r>
            <a:endParaRPr lang="en-US" sz="1800" dirty="0"/>
          </a:p>
        </p:txBody>
      </p:sp>
      <p:sp>
        <p:nvSpPr>
          <p:cNvPr id="11" name="Text 9"/>
          <p:cNvSpPr txBox="1"/>
          <p:nvPr/>
        </p:nvSpPr>
        <p:spPr>
          <a:xfrm>
            <a:off x="1234440" y="4453128"/>
            <a:ext cx="4754880" cy="731520"/>
          </a:xfrm>
          <a:prstGeom prst="rect">
            <a:avLst/>
          </a:prstGeom>
          <a:noFill/>
          <a:ln/>
        </p:spPr>
        <p:txBody>
          <a:bodyPr wrap="square" lIns="0" tIns="0" rIns="0" bIns="0" rtlCol="0" anchor="t"/>
          <a:lstStyle/>
          <a:p>
            <a:pPr indent="0" marL="0">
              <a:buNone/>
            </a:pPr>
            <a:r>
              <a:rPr lang="en-US" sz="1700" dirty="0">
                <a:solidFill>
                  <a:srgbClr val="E3E8F0"/>
                </a:solidFill>
                <a:latin typeface="Segoe UI" pitchFamily="34" charset="0"/>
                <a:ea typeface="Segoe UI" pitchFamily="34" charset="-122"/>
                <a:cs typeface="Segoe UI" pitchFamily="34" charset="-120"/>
              </a:rPr>
              <a:t>Everything done in Play mode is discarded.</a:t>
            </a:r>
            <a:endParaRPr lang="en-US" sz="1700" dirty="0"/>
          </a:p>
        </p:txBody>
      </p:sp>
      <p:sp>
        <p:nvSpPr>
          <p:cNvPr id="12" name="Text 10"/>
          <p:cNvSpPr txBox="1"/>
          <p:nvPr/>
        </p:nvSpPr>
        <p:spPr>
          <a:xfrm>
            <a:off x="731520" y="5303520"/>
            <a:ext cx="411480" cy="411480"/>
          </a:xfrm>
          <a:prstGeom prst="rect">
            <a:avLst/>
          </a:prstGeom>
          <a:noFill/>
          <a:ln/>
        </p:spPr>
        <p:txBody>
          <a:bodyPr wrap="square" lIns="0" tIns="0" rIns="0" bIns="0" rtlCol="0" anchor="t"/>
          <a:lstStyle/>
          <a:p>
            <a:pPr indent="0" marL="0">
              <a:buNone/>
            </a:pPr>
            <a:r>
              <a:rPr lang="en-US" sz="1800" b="1" dirty="0">
                <a:solidFill>
                  <a:srgbClr val="88AFF0"/>
                </a:solidFill>
                <a:latin typeface="Consolas" pitchFamily="34" charset="0"/>
                <a:ea typeface="Consolas" pitchFamily="34" charset="-122"/>
                <a:cs typeface="Consolas" pitchFamily="34" charset="-120"/>
              </a:rPr>
              <a:t>5</a:t>
            </a:r>
            <a:endParaRPr lang="en-US" sz="1800" dirty="0"/>
          </a:p>
        </p:txBody>
      </p:sp>
      <p:sp>
        <p:nvSpPr>
          <p:cNvPr id="13" name="Text 11"/>
          <p:cNvSpPr txBox="1"/>
          <p:nvPr/>
        </p:nvSpPr>
        <p:spPr>
          <a:xfrm>
            <a:off x="1234440" y="5321808"/>
            <a:ext cx="4754880" cy="731520"/>
          </a:xfrm>
          <a:prstGeom prst="rect">
            <a:avLst/>
          </a:prstGeom>
          <a:noFill/>
          <a:ln/>
        </p:spPr>
        <p:txBody>
          <a:bodyPr wrap="square" lIns="0" tIns="0" rIns="0" bIns="0" rtlCol="0" anchor="t"/>
          <a:lstStyle/>
          <a:p>
            <a:pPr indent="0" marL="0">
              <a:buNone/>
            </a:pPr>
            <a:r>
              <a:rPr lang="en-US" sz="1700" dirty="0">
                <a:solidFill>
                  <a:srgbClr val="E3E8F0"/>
                </a:solidFill>
                <a:latin typeface="Segoe UI" pitchFamily="34" charset="0"/>
                <a:ea typeface="Segoe UI" pitchFamily="34" charset="-122"/>
                <a:cs typeface="Segoe UI" pitchFamily="34" charset="-120"/>
              </a:rPr>
              <a:t>Manage assets inside Unity, never in Explorer.</a:t>
            </a:r>
            <a:endParaRPr lang="en-US" sz="1700" dirty="0"/>
          </a:p>
        </p:txBody>
      </p:sp>
      <p:sp>
        <p:nvSpPr>
          <p:cNvPr id="14" name="Text 12"/>
          <p:cNvSpPr txBox="1"/>
          <p:nvPr/>
        </p:nvSpPr>
        <p:spPr>
          <a:xfrm>
            <a:off x="6355080" y="1828800"/>
            <a:ext cx="411480" cy="411480"/>
          </a:xfrm>
          <a:prstGeom prst="rect">
            <a:avLst/>
          </a:prstGeom>
          <a:noFill/>
          <a:ln/>
        </p:spPr>
        <p:txBody>
          <a:bodyPr wrap="square" lIns="0" tIns="0" rIns="0" bIns="0" rtlCol="0" anchor="t"/>
          <a:lstStyle/>
          <a:p>
            <a:pPr indent="0" marL="0">
              <a:buNone/>
            </a:pPr>
            <a:r>
              <a:rPr lang="en-US" sz="1800" b="1" dirty="0">
                <a:solidFill>
                  <a:srgbClr val="88AFF0"/>
                </a:solidFill>
                <a:latin typeface="Consolas" pitchFamily="34" charset="0"/>
                <a:ea typeface="Consolas" pitchFamily="34" charset="-122"/>
                <a:cs typeface="Consolas" pitchFamily="34" charset="-120"/>
              </a:rPr>
              <a:t>6</a:t>
            </a:r>
            <a:endParaRPr lang="en-US" sz="1800" dirty="0"/>
          </a:p>
        </p:txBody>
      </p:sp>
      <p:sp>
        <p:nvSpPr>
          <p:cNvPr id="15" name="Text 13"/>
          <p:cNvSpPr txBox="1"/>
          <p:nvPr/>
        </p:nvSpPr>
        <p:spPr>
          <a:xfrm>
            <a:off x="6858000" y="1847088"/>
            <a:ext cx="4754880" cy="731520"/>
          </a:xfrm>
          <a:prstGeom prst="rect">
            <a:avLst/>
          </a:prstGeom>
          <a:noFill/>
          <a:ln/>
        </p:spPr>
        <p:txBody>
          <a:bodyPr wrap="square" lIns="0" tIns="0" rIns="0" bIns="0" rtlCol="0" anchor="t"/>
          <a:lstStyle/>
          <a:p>
            <a:pPr indent="0" marL="0">
              <a:buNone/>
            </a:pPr>
            <a:r>
              <a:rPr lang="en-US" sz="1700" dirty="0">
                <a:solidFill>
                  <a:srgbClr val="E3E8F0"/>
                </a:solidFill>
                <a:latin typeface="Segoe UI" pitchFamily="34" charset="0"/>
                <a:ea typeface="Segoe UI" pitchFamily="34" charset="-122"/>
                <a:cs typeface="Segoe UI" pitchFamily="34" charset="-120"/>
              </a:rPr>
              <a:t>Assets, Packages and ProjectSettings are the project; the rest regenerates.</a:t>
            </a:r>
            <a:endParaRPr lang="en-US" sz="1700" dirty="0"/>
          </a:p>
        </p:txBody>
      </p:sp>
      <p:sp>
        <p:nvSpPr>
          <p:cNvPr id="16" name="Text 14"/>
          <p:cNvSpPr txBox="1"/>
          <p:nvPr/>
        </p:nvSpPr>
        <p:spPr>
          <a:xfrm>
            <a:off x="6355080" y="2697480"/>
            <a:ext cx="411480" cy="411480"/>
          </a:xfrm>
          <a:prstGeom prst="rect">
            <a:avLst/>
          </a:prstGeom>
          <a:noFill/>
          <a:ln/>
        </p:spPr>
        <p:txBody>
          <a:bodyPr wrap="square" lIns="0" tIns="0" rIns="0" bIns="0" rtlCol="0" anchor="t"/>
          <a:lstStyle/>
          <a:p>
            <a:pPr indent="0" marL="0">
              <a:buNone/>
            </a:pPr>
            <a:r>
              <a:rPr lang="en-US" sz="1800" b="1" dirty="0">
                <a:solidFill>
                  <a:srgbClr val="88AFF0"/>
                </a:solidFill>
                <a:latin typeface="Consolas" pitchFamily="34" charset="0"/>
                <a:ea typeface="Consolas" pitchFamily="34" charset="-122"/>
                <a:cs typeface="Consolas" pitchFamily="34" charset="-120"/>
              </a:rPr>
              <a:t>7</a:t>
            </a:r>
            <a:endParaRPr lang="en-US" sz="1800" dirty="0"/>
          </a:p>
        </p:txBody>
      </p:sp>
      <p:sp>
        <p:nvSpPr>
          <p:cNvPr id="17" name="Text 15"/>
          <p:cNvSpPr txBox="1"/>
          <p:nvPr/>
        </p:nvSpPr>
        <p:spPr>
          <a:xfrm>
            <a:off x="6858000" y="2715768"/>
            <a:ext cx="4754880" cy="731520"/>
          </a:xfrm>
          <a:prstGeom prst="rect">
            <a:avLst/>
          </a:prstGeom>
          <a:noFill/>
          <a:ln/>
        </p:spPr>
        <p:txBody>
          <a:bodyPr wrap="square" lIns="0" tIns="0" rIns="0" bIns="0" rtlCol="0" anchor="t"/>
          <a:lstStyle/>
          <a:p>
            <a:pPr indent="0" marL="0">
              <a:buNone/>
            </a:pPr>
            <a:r>
              <a:rPr lang="en-US" sz="1700" dirty="0">
                <a:solidFill>
                  <a:srgbClr val="E3E8F0"/>
                </a:solidFill>
                <a:latin typeface="Segoe UI" pitchFamily="34" charset="0"/>
                <a:ea typeface="Segoe UI" pitchFamily="34" charset="-122"/>
                <a:cs typeface="Segoe UI" pitchFamily="34" charset="-120"/>
              </a:rPr>
              <a:t>Behavior lives in components; you don't extend GameObject.</a:t>
            </a:r>
            <a:endParaRPr lang="en-US" sz="1700" dirty="0"/>
          </a:p>
        </p:txBody>
      </p:sp>
      <p:sp>
        <p:nvSpPr>
          <p:cNvPr id="18" name="Text 16"/>
          <p:cNvSpPr txBox="1"/>
          <p:nvPr/>
        </p:nvSpPr>
        <p:spPr>
          <a:xfrm>
            <a:off x="6355080" y="3566160"/>
            <a:ext cx="411480" cy="411480"/>
          </a:xfrm>
          <a:prstGeom prst="rect">
            <a:avLst/>
          </a:prstGeom>
          <a:noFill/>
          <a:ln/>
        </p:spPr>
        <p:txBody>
          <a:bodyPr wrap="square" lIns="0" tIns="0" rIns="0" bIns="0" rtlCol="0" anchor="t"/>
          <a:lstStyle/>
          <a:p>
            <a:pPr indent="0" marL="0">
              <a:buNone/>
            </a:pPr>
            <a:r>
              <a:rPr lang="en-US" sz="1800" b="1" dirty="0">
                <a:solidFill>
                  <a:srgbClr val="88AFF0"/>
                </a:solidFill>
                <a:latin typeface="Consolas" pitchFamily="34" charset="0"/>
                <a:ea typeface="Consolas" pitchFamily="34" charset="-122"/>
                <a:cs typeface="Consolas" pitchFamily="34" charset="-120"/>
              </a:rPr>
              <a:t>8</a:t>
            </a:r>
            <a:endParaRPr lang="en-US" sz="1800" dirty="0"/>
          </a:p>
        </p:txBody>
      </p:sp>
      <p:sp>
        <p:nvSpPr>
          <p:cNvPr id="19" name="Text 17"/>
          <p:cNvSpPr txBox="1"/>
          <p:nvPr/>
        </p:nvSpPr>
        <p:spPr>
          <a:xfrm>
            <a:off x="6858000" y="3584448"/>
            <a:ext cx="4754880" cy="731520"/>
          </a:xfrm>
          <a:prstGeom prst="rect">
            <a:avLst/>
          </a:prstGeom>
          <a:noFill/>
          <a:ln/>
        </p:spPr>
        <p:txBody>
          <a:bodyPr wrap="square" lIns="0" tIns="0" rIns="0" bIns="0" rtlCol="0" anchor="t"/>
          <a:lstStyle/>
          <a:p>
            <a:pPr indent="0" marL="0">
              <a:buNone/>
            </a:pPr>
            <a:r>
              <a:rPr lang="en-US" sz="1700" dirty="0">
                <a:solidFill>
                  <a:srgbClr val="E3E8F0"/>
                </a:solidFill>
                <a:latin typeface="Segoe UI" pitchFamily="34" charset="0"/>
                <a:ea typeface="Segoe UI" pitchFamily="34" charset="-122"/>
                <a:cs typeface="Segoe UI" pitchFamily="34" charset="-120"/>
              </a:rPr>
              <a:t>Organizing parents: position 0, rotation 0, scale 1.</a:t>
            </a:r>
            <a:endParaRPr lang="en-US" sz="1700" dirty="0"/>
          </a:p>
        </p:txBody>
      </p:sp>
      <p:sp>
        <p:nvSpPr>
          <p:cNvPr id="20" name="Text 18"/>
          <p:cNvSpPr txBox="1"/>
          <p:nvPr/>
        </p:nvSpPr>
        <p:spPr>
          <a:xfrm>
            <a:off x="6355080" y="4434840"/>
            <a:ext cx="411480" cy="411480"/>
          </a:xfrm>
          <a:prstGeom prst="rect">
            <a:avLst/>
          </a:prstGeom>
          <a:noFill/>
          <a:ln/>
        </p:spPr>
        <p:txBody>
          <a:bodyPr wrap="square" lIns="0" tIns="0" rIns="0" bIns="0" rtlCol="0" anchor="t"/>
          <a:lstStyle/>
          <a:p>
            <a:pPr indent="0" marL="0">
              <a:buNone/>
            </a:pPr>
            <a:r>
              <a:rPr lang="en-US" sz="1800" b="1" dirty="0">
                <a:solidFill>
                  <a:srgbClr val="88AFF0"/>
                </a:solidFill>
                <a:latin typeface="Consolas" pitchFamily="34" charset="0"/>
                <a:ea typeface="Consolas" pitchFamily="34" charset="-122"/>
                <a:cs typeface="Consolas" pitchFamily="34" charset="-120"/>
              </a:rPr>
              <a:t>9</a:t>
            </a:r>
            <a:endParaRPr lang="en-US" sz="1800" dirty="0"/>
          </a:p>
        </p:txBody>
      </p:sp>
      <p:sp>
        <p:nvSpPr>
          <p:cNvPr id="21" name="Text 19"/>
          <p:cNvSpPr txBox="1"/>
          <p:nvPr/>
        </p:nvSpPr>
        <p:spPr>
          <a:xfrm>
            <a:off x="6858000" y="4453128"/>
            <a:ext cx="4754880" cy="731520"/>
          </a:xfrm>
          <a:prstGeom prst="rect">
            <a:avLst/>
          </a:prstGeom>
          <a:noFill/>
          <a:ln/>
        </p:spPr>
        <p:txBody>
          <a:bodyPr wrap="square" lIns="0" tIns="0" rIns="0" bIns="0" rtlCol="0" anchor="t"/>
          <a:lstStyle/>
          <a:p>
            <a:pPr indent="0" marL="0">
              <a:buNone/>
            </a:pPr>
            <a:r>
              <a:rPr lang="en-US" sz="1700" dirty="0">
                <a:solidFill>
                  <a:srgbClr val="E3E8F0"/>
                </a:solidFill>
                <a:latin typeface="Segoe UI" pitchFamily="34" charset="0"/>
                <a:ea typeface="Segoe UI" pitchFamily="34" charset="-122"/>
                <a:cs typeface="Segoe UI" pitchFamily="34" charset="-120"/>
              </a:rPr>
              <a:t>Keep z = 0 and set draw order explicitly.</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Engines and the Unity editor</dc:title>
  <dc:subject>Multimedia, Part I: 2D games with Unity</dc:subject>
  <dc:creator>PptxGenJS</dc:creator>
  <cp:lastModifiedBy>PptxGenJS</cp:lastModifiedBy>
  <cp:revision>1</cp:revision>
  <dcterms:created xsi:type="dcterms:W3CDTF">2026-09-27T14:48:25Z</dcterms:created>
  <dcterms:modified xsi:type="dcterms:W3CDTF">2026-09-27T14:48:25Z</dcterms:modified>
</cp:coreProperties>
</file>